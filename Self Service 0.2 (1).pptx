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6.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0.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1.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2.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7"/>
  </p:notesMasterIdLst>
  <p:sldIdLst>
    <p:sldId id="312" r:id="rId5"/>
    <p:sldId id="397" r:id="rId6"/>
    <p:sldId id="478" r:id="rId7"/>
    <p:sldId id="430" r:id="rId8"/>
    <p:sldId id="432" r:id="rId9"/>
    <p:sldId id="433" r:id="rId10"/>
    <p:sldId id="435" r:id="rId11"/>
    <p:sldId id="437" r:id="rId12"/>
    <p:sldId id="469" r:id="rId13"/>
    <p:sldId id="447" r:id="rId14"/>
    <p:sldId id="439" r:id="rId15"/>
    <p:sldId id="442" r:id="rId16"/>
    <p:sldId id="443" r:id="rId17"/>
    <p:sldId id="441" r:id="rId18"/>
    <p:sldId id="448" r:id="rId19"/>
    <p:sldId id="452" r:id="rId20"/>
    <p:sldId id="470" r:id="rId21"/>
    <p:sldId id="450" r:id="rId22"/>
    <p:sldId id="477" r:id="rId23"/>
    <p:sldId id="453" r:id="rId24"/>
    <p:sldId id="454" r:id="rId25"/>
    <p:sldId id="455" r:id="rId26"/>
    <p:sldId id="471" r:id="rId27"/>
    <p:sldId id="474" r:id="rId28"/>
    <p:sldId id="475" r:id="rId29"/>
    <p:sldId id="476" r:id="rId30"/>
    <p:sldId id="456" r:id="rId31"/>
    <p:sldId id="457" r:id="rId32"/>
    <p:sldId id="458" r:id="rId33"/>
    <p:sldId id="473" r:id="rId34"/>
    <p:sldId id="459" r:id="rId35"/>
    <p:sldId id="460" r:id="rId36"/>
    <p:sldId id="472" r:id="rId37"/>
    <p:sldId id="461" r:id="rId38"/>
    <p:sldId id="462" r:id="rId39"/>
    <p:sldId id="463" r:id="rId40"/>
    <p:sldId id="467" r:id="rId41"/>
    <p:sldId id="468" r:id="rId42"/>
    <p:sldId id="479" r:id="rId43"/>
    <p:sldId id="465" r:id="rId44"/>
    <p:sldId id="466" r:id="rId45"/>
    <p:sldId id="367" r:id="rId46"/>
  </p:sldIdLst>
  <p:sldSz cx="24384000" cy="13716000"/>
  <p:notesSz cx="7315200" cy="96012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A3D5"/>
    <a:srgbClr val="18B2E8"/>
    <a:srgbClr val="7ED4F2"/>
    <a:srgbClr val="90DAF4"/>
    <a:srgbClr val="AEE5F8"/>
    <a:srgbClr val="D8F3FC"/>
    <a:srgbClr val="FBFBFB"/>
    <a:srgbClr val="2C3375"/>
    <a:srgbClr val="22355D"/>
    <a:srgbClr val="6893E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22"/>
    <p:restoredTop sz="94601" autoAdjust="0"/>
  </p:normalViewPr>
  <p:slideViewPr>
    <p:cSldViewPr snapToGrid="0" snapToObjects="1">
      <p:cViewPr varScale="1">
        <p:scale>
          <a:sx n="42" d="100"/>
          <a:sy n="42" d="100"/>
        </p:scale>
        <p:origin x="79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3470F7-07BA-46EF-BB3E-910398814737}"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US"/>
        </a:p>
      </dgm:t>
    </dgm:pt>
    <dgm:pt modelId="{BF34893B-0000-4CDD-912D-15B15F261C41}">
      <dgm:prSet/>
      <dgm:spPr/>
      <dgm:t>
        <a:bodyPr/>
        <a:lstStyle/>
        <a:p>
          <a:pPr rtl="0"/>
          <a:r>
            <a:rPr lang="en-US" b="1" i="0" baseline="0" dirty="0" smtClean="0"/>
            <a:t>Customers are digitally savvy or native</a:t>
          </a:r>
          <a:endParaRPr lang="en-US" dirty="0"/>
        </a:p>
      </dgm:t>
    </dgm:pt>
    <dgm:pt modelId="{93E8F6D4-7633-45E1-9D0B-D15CF357D17E}" type="parTrans" cxnId="{552FD278-E062-4C21-987F-4BA30B603032}">
      <dgm:prSet/>
      <dgm:spPr/>
      <dgm:t>
        <a:bodyPr/>
        <a:lstStyle/>
        <a:p>
          <a:endParaRPr lang="en-US"/>
        </a:p>
      </dgm:t>
    </dgm:pt>
    <dgm:pt modelId="{2DFB070F-8D2C-4C67-8CBA-DD8B527F6E00}" type="sibTrans" cxnId="{552FD278-E062-4C21-987F-4BA30B603032}">
      <dgm:prSet/>
      <dgm:spPr/>
      <dgm:t>
        <a:bodyPr/>
        <a:lstStyle/>
        <a:p>
          <a:endParaRPr lang="en-US"/>
        </a:p>
      </dgm:t>
    </dgm:pt>
    <dgm:pt modelId="{1EF56B3B-6454-453D-AF28-982541A6BBF5}">
      <dgm:prSet/>
      <dgm:spPr/>
      <dgm:t>
        <a:bodyPr/>
        <a:lstStyle/>
        <a:p>
          <a:pPr rtl="0"/>
          <a:r>
            <a:rPr lang="en-US" b="1" i="0" baseline="0" dirty="0" smtClean="0"/>
            <a:t>Customers are well connected due to increasing penetration  of the internet and high end devices</a:t>
          </a:r>
          <a:endParaRPr lang="en-US" dirty="0"/>
        </a:p>
      </dgm:t>
    </dgm:pt>
    <dgm:pt modelId="{70A2CE66-0842-44C2-9FD1-5941879AE0AC}" type="parTrans" cxnId="{0BB222B6-E84A-4E7F-BCA1-539AD0AB1917}">
      <dgm:prSet/>
      <dgm:spPr/>
      <dgm:t>
        <a:bodyPr/>
        <a:lstStyle/>
        <a:p>
          <a:endParaRPr lang="en-US"/>
        </a:p>
      </dgm:t>
    </dgm:pt>
    <dgm:pt modelId="{4B3614EF-B394-4CC4-910C-AC4FDF649D71}" type="sibTrans" cxnId="{0BB222B6-E84A-4E7F-BCA1-539AD0AB1917}">
      <dgm:prSet/>
      <dgm:spPr/>
      <dgm:t>
        <a:bodyPr/>
        <a:lstStyle/>
        <a:p>
          <a:endParaRPr lang="en-US"/>
        </a:p>
      </dgm:t>
    </dgm:pt>
    <dgm:pt modelId="{ACADA31B-B5A0-4949-897C-A3A2D0FA7109}">
      <dgm:prSet/>
      <dgm:spPr/>
      <dgm:t>
        <a:bodyPr/>
        <a:lstStyle/>
        <a:p>
          <a:pPr rtl="0"/>
          <a:r>
            <a:rPr lang="en-US" b="1" i="0" baseline="0" dirty="0" smtClean="0"/>
            <a:t>Increasing information richness due to big data  means customers can find the knowledge themselves</a:t>
          </a:r>
          <a:endParaRPr lang="en-US" dirty="0"/>
        </a:p>
      </dgm:t>
    </dgm:pt>
    <dgm:pt modelId="{744717FC-AD55-48BE-AAA2-9832D8BB7DC3}" type="parTrans" cxnId="{D10A48D0-D3E0-43FD-B68B-8628222B5C07}">
      <dgm:prSet/>
      <dgm:spPr/>
      <dgm:t>
        <a:bodyPr/>
        <a:lstStyle/>
        <a:p>
          <a:endParaRPr lang="en-US"/>
        </a:p>
      </dgm:t>
    </dgm:pt>
    <dgm:pt modelId="{BECC71F2-0B96-4477-80B4-BD308F7D9E32}" type="sibTrans" cxnId="{D10A48D0-D3E0-43FD-B68B-8628222B5C07}">
      <dgm:prSet/>
      <dgm:spPr/>
      <dgm:t>
        <a:bodyPr/>
        <a:lstStyle/>
        <a:p>
          <a:endParaRPr lang="en-US"/>
        </a:p>
      </dgm:t>
    </dgm:pt>
    <dgm:pt modelId="{B30E69AC-8213-43D6-93CD-BE521CEE469F}">
      <dgm:prSet/>
      <dgm:spPr/>
      <dgm:t>
        <a:bodyPr/>
        <a:lstStyle/>
        <a:p>
          <a:pPr rtl="0"/>
          <a:r>
            <a:rPr lang="en-US" b="1" i="0" baseline="0" dirty="0" smtClean="0"/>
            <a:t>Customers do not want to wait for service agent due to the hold time</a:t>
          </a:r>
          <a:endParaRPr lang="en-US" dirty="0"/>
        </a:p>
      </dgm:t>
    </dgm:pt>
    <dgm:pt modelId="{9FB442B9-98E5-4AA6-BB43-7F9864B4C6F4}" type="parTrans" cxnId="{B0CBBEA1-6BAF-4D84-80D4-07E4B2D72B4D}">
      <dgm:prSet/>
      <dgm:spPr/>
      <dgm:t>
        <a:bodyPr/>
        <a:lstStyle/>
        <a:p>
          <a:endParaRPr lang="en-US"/>
        </a:p>
      </dgm:t>
    </dgm:pt>
    <dgm:pt modelId="{BA3B6BB7-05FD-40D1-A20F-B31B7BA1932C}" type="sibTrans" cxnId="{B0CBBEA1-6BAF-4D84-80D4-07E4B2D72B4D}">
      <dgm:prSet/>
      <dgm:spPr/>
      <dgm:t>
        <a:bodyPr/>
        <a:lstStyle/>
        <a:p>
          <a:endParaRPr lang="en-US"/>
        </a:p>
      </dgm:t>
    </dgm:pt>
    <dgm:pt modelId="{8ECAF6FA-5CC8-499E-AD5D-D6F74E75B7B2}">
      <dgm:prSet/>
      <dgm:spPr/>
      <dgm:t>
        <a:bodyPr/>
        <a:lstStyle/>
        <a:p>
          <a:pPr rtl="0"/>
          <a:r>
            <a:rPr lang="en-US" b="1" i="0" baseline="0" smtClean="0"/>
            <a:t>AI has matured  to the extent that intelligent self service is possible</a:t>
          </a:r>
          <a:endParaRPr lang="en-US"/>
        </a:p>
      </dgm:t>
    </dgm:pt>
    <dgm:pt modelId="{1CEF406C-571B-428D-AC92-65D984613EBB}" type="parTrans" cxnId="{53736BE0-04DF-4944-93E3-ADE859867DF2}">
      <dgm:prSet/>
      <dgm:spPr/>
      <dgm:t>
        <a:bodyPr/>
        <a:lstStyle/>
        <a:p>
          <a:endParaRPr lang="en-US"/>
        </a:p>
      </dgm:t>
    </dgm:pt>
    <dgm:pt modelId="{517B5C27-BEA1-4690-B05F-0BAB774B61A7}" type="sibTrans" cxnId="{53736BE0-04DF-4944-93E3-ADE859867DF2}">
      <dgm:prSet/>
      <dgm:spPr/>
      <dgm:t>
        <a:bodyPr/>
        <a:lstStyle/>
        <a:p>
          <a:endParaRPr lang="en-US"/>
        </a:p>
      </dgm:t>
    </dgm:pt>
    <dgm:pt modelId="{2F7F4686-A533-4B8E-AEE1-7622675BA015}" type="pres">
      <dgm:prSet presAssocID="{DA3470F7-07BA-46EF-BB3E-910398814737}" presName="Name0" presStyleCnt="0">
        <dgm:presLayoutVars>
          <dgm:chMax val="7"/>
          <dgm:dir/>
          <dgm:animLvl val="lvl"/>
          <dgm:resizeHandles val="exact"/>
        </dgm:presLayoutVars>
      </dgm:prSet>
      <dgm:spPr/>
      <dgm:t>
        <a:bodyPr/>
        <a:lstStyle/>
        <a:p>
          <a:endParaRPr lang="en-US"/>
        </a:p>
      </dgm:t>
    </dgm:pt>
    <dgm:pt modelId="{4B0AD206-8E02-4B6C-AFA1-CB2D7B84D62B}" type="pres">
      <dgm:prSet presAssocID="{BF34893B-0000-4CDD-912D-15B15F261C41}" presName="circle1" presStyleLbl="node1" presStyleIdx="0" presStyleCnt="5"/>
      <dgm:spPr/>
    </dgm:pt>
    <dgm:pt modelId="{F519922D-2B96-4D46-BD8F-7268E7662149}" type="pres">
      <dgm:prSet presAssocID="{BF34893B-0000-4CDD-912D-15B15F261C41}" presName="space" presStyleCnt="0"/>
      <dgm:spPr/>
    </dgm:pt>
    <dgm:pt modelId="{293A8C0C-93D7-4ACA-B859-5AB4F3EB1669}" type="pres">
      <dgm:prSet presAssocID="{BF34893B-0000-4CDD-912D-15B15F261C41}" presName="rect1" presStyleLbl="alignAcc1" presStyleIdx="0" presStyleCnt="5"/>
      <dgm:spPr/>
      <dgm:t>
        <a:bodyPr/>
        <a:lstStyle/>
        <a:p>
          <a:endParaRPr lang="en-US"/>
        </a:p>
      </dgm:t>
    </dgm:pt>
    <dgm:pt modelId="{1FA4304A-E7FD-4DDB-85B2-8F0B1B00721A}" type="pres">
      <dgm:prSet presAssocID="{1EF56B3B-6454-453D-AF28-982541A6BBF5}" presName="vertSpace2" presStyleLbl="node1" presStyleIdx="0" presStyleCnt="5"/>
      <dgm:spPr/>
    </dgm:pt>
    <dgm:pt modelId="{27D38020-98F1-4563-92C0-08ECA39E3B21}" type="pres">
      <dgm:prSet presAssocID="{1EF56B3B-6454-453D-AF28-982541A6BBF5}" presName="circle2" presStyleLbl="node1" presStyleIdx="1" presStyleCnt="5"/>
      <dgm:spPr/>
    </dgm:pt>
    <dgm:pt modelId="{E7DB78A5-D496-4A32-AAA4-BD3967271ED6}" type="pres">
      <dgm:prSet presAssocID="{1EF56B3B-6454-453D-AF28-982541A6BBF5}" presName="rect2" presStyleLbl="alignAcc1" presStyleIdx="1" presStyleCnt="5"/>
      <dgm:spPr/>
      <dgm:t>
        <a:bodyPr/>
        <a:lstStyle/>
        <a:p>
          <a:endParaRPr lang="en-US"/>
        </a:p>
      </dgm:t>
    </dgm:pt>
    <dgm:pt modelId="{459B192A-15B0-40D3-9FDF-21A9FAF4B199}" type="pres">
      <dgm:prSet presAssocID="{ACADA31B-B5A0-4949-897C-A3A2D0FA7109}" presName="vertSpace3" presStyleLbl="node1" presStyleIdx="1" presStyleCnt="5"/>
      <dgm:spPr/>
    </dgm:pt>
    <dgm:pt modelId="{7F0BC675-091F-4FD3-8841-82035D837E6A}" type="pres">
      <dgm:prSet presAssocID="{ACADA31B-B5A0-4949-897C-A3A2D0FA7109}" presName="circle3" presStyleLbl="node1" presStyleIdx="2" presStyleCnt="5"/>
      <dgm:spPr/>
    </dgm:pt>
    <dgm:pt modelId="{7E30606D-5557-4905-B036-976DF0F6AF8E}" type="pres">
      <dgm:prSet presAssocID="{ACADA31B-B5A0-4949-897C-A3A2D0FA7109}" presName="rect3" presStyleLbl="alignAcc1" presStyleIdx="2" presStyleCnt="5"/>
      <dgm:spPr/>
      <dgm:t>
        <a:bodyPr/>
        <a:lstStyle/>
        <a:p>
          <a:endParaRPr lang="en-US"/>
        </a:p>
      </dgm:t>
    </dgm:pt>
    <dgm:pt modelId="{B263006B-D9E3-484E-81E5-A270FCA5E3FD}" type="pres">
      <dgm:prSet presAssocID="{B30E69AC-8213-43D6-93CD-BE521CEE469F}" presName="vertSpace4" presStyleLbl="node1" presStyleIdx="2" presStyleCnt="5"/>
      <dgm:spPr/>
    </dgm:pt>
    <dgm:pt modelId="{48249C73-E9C8-4CE0-A852-3FE00EA71C12}" type="pres">
      <dgm:prSet presAssocID="{B30E69AC-8213-43D6-93CD-BE521CEE469F}" presName="circle4" presStyleLbl="node1" presStyleIdx="3" presStyleCnt="5"/>
      <dgm:spPr/>
    </dgm:pt>
    <dgm:pt modelId="{0C491777-70C6-4A29-AC4D-6DD2BB702A12}" type="pres">
      <dgm:prSet presAssocID="{B30E69AC-8213-43D6-93CD-BE521CEE469F}" presName="rect4" presStyleLbl="alignAcc1" presStyleIdx="3" presStyleCnt="5"/>
      <dgm:spPr/>
      <dgm:t>
        <a:bodyPr/>
        <a:lstStyle/>
        <a:p>
          <a:endParaRPr lang="en-US"/>
        </a:p>
      </dgm:t>
    </dgm:pt>
    <dgm:pt modelId="{A603BCC7-813F-468A-91C5-73F0DB8E8F3F}" type="pres">
      <dgm:prSet presAssocID="{8ECAF6FA-5CC8-499E-AD5D-D6F74E75B7B2}" presName="vertSpace5" presStyleLbl="node1" presStyleIdx="3" presStyleCnt="5"/>
      <dgm:spPr/>
    </dgm:pt>
    <dgm:pt modelId="{9D2149A8-5B0D-4B5D-9D31-8D10A2F231E5}" type="pres">
      <dgm:prSet presAssocID="{8ECAF6FA-5CC8-499E-AD5D-D6F74E75B7B2}" presName="circle5" presStyleLbl="node1" presStyleIdx="4" presStyleCnt="5"/>
      <dgm:spPr/>
    </dgm:pt>
    <dgm:pt modelId="{642F6F80-F190-4842-8E46-E07D5386DF97}" type="pres">
      <dgm:prSet presAssocID="{8ECAF6FA-5CC8-499E-AD5D-D6F74E75B7B2}" presName="rect5" presStyleLbl="alignAcc1" presStyleIdx="4" presStyleCnt="5"/>
      <dgm:spPr/>
      <dgm:t>
        <a:bodyPr/>
        <a:lstStyle/>
        <a:p>
          <a:endParaRPr lang="en-US"/>
        </a:p>
      </dgm:t>
    </dgm:pt>
    <dgm:pt modelId="{AE2DE494-35C9-41A6-98E4-8E5566F43C4E}" type="pres">
      <dgm:prSet presAssocID="{BF34893B-0000-4CDD-912D-15B15F261C41}" presName="rect1ParTxNoCh" presStyleLbl="alignAcc1" presStyleIdx="4" presStyleCnt="5">
        <dgm:presLayoutVars>
          <dgm:chMax val="1"/>
          <dgm:bulletEnabled val="1"/>
        </dgm:presLayoutVars>
      </dgm:prSet>
      <dgm:spPr/>
      <dgm:t>
        <a:bodyPr/>
        <a:lstStyle/>
        <a:p>
          <a:endParaRPr lang="en-US"/>
        </a:p>
      </dgm:t>
    </dgm:pt>
    <dgm:pt modelId="{B113E728-6F51-45D0-B7E5-FD269D2950ED}" type="pres">
      <dgm:prSet presAssocID="{1EF56B3B-6454-453D-AF28-982541A6BBF5}" presName="rect2ParTxNoCh" presStyleLbl="alignAcc1" presStyleIdx="4" presStyleCnt="5">
        <dgm:presLayoutVars>
          <dgm:chMax val="1"/>
          <dgm:bulletEnabled val="1"/>
        </dgm:presLayoutVars>
      </dgm:prSet>
      <dgm:spPr/>
      <dgm:t>
        <a:bodyPr/>
        <a:lstStyle/>
        <a:p>
          <a:endParaRPr lang="en-US"/>
        </a:p>
      </dgm:t>
    </dgm:pt>
    <dgm:pt modelId="{31EA1E12-2E0D-4B64-AF72-B74E83546850}" type="pres">
      <dgm:prSet presAssocID="{ACADA31B-B5A0-4949-897C-A3A2D0FA7109}" presName="rect3ParTxNoCh" presStyleLbl="alignAcc1" presStyleIdx="4" presStyleCnt="5">
        <dgm:presLayoutVars>
          <dgm:chMax val="1"/>
          <dgm:bulletEnabled val="1"/>
        </dgm:presLayoutVars>
      </dgm:prSet>
      <dgm:spPr/>
      <dgm:t>
        <a:bodyPr/>
        <a:lstStyle/>
        <a:p>
          <a:endParaRPr lang="en-US"/>
        </a:p>
      </dgm:t>
    </dgm:pt>
    <dgm:pt modelId="{1E683FEB-DA7F-438B-868D-EFB01B7A59B4}" type="pres">
      <dgm:prSet presAssocID="{B30E69AC-8213-43D6-93CD-BE521CEE469F}" presName="rect4ParTxNoCh" presStyleLbl="alignAcc1" presStyleIdx="4" presStyleCnt="5">
        <dgm:presLayoutVars>
          <dgm:chMax val="1"/>
          <dgm:bulletEnabled val="1"/>
        </dgm:presLayoutVars>
      </dgm:prSet>
      <dgm:spPr/>
      <dgm:t>
        <a:bodyPr/>
        <a:lstStyle/>
        <a:p>
          <a:endParaRPr lang="en-US"/>
        </a:p>
      </dgm:t>
    </dgm:pt>
    <dgm:pt modelId="{5DEE69E5-13E0-43A1-8584-8818F9B690CA}" type="pres">
      <dgm:prSet presAssocID="{8ECAF6FA-5CC8-499E-AD5D-D6F74E75B7B2}" presName="rect5ParTxNoCh" presStyleLbl="alignAcc1" presStyleIdx="4" presStyleCnt="5">
        <dgm:presLayoutVars>
          <dgm:chMax val="1"/>
          <dgm:bulletEnabled val="1"/>
        </dgm:presLayoutVars>
      </dgm:prSet>
      <dgm:spPr/>
      <dgm:t>
        <a:bodyPr/>
        <a:lstStyle/>
        <a:p>
          <a:endParaRPr lang="en-US"/>
        </a:p>
      </dgm:t>
    </dgm:pt>
  </dgm:ptLst>
  <dgm:cxnLst>
    <dgm:cxn modelId="{8698722F-3ED7-4FEA-A6B3-6C59E8955B69}" type="presOf" srcId="{DA3470F7-07BA-46EF-BB3E-910398814737}" destId="{2F7F4686-A533-4B8E-AEE1-7622675BA015}" srcOrd="0" destOrd="0" presId="urn:microsoft.com/office/officeart/2005/8/layout/target3"/>
    <dgm:cxn modelId="{837F9392-ADE7-49BF-BD1A-226FA1FEEA7C}" type="presOf" srcId="{8ECAF6FA-5CC8-499E-AD5D-D6F74E75B7B2}" destId="{5DEE69E5-13E0-43A1-8584-8818F9B690CA}" srcOrd="1" destOrd="0" presId="urn:microsoft.com/office/officeart/2005/8/layout/target3"/>
    <dgm:cxn modelId="{B0CBBEA1-6BAF-4D84-80D4-07E4B2D72B4D}" srcId="{DA3470F7-07BA-46EF-BB3E-910398814737}" destId="{B30E69AC-8213-43D6-93CD-BE521CEE469F}" srcOrd="3" destOrd="0" parTransId="{9FB442B9-98E5-4AA6-BB43-7F9864B4C6F4}" sibTransId="{BA3B6BB7-05FD-40D1-A20F-B31B7BA1932C}"/>
    <dgm:cxn modelId="{A91ED97A-337B-4DD1-AC96-AA45F9034B08}" type="presOf" srcId="{ACADA31B-B5A0-4949-897C-A3A2D0FA7109}" destId="{31EA1E12-2E0D-4B64-AF72-B74E83546850}" srcOrd="1" destOrd="0" presId="urn:microsoft.com/office/officeart/2005/8/layout/target3"/>
    <dgm:cxn modelId="{0BB222B6-E84A-4E7F-BCA1-539AD0AB1917}" srcId="{DA3470F7-07BA-46EF-BB3E-910398814737}" destId="{1EF56B3B-6454-453D-AF28-982541A6BBF5}" srcOrd="1" destOrd="0" parTransId="{70A2CE66-0842-44C2-9FD1-5941879AE0AC}" sibTransId="{4B3614EF-B394-4CC4-910C-AC4FDF649D71}"/>
    <dgm:cxn modelId="{8DDBE51F-2661-4974-9A2E-B37409C82229}" type="presOf" srcId="{1EF56B3B-6454-453D-AF28-982541A6BBF5}" destId="{B113E728-6F51-45D0-B7E5-FD269D2950ED}" srcOrd="1" destOrd="0" presId="urn:microsoft.com/office/officeart/2005/8/layout/target3"/>
    <dgm:cxn modelId="{86B8F56B-BA95-4DC5-B000-98F22C2B4442}" type="presOf" srcId="{B30E69AC-8213-43D6-93CD-BE521CEE469F}" destId="{0C491777-70C6-4A29-AC4D-6DD2BB702A12}" srcOrd="0" destOrd="0" presId="urn:microsoft.com/office/officeart/2005/8/layout/target3"/>
    <dgm:cxn modelId="{AB1821EC-9170-4F4F-B5FD-881C870F907F}" type="presOf" srcId="{B30E69AC-8213-43D6-93CD-BE521CEE469F}" destId="{1E683FEB-DA7F-438B-868D-EFB01B7A59B4}" srcOrd="1" destOrd="0" presId="urn:microsoft.com/office/officeart/2005/8/layout/target3"/>
    <dgm:cxn modelId="{C9A94FA4-FE60-4D54-B6B9-F1DAB54CDC0E}" type="presOf" srcId="{8ECAF6FA-5CC8-499E-AD5D-D6F74E75B7B2}" destId="{642F6F80-F190-4842-8E46-E07D5386DF97}" srcOrd="0" destOrd="0" presId="urn:microsoft.com/office/officeart/2005/8/layout/target3"/>
    <dgm:cxn modelId="{53736BE0-04DF-4944-93E3-ADE859867DF2}" srcId="{DA3470F7-07BA-46EF-BB3E-910398814737}" destId="{8ECAF6FA-5CC8-499E-AD5D-D6F74E75B7B2}" srcOrd="4" destOrd="0" parTransId="{1CEF406C-571B-428D-AC92-65D984613EBB}" sibTransId="{517B5C27-BEA1-4690-B05F-0BAB774B61A7}"/>
    <dgm:cxn modelId="{51F1D2D4-0F67-4CC6-826C-5C68BA74BA7F}" type="presOf" srcId="{BF34893B-0000-4CDD-912D-15B15F261C41}" destId="{AE2DE494-35C9-41A6-98E4-8E5566F43C4E}" srcOrd="1" destOrd="0" presId="urn:microsoft.com/office/officeart/2005/8/layout/target3"/>
    <dgm:cxn modelId="{D10A48D0-D3E0-43FD-B68B-8628222B5C07}" srcId="{DA3470F7-07BA-46EF-BB3E-910398814737}" destId="{ACADA31B-B5A0-4949-897C-A3A2D0FA7109}" srcOrd="2" destOrd="0" parTransId="{744717FC-AD55-48BE-AAA2-9832D8BB7DC3}" sibTransId="{BECC71F2-0B96-4477-80B4-BD308F7D9E32}"/>
    <dgm:cxn modelId="{552FD278-E062-4C21-987F-4BA30B603032}" srcId="{DA3470F7-07BA-46EF-BB3E-910398814737}" destId="{BF34893B-0000-4CDD-912D-15B15F261C41}" srcOrd="0" destOrd="0" parTransId="{93E8F6D4-7633-45E1-9D0B-D15CF357D17E}" sibTransId="{2DFB070F-8D2C-4C67-8CBA-DD8B527F6E00}"/>
    <dgm:cxn modelId="{895E6604-F070-41A4-9000-EFD30600B6AB}" type="presOf" srcId="{ACADA31B-B5A0-4949-897C-A3A2D0FA7109}" destId="{7E30606D-5557-4905-B036-976DF0F6AF8E}" srcOrd="0" destOrd="0" presId="urn:microsoft.com/office/officeart/2005/8/layout/target3"/>
    <dgm:cxn modelId="{6788C5EE-406C-431A-B66A-4CCCAA399BE7}" type="presOf" srcId="{1EF56B3B-6454-453D-AF28-982541A6BBF5}" destId="{E7DB78A5-D496-4A32-AAA4-BD3967271ED6}" srcOrd="0" destOrd="0" presId="urn:microsoft.com/office/officeart/2005/8/layout/target3"/>
    <dgm:cxn modelId="{839E9AF7-CC4A-4641-B90D-0839C1957C45}" type="presOf" srcId="{BF34893B-0000-4CDD-912D-15B15F261C41}" destId="{293A8C0C-93D7-4ACA-B859-5AB4F3EB1669}" srcOrd="0" destOrd="0" presId="urn:microsoft.com/office/officeart/2005/8/layout/target3"/>
    <dgm:cxn modelId="{197336F9-F12A-450D-B9A0-1B081FA0362B}" type="presParOf" srcId="{2F7F4686-A533-4B8E-AEE1-7622675BA015}" destId="{4B0AD206-8E02-4B6C-AFA1-CB2D7B84D62B}" srcOrd="0" destOrd="0" presId="urn:microsoft.com/office/officeart/2005/8/layout/target3"/>
    <dgm:cxn modelId="{36958AD8-AA6C-4F5C-9226-37747E5F51D0}" type="presParOf" srcId="{2F7F4686-A533-4B8E-AEE1-7622675BA015}" destId="{F519922D-2B96-4D46-BD8F-7268E7662149}" srcOrd="1" destOrd="0" presId="urn:microsoft.com/office/officeart/2005/8/layout/target3"/>
    <dgm:cxn modelId="{D76E4589-1AE8-406B-A5B2-17BB7410F169}" type="presParOf" srcId="{2F7F4686-A533-4B8E-AEE1-7622675BA015}" destId="{293A8C0C-93D7-4ACA-B859-5AB4F3EB1669}" srcOrd="2" destOrd="0" presId="urn:microsoft.com/office/officeart/2005/8/layout/target3"/>
    <dgm:cxn modelId="{14D5645D-2849-4F72-9E69-EAD0CE2F9A45}" type="presParOf" srcId="{2F7F4686-A533-4B8E-AEE1-7622675BA015}" destId="{1FA4304A-E7FD-4DDB-85B2-8F0B1B00721A}" srcOrd="3" destOrd="0" presId="urn:microsoft.com/office/officeart/2005/8/layout/target3"/>
    <dgm:cxn modelId="{8D01E573-B9AC-4AAA-86D8-76BA24056E72}" type="presParOf" srcId="{2F7F4686-A533-4B8E-AEE1-7622675BA015}" destId="{27D38020-98F1-4563-92C0-08ECA39E3B21}" srcOrd="4" destOrd="0" presId="urn:microsoft.com/office/officeart/2005/8/layout/target3"/>
    <dgm:cxn modelId="{5013E381-5C4C-4EAB-9992-BA8A14C78D15}" type="presParOf" srcId="{2F7F4686-A533-4B8E-AEE1-7622675BA015}" destId="{E7DB78A5-D496-4A32-AAA4-BD3967271ED6}" srcOrd="5" destOrd="0" presId="urn:microsoft.com/office/officeart/2005/8/layout/target3"/>
    <dgm:cxn modelId="{F61F3160-420D-4EB3-938A-385A770D7D23}" type="presParOf" srcId="{2F7F4686-A533-4B8E-AEE1-7622675BA015}" destId="{459B192A-15B0-40D3-9FDF-21A9FAF4B199}" srcOrd="6" destOrd="0" presId="urn:microsoft.com/office/officeart/2005/8/layout/target3"/>
    <dgm:cxn modelId="{3FC7F9CD-EAD8-4F22-B51D-1E215DB798AF}" type="presParOf" srcId="{2F7F4686-A533-4B8E-AEE1-7622675BA015}" destId="{7F0BC675-091F-4FD3-8841-82035D837E6A}" srcOrd="7" destOrd="0" presId="urn:microsoft.com/office/officeart/2005/8/layout/target3"/>
    <dgm:cxn modelId="{E31B9C63-AFAC-4F2F-8611-B169747EFFFA}" type="presParOf" srcId="{2F7F4686-A533-4B8E-AEE1-7622675BA015}" destId="{7E30606D-5557-4905-B036-976DF0F6AF8E}" srcOrd="8" destOrd="0" presId="urn:microsoft.com/office/officeart/2005/8/layout/target3"/>
    <dgm:cxn modelId="{7D6782D8-CC5B-46B0-BF9D-15A635EAA81F}" type="presParOf" srcId="{2F7F4686-A533-4B8E-AEE1-7622675BA015}" destId="{B263006B-D9E3-484E-81E5-A270FCA5E3FD}" srcOrd="9" destOrd="0" presId="urn:microsoft.com/office/officeart/2005/8/layout/target3"/>
    <dgm:cxn modelId="{B474A092-DE54-4630-B6D2-8246198E9942}" type="presParOf" srcId="{2F7F4686-A533-4B8E-AEE1-7622675BA015}" destId="{48249C73-E9C8-4CE0-A852-3FE00EA71C12}" srcOrd="10" destOrd="0" presId="urn:microsoft.com/office/officeart/2005/8/layout/target3"/>
    <dgm:cxn modelId="{A9D1B9A4-542E-4BA3-A0F3-02C2FEEA366D}" type="presParOf" srcId="{2F7F4686-A533-4B8E-AEE1-7622675BA015}" destId="{0C491777-70C6-4A29-AC4D-6DD2BB702A12}" srcOrd="11" destOrd="0" presId="urn:microsoft.com/office/officeart/2005/8/layout/target3"/>
    <dgm:cxn modelId="{5F262C14-FDC1-430A-9E8D-EDBD44268E25}" type="presParOf" srcId="{2F7F4686-A533-4B8E-AEE1-7622675BA015}" destId="{A603BCC7-813F-468A-91C5-73F0DB8E8F3F}" srcOrd="12" destOrd="0" presId="urn:microsoft.com/office/officeart/2005/8/layout/target3"/>
    <dgm:cxn modelId="{6F36423E-7576-4DDB-A3A3-5A68D36D39CB}" type="presParOf" srcId="{2F7F4686-A533-4B8E-AEE1-7622675BA015}" destId="{9D2149A8-5B0D-4B5D-9D31-8D10A2F231E5}" srcOrd="13" destOrd="0" presId="urn:microsoft.com/office/officeart/2005/8/layout/target3"/>
    <dgm:cxn modelId="{235B7E3F-CC9C-4AC8-8270-ED8FCE24D6BD}" type="presParOf" srcId="{2F7F4686-A533-4B8E-AEE1-7622675BA015}" destId="{642F6F80-F190-4842-8E46-E07D5386DF97}" srcOrd="14" destOrd="0" presId="urn:microsoft.com/office/officeart/2005/8/layout/target3"/>
    <dgm:cxn modelId="{345D370E-D3CE-499B-BBF3-DA71D692ABC1}" type="presParOf" srcId="{2F7F4686-A533-4B8E-AEE1-7622675BA015}" destId="{AE2DE494-35C9-41A6-98E4-8E5566F43C4E}" srcOrd="15" destOrd="0" presId="urn:microsoft.com/office/officeart/2005/8/layout/target3"/>
    <dgm:cxn modelId="{CDA95FBF-B19E-4150-87F4-AC23AF2E3D2E}" type="presParOf" srcId="{2F7F4686-A533-4B8E-AEE1-7622675BA015}" destId="{B113E728-6F51-45D0-B7E5-FD269D2950ED}" srcOrd="16" destOrd="0" presId="urn:microsoft.com/office/officeart/2005/8/layout/target3"/>
    <dgm:cxn modelId="{5C5884F1-FE3F-43D2-A707-B84CD7C7459A}" type="presParOf" srcId="{2F7F4686-A533-4B8E-AEE1-7622675BA015}" destId="{31EA1E12-2E0D-4B64-AF72-B74E83546850}" srcOrd="17" destOrd="0" presId="urn:microsoft.com/office/officeart/2005/8/layout/target3"/>
    <dgm:cxn modelId="{7D3F2E8F-0250-48E6-9143-3693C20A563C}" type="presParOf" srcId="{2F7F4686-A533-4B8E-AEE1-7622675BA015}" destId="{1E683FEB-DA7F-438B-868D-EFB01B7A59B4}" srcOrd="18" destOrd="0" presId="urn:microsoft.com/office/officeart/2005/8/layout/target3"/>
    <dgm:cxn modelId="{F41ED54B-170F-4327-8734-70A6E9E9FA43}" type="presParOf" srcId="{2F7F4686-A533-4B8E-AEE1-7622675BA015}" destId="{5DEE69E5-13E0-43A1-8584-8818F9B690CA}" srcOrd="19"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3470F7-07BA-46EF-BB3E-910398814737}"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US"/>
        </a:p>
      </dgm:t>
    </dgm:pt>
    <dgm:pt modelId="{8ECAF6FA-5CC8-499E-AD5D-D6F74E75B7B2}">
      <dgm:prSet/>
      <dgm:spPr/>
      <dgm:t>
        <a:bodyPr/>
        <a:lstStyle/>
        <a:p>
          <a:pPr rtl="0"/>
          <a:r>
            <a:rPr lang="en-US" b="1" dirty="0" smtClean="0"/>
            <a:t>Self Service reduces transaction costs by 1/10</a:t>
          </a:r>
          <a:r>
            <a:rPr lang="en-US" b="1" baseline="30000" dirty="0" smtClean="0"/>
            <a:t>th</a:t>
          </a:r>
          <a:r>
            <a:rPr lang="en-US" b="1" dirty="0" smtClean="0"/>
            <a:t> of a normal human interaction</a:t>
          </a:r>
          <a:endParaRPr lang="en-US" b="1" dirty="0"/>
        </a:p>
      </dgm:t>
    </dgm:pt>
    <dgm:pt modelId="{1CEF406C-571B-428D-AC92-65D984613EBB}" type="parTrans" cxnId="{53736BE0-04DF-4944-93E3-ADE859867DF2}">
      <dgm:prSet/>
      <dgm:spPr/>
      <dgm:t>
        <a:bodyPr/>
        <a:lstStyle/>
        <a:p>
          <a:endParaRPr lang="en-US"/>
        </a:p>
      </dgm:t>
    </dgm:pt>
    <dgm:pt modelId="{517B5C27-BEA1-4690-B05F-0BAB774B61A7}" type="sibTrans" cxnId="{53736BE0-04DF-4944-93E3-ADE859867DF2}">
      <dgm:prSet/>
      <dgm:spPr/>
      <dgm:t>
        <a:bodyPr/>
        <a:lstStyle/>
        <a:p>
          <a:endParaRPr lang="en-US"/>
        </a:p>
      </dgm:t>
    </dgm:pt>
    <dgm:pt modelId="{F464A73B-B262-4B3D-B367-D5BFD4829DF5}">
      <dgm:prSet/>
      <dgm:spPr/>
      <dgm:t>
        <a:bodyPr/>
        <a:lstStyle/>
        <a:p>
          <a:pPr rtl="0"/>
          <a:r>
            <a:rPr lang="en-US" b="1" dirty="0" smtClean="0"/>
            <a:t>Self Service improves overall customer experience quality like speed and satisfaction. </a:t>
          </a:r>
          <a:endParaRPr lang="en-US" b="1" dirty="0"/>
        </a:p>
      </dgm:t>
    </dgm:pt>
    <dgm:pt modelId="{2FEDEC4E-C0DE-48FB-BA67-E9BACB73B01F}" type="parTrans" cxnId="{8703FBF9-D65A-4000-808C-CF49DB9D8B16}">
      <dgm:prSet/>
      <dgm:spPr/>
      <dgm:t>
        <a:bodyPr/>
        <a:lstStyle/>
        <a:p>
          <a:endParaRPr lang="en-US"/>
        </a:p>
      </dgm:t>
    </dgm:pt>
    <dgm:pt modelId="{90057965-2848-426C-8246-E35A1D7F98B9}" type="sibTrans" cxnId="{8703FBF9-D65A-4000-808C-CF49DB9D8B16}">
      <dgm:prSet/>
      <dgm:spPr/>
      <dgm:t>
        <a:bodyPr/>
        <a:lstStyle/>
        <a:p>
          <a:endParaRPr lang="en-US"/>
        </a:p>
      </dgm:t>
    </dgm:pt>
    <dgm:pt modelId="{5FE56978-4591-4FAB-B573-18410B6DFB6B}">
      <dgm:prSet/>
      <dgm:spPr/>
      <dgm:t>
        <a:bodyPr/>
        <a:lstStyle/>
        <a:p>
          <a:pPr rtl="0"/>
          <a:r>
            <a:rPr lang="en-US" b="1" dirty="0" smtClean="0"/>
            <a:t>Self Service improves customer loyalty</a:t>
          </a:r>
          <a:endParaRPr lang="en-US" b="1" dirty="0"/>
        </a:p>
      </dgm:t>
    </dgm:pt>
    <dgm:pt modelId="{26830377-1BA1-42CD-B0F7-7EC4A0AA159C}" type="parTrans" cxnId="{FE9E790E-B1E9-4AB0-B543-36297A05A5AA}">
      <dgm:prSet/>
      <dgm:spPr/>
      <dgm:t>
        <a:bodyPr/>
        <a:lstStyle/>
        <a:p>
          <a:endParaRPr lang="en-US"/>
        </a:p>
      </dgm:t>
    </dgm:pt>
    <dgm:pt modelId="{E67422A2-AB2B-45EC-A211-FC90A30B024B}" type="sibTrans" cxnId="{FE9E790E-B1E9-4AB0-B543-36297A05A5AA}">
      <dgm:prSet/>
      <dgm:spPr/>
      <dgm:t>
        <a:bodyPr/>
        <a:lstStyle/>
        <a:p>
          <a:endParaRPr lang="en-US"/>
        </a:p>
      </dgm:t>
    </dgm:pt>
    <dgm:pt modelId="{31C335B9-237F-4F18-BCD5-39C91E182EF9}">
      <dgm:prSet/>
      <dgm:spPr/>
      <dgm:t>
        <a:bodyPr/>
        <a:lstStyle/>
        <a:p>
          <a:pPr rtl="0"/>
          <a:r>
            <a:rPr lang="en-US" b="1" dirty="0" smtClean="0"/>
            <a:t>Self Service improves Availability</a:t>
          </a:r>
          <a:endParaRPr lang="en-US" b="1" dirty="0"/>
        </a:p>
      </dgm:t>
    </dgm:pt>
    <dgm:pt modelId="{19076AEF-D117-4616-BAFC-FBF796D7833B}" type="parTrans" cxnId="{986618AD-E84A-400D-AD84-6610C85ED5E4}">
      <dgm:prSet/>
      <dgm:spPr/>
      <dgm:t>
        <a:bodyPr/>
        <a:lstStyle/>
        <a:p>
          <a:endParaRPr lang="en-US"/>
        </a:p>
      </dgm:t>
    </dgm:pt>
    <dgm:pt modelId="{69281F66-65CB-4653-829F-DE532811879A}" type="sibTrans" cxnId="{986618AD-E84A-400D-AD84-6610C85ED5E4}">
      <dgm:prSet/>
      <dgm:spPr/>
      <dgm:t>
        <a:bodyPr/>
        <a:lstStyle/>
        <a:p>
          <a:endParaRPr lang="en-US"/>
        </a:p>
      </dgm:t>
    </dgm:pt>
    <dgm:pt modelId="{EF434844-6EAC-406D-9194-7BAD3068163D}">
      <dgm:prSet/>
      <dgm:spPr/>
      <dgm:t>
        <a:bodyPr/>
        <a:lstStyle/>
        <a:p>
          <a:pPr rtl="0"/>
          <a:r>
            <a:rPr lang="en-US" b="1" dirty="0" smtClean="0"/>
            <a:t>90% of e-commerce customers expect Self Service</a:t>
          </a:r>
          <a:endParaRPr lang="en-US" b="1" dirty="0"/>
        </a:p>
      </dgm:t>
    </dgm:pt>
    <dgm:pt modelId="{63C33FD7-7BA4-414C-944A-456F2CED3607}" type="parTrans" cxnId="{6C9D5FC0-B9BD-4D0E-9FD8-8CB210DC8DB3}">
      <dgm:prSet/>
      <dgm:spPr/>
      <dgm:t>
        <a:bodyPr/>
        <a:lstStyle/>
        <a:p>
          <a:endParaRPr lang="en-US"/>
        </a:p>
      </dgm:t>
    </dgm:pt>
    <dgm:pt modelId="{406A5CE4-FB6E-4BF9-BFD4-7474F3B0001C}" type="sibTrans" cxnId="{6C9D5FC0-B9BD-4D0E-9FD8-8CB210DC8DB3}">
      <dgm:prSet/>
      <dgm:spPr/>
      <dgm:t>
        <a:bodyPr/>
        <a:lstStyle/>
        <a:p>
          <a:endParaRPr lang="en-US"/>
        </a:p>
      </dgm:t>
    </dgm:pt>
    <dgm:pt modelId="{A250EE47-3FD7-4158-87F9-CDAE77129E60}">
      <dgm:prSet/>
      <dgm:spPr/>
      <dgm:t>
        <a:bodyPr/>
        <a:lstStyle/>
        <a:p>
          <a:pPr rtl="0"/>
          <a:r>
            <a:rPr lang="en-US" b="1" dirty="0" smtClean="0"/>
            <a:t>Self Service can be easily secured, centralized and scaled</a:t>
          </a:r>
          <a:endParaRPr lang="en-US" b="1" dirty="0"/>
        </a:p>
      </dgm:t>
    </dgm:pt>
    <dgm:pt modelId="{1409F6A1-B60A-4378-8928-A0C389AE682D}" type="parTrans" cxnId="{C4BC06AF-24F2-4DFD-B195-1A6DBE4A4FC2}">
      <dgm:prSet/>
      <dgm:spPr/>
      <dgm:t>
        <a:bodyPr/>
        <a:lstStyle/>
        <a:p>
          <a:endParaRPr lang="en-US"/>
        </a:p>
      </dgm:t>
    </dgm:pt>
    <dgm:pt modelId="{F42C126B-BB8D-4244-B7FD-CF45B4638BB0}" type="sibTrans" cxnId="{C4BC06AF-24F2-4DFD-B195-1A6DBE4A4FC2}">
      <dgm:prSet/>
      <dgm:spPr/>
      <dgm:t>
        <a:bodyPr/>
        <a:lstStyle/>
        <a:p>
          <a:endParaRPr lang="en-US"/>
        </a:p>
      </dgm:t>
    </dgm:pt>
    <dgm:pt modelId="{1B603D68-9549-469A-A261-282511CA3B62}">
      <dgm:prSet/>
      <dgm:spPr/>
      <dgm:t>
        <a:bodyPr/>
        <a:lstStyle/>
        <a:p>
          <a:pPr rtl="0"/>
          <a:r>
            <a:rPr lang="en-US" b="1" dirty="0" smtClean="0"/>
            <a:t>Self Service helps the employees to move away from routine business tasks</a:t>
          </a:r>
          <a:endParaRPr lang="en-US" b="1" dirty="0"/>
        </a:p>
      </dgm:t>
    </dgm:pt>
    <dgm:pt modelId="{1EFF9DEB-50C8-478A-AA30-A3F67D244B3F}" type="parTrans" cxnId="{75CD3F1D-58B7-45BE-82BA-04B808492460}">
      <dgm:prSet/>
      <dgm:spPr/>
      <dgm:t>
        <a:bodyPr/>
        <a:lstStyle/>
        <a:p>
          <a:endParaRPr lang="en-US"/>
        </a:p>
      </dgm:t>
    </dgm:pt>
    <dgm:pt modelId="{01FE79A4-B971-483B-8EC3-2886AF0D422D}" type="sibTrans" cxnId="{75CD3F1D-58B7-45BE-82BA-04B808492460}">
      <dgm:prSet/>
      <dgm:spPr/>
      <dgm:t>
        <a:bodyPr/>
        <a:lstStyle/>
        <a:p>
          <a:endParaRPr lang="en-US"/>
        </a:p>
      </dgm:t>
    </dgm:pt>
    <dgm:pt modelId="{2F7F4686-A533-4B8E-AEE1-7622675BA015}" type="pres">
      <dgm:prSet presAssocID="{DA3470F7-07BA-46EF-BB3E-910398814737}" presName="Name0" presStyleCnt="0">
        <dgm:presLayoutVars>
          <dgm:chMax val="7"/>
          <dgm:dir/>
          <dgm:animLvl val="lvl"/>
          <dgm:resizeHandles val="exact"/>
        </dgm:presLayoutVars>
      </dgm:prSet>
      <dgm:spPr/>
      <dgm:t>
        <a:bodyPr/>
        <a:lstStyle/>
        <a:p>
          <a:endParaRPr lang="en-US"/>
        </a:p>
      </dgm:t>
    </dgm:pt>
    <dgm:pt modelId="{F292276A-C0D9-4A3B-B9B3-62B0F5A7CFA9}" type="pres">
      <dgm:prSet presAssocID="{8ECAF6FA-5CC8-499E-AD5D-D6F74E75B7B2}" presName="circle1" presStyleLbl="node1" presStyleIdx="0" presStyleCnt="7"/>
      <dgm:spPr/>
    </dgm:pt>
    <dgm:pt modelId="{74CCDF97-E9A0-4A76-AC33-1929BEF59A41}" type="pres">
      <dgm:prSet presAssocID="{8ECAF6FA-5CC8-499E-AD5D-D6F74E75B7B2}" presName="space" presStyleCnt="0"/>
      <dgm:spPr/>
    </dgm:pt>
    <dgm:pt modelId="{0EC62887-45AD-4DED-BE8C-CC250903A571}" type="pres">
      <dgm:prSet presAssocID="{8ECAF6FA-5CC8-499E-AD5D-D6F74E75B7B2}" presName="rect1" presStyleLbl="alignAcc1" presStyleIdx="0" presStyleCnt="7"/>
      <dgm:spPr/>
      <dgm:t>
        <a:bodyPr/>
        <a:lstStyle/>
        <a:p>
          <a:endParaRPr lang="en-US"/>
        </a:p>
      </dgm:t>
    </dgm:pt>
    <dgm:pt modelId="{EE76D5FA-E26F-4DCB-9311-855FCA04A40A}" type="pres">
      <dgm:prSet presAssocID="{F464A73B-B262-4B3D-B367-D5BFD4829DF5}" presName="vertSpace2" presStyleLbl="node1" presStyleIdx="0" presStyleCnt="7"/>
      <dgm:spPr/>
    </dgm:pt>
    <dgm:pt modelId="{33FDFC79-C12B-4AB2-8CFE-B72885269855}" type="pres">
      <dgm:prSet presAssocID="{F464A73B-B262-4B3D-B367-D5BFD4829DF5}" presName="circle2" presStyleLbl="node1" presStyleIdx="1" presStyleCnt="7"/>
      <dgm:spPr/>
    </dgm:pt>
    <dgm:pt modelId="{2B9CCB7B-368C-491D-8858-2A6A16766F86}" type="pres">
      <dgm:prSet presAssocID="{F464A73B-B262-4B3D-B367-D5BFD4829DF5}" presName="rect2" presStyleLbl="alignAcc1" presStyleIdx="1" presStyleCnt="7"/>
      <dgm:spPr/>
      <dgm:t>
        <a:bodyPr/>
        <a:lstStyle/>
        <a:p>
          <a:endParaRPr lang="en-US"/>
        </a:p>
      </dgm:t>
    </dgm:pt>
    <dgm:pt modelId="{99C98ADC-0886-4896-ADA0-4F551A754F9A}" type="pres">
      <dgm:prSet presAssocID="{5FE56978-4591-4FAB-B573-18410B6DFB6B}" presName="vertSpace3" presStyleLbl="node1" presStyleIdx="1" presStyleCnt="7"/>
      <dgm:spPr/>
    </dgm:pt>
    <dgm:pt modelId="{EC9AC03F-ECB8-4D56-8446-2A7FF2A8E766}" type="pres">
      <dgm:prSet presAssocID="{5FE56978-4591-4FAB-B573-18410B6DFB6B}" presName="circle3" presStyleLbl="node1" presStyleIdx="2" presStyleCnt="7"/>
      <dgm:spPr/>
    </dgm:pt>
    <dgm:pt modelId="{8B46CCBE-59ED-4987-A1C3-9E0BE532C5FD}" type="pres">
      <dgm:prSet presAssocID="{5FE56978-4591-4FAB-B573-18410B6DFB6B}" presName="rect3" presStyleLbl="alignAcc1" presStyleIdx="2" presStyleCnt="7"/>
      <dgm:spPr/>
      <dgm:t>
        <a:bodyPr/>
        <a:lstStyle/>
        <a:p>
          <a:endParaRPr lang="en-US"/>
        </a:p>
      </dgm:t>
    </dgm:pt>
    <dgm:pt modelId="{122AA077-FCA3-4898-B9EE-E860F3858EFF}" type="pres">
      <dgm:prSet presAssocID="{31C335B9-237F-4F18-BCD5-39C91E182EF9}" presName="vertSpace4" presStyleLbl="node1" presStyleIdx="2" presStyleCnt="7"/>
      <dgm:spPr/>
    </dgm:pt>
    <dgm:pt modelId="{CE064E6B-046A-4455-8699-34902DCB676A}" type="pres">
      <dgm:prSet presAssocID="{31C335B9-237F-4F18-BCD5-39C91E182EF9}" presName="circle4" presStyleLbl="node1" presStyleIdx="3" presStyleCnt="7"/>
      <dgm:spPr/>
    </dgm:pt>
    <dgm:pt modelId="{1F9B484B-3A86-4351-92FC-EA65B1B6DAC9}" type="pres">
      <dgm:prSet presAssocID="{31C335B9-237F-4F18-BCD5-39C91E182EF9}" presName="rect4" presStyleLbl="alignAcc1" presStyleIdx="3" presStyleCnt="7"/>
      <dgm:spPr/>
      <dgm:t>
        <a:bodyPr/>
        <a:lstStyle/>
        <a:p>
          <a:endParaRPr lang="en-US"/>
        </a:p>
      </dgm:t>
    </dgm:pt>
    <dgm:pt modelId="{404AD57F-A032-4D7A-A989-78F8DD7967A8}" type="pres">
      <dgm:prSet presAssocID="{EF434844-6EAC-406D-9194-7BAD3068163D}" presName="vertSpace5" presStyleLbl="node1" presStyleIdx="3" presStyleCnt="7"/>
      <dgm:spPr/>
    </dgm:pt>
    <dgm:pt modelId="{94DD0A44-4BAD-4311-9174-449C74A7523F}" type="pres">
      <dgm:prSet presAssocID="{EF434844-6EAC-406D-9194-7BAD3068163D}" presName="circle5" presStyleLbl="node1" presStyleIdx="4" presStyleCnt="7"/>
      <dgm:spPr/>
    </dgm:pt>
    <dgm:pt modelId="{23DDE89D-2E67-4201-958B-D91D81F5B356}" type="pres">
      <dgm:prSet presAssocID="{EF434844-6EAC-406D-9194-7BAD3068163D}" presName="rect5" presStyleLbl="alignAcc1" presStyleIdx="4" presStyleCnt="7"/>
      <dgm:spPr/>
      <dgm:t>
        <a:bodyPr/>
        <a:lstStyle/>
        <a:p>
          <a:endParaRPr lang="en-US"/>
        </a:p>
      </dgm:t>
    </dgm:pt>
    <dgm:pt modelId="{E30BB31B-ED0F-4966-A863-41ABB2ED6128}" type="pres">
      <dgm:prSet presAssocID="{A250EE47-3FD7-4158-87F9-CDAE77129E60}" presName="vertSpace6" presStyleLbl="node1" presStyleIdx="4" presStyleCnt="7"/>
      <dgm:spPr/>
    </dgm:pt>
    <dgm:pt modelId="{C4C7AAD3-A679-441A-B958-762B5FCAA8DC}" type="pres">
      <dgm:prSet presAssocID="{A250EE47-3FD7-4158-87F9-CDAE77129E60}" presName="circle6" presStyleLbl="node1" presStyleIdx="5" presStyleCnt="7"/>
      <dgm:spPr/>
    </dgm:pt>
    <dgm:pt modelId="{0D59C081-793D-4C14-B392-AE2B7FB54C21}" type="pres">
      <dgm:prSet presAssocID="{A250EE47-3FD7-4158-87F9-CDAE77129E60}" presName="rect6" presStyleLbl="alignAcc1" presStyleIdx="5" presStyleCnt="7"/>
      <dgm:spPr/>
      <dgm:t>
        <a:bodyPr/>
        <a:lstStyle/>
        <a:p>
          <a:endParaRPr lang="en-US"/>
        </a:p>
      </dgm:t>
    </dgm:pt>
    <dgm:pt modelId="{F809D524-26C7-445E-840A-10A237A27C05}" type="pres">
      <dgm:prSet presAssocID="{1B603D68-9549-469A-A261-282511CA3B62}" presName="vertSpace7" presStyleLbl="node1" presStyleIdx="5" presStyleCnt="7"/>
      <dgm:spPr/>
    </dgm:pt>
    <dgm:pt modelId="{FBC2335A-9531-42EC-9ECD-55A8493AFB5E}" type="pres">
      <dgm:prSet presAssocID="{1B603D68-9549-469A-A261-282511CA3B62}" presName="circle7" presStyleLbl="node1" presStyleIdx="6" presStyleCnt="7"/>
      <dgm:spPr/>
    </dgm:pt>
    <dgm:pt modelId="{9A3868CE-98EC-429B-BA91-61E24235B583}" type="pres">
      <dgm:prSet presAssocID="{1B603D68-9549-469A-A261-282511CA3B62}" presName="rect7" presStyleLbl="alignAcc1" presStyleIdx="6" presStyleCnt="7"/>
      <dgm:spPr/>
      <dgm:t>
        <a:bodyPr/>
        <a:lstStyle/>
        <a:p>
          <a:endParaRPr lang="en-US"/>
        </a:p>
      </dgm:t>
    </dgm:pt>
    <dgm:pt modelId="{7A31EEF7-EA1F-4364-B599-78D4556E6F1B}" type="pres">
      <dgm:prSet presAssocID="{8ECAF6FA-5CC8-499E-AD5D-D6F74E75B7B2}" presName="rect1ParTxNoCh" presStyleLbl="alignAcc1" presStyleIdx="6" presStyleCnt="7">
        <dgm:presLayoutVars>
          <dgm:chMax val="1"/>
          <dgm:bulletEnabled val="1"/>
        </dgm:presLayoutVars>
      </dgm:prSet>
      <dgm:spPr/>
      <dgm:t>
        <a:bodyPr/>
        <a:lstStyle/>
        <a:p>
          <a:endParaRPr lang="en-US"/>
        </a:p>
      </dgm:t>
    </dgm:pt>
    <dgm:pt modelId="{F418D746-996C-43B3-8C1D-9452CC0D7BCE}" type="pres">
      <dgm:prSet presAssocID="{F464A73B-B262-4B3D-B367-D5BFD4829DF5}" presName="rect2ParTxNoCh" presStyleLbl="alignAcc1" presStyleIdx="6" presStyleCnt="7">
        <dgm:presLayoutVars>
          <dgm:chMax val="1"/>
          <dgm:bulletEnabled val="1"/>
        </dgm:presLayoutVars>
      </dgm:prSet>
      <dgm:spPr/>
      <dgm:t>
        <a:bodyPr/>
        <a:lstStyle/>
        <a:p>
          <a:endParaRPr lang="en-US"/>
        </a:p>
      </dgm:t>
    </dgm:pt>
    <dgm:pt modelId="{603B2608-EF90-432D-9371-6F79BC89495D}" type="pres">
      <dgm:prSet presAssocID="{5FE56978-4591-4FAB-B573-18410B6DFB6B}" presName="rect3ParTxNoCh" presStyleLbl="alignAcc1" presStyleIdx="6" presStyleCnt="7">
        <dgm:presLayoutVars>
          <dgm:chMax val="1"/>
          <dgm:bulletEnabled val="1"/>
        </dgm:presLayoutVars>
      </dgm:prSet>
      <dgm:spPr/>
      <dgm:t>
        <a:bodyPr/>
        <a:lstStyle/>
        <a:p>
          <a:endParaRPr lang="en-US"/>
        </a:p>
      </dgm:t>
    </dgm:pt>
    <dgm:pt modelId="{D592588A-5EC8-4BF9-87DB-DB2C506B5E83}" type="pres">
      <dgm:prSet presAssocID="{31C335B9-237F-4F18-BCD5-39C91E182EF9}" presName="rect4ParTxNoCh" presStyleLbl="alignAcc1" presStyleIdx="6" presStyleCnt="7">
        <dgm:presLayoutVars>
          <dgm:chMax val="1"/>
          <dgm:bulletEnabled val="1"/>
        </dgm:presLayoutVars>
      </dgm:prSet>
      <dgm:spPr/>
      <dgm:t>
        <a:bodyPr/>
        <a:lstStyle/>
        <a:p>
          <a:endParaRPr lang="en-US"/>
        </a:p>
      </dgm:t>
    </dgm:pt>
    <dgm:pt modelId="{9E06749B-F0BA-42F9-B44E-A318A5DC5DBB}" type="pres">
      <dgm:prSet presAssocID="{EF434844-6EAC-406D-9194-7BAD3068163D}" presName="rect5ParTxNoCh" presStyleLbl="alignAcc1" presStyleIdx="6" presStyleCnt="7">
        <dgm:presLayoutVars>
          <dgm:chMax val="1"/>
          <dgm:bulletEnabled val="1"/>
        </dgm:presLayoutVars>
      </dgm:prSet>
      <dgm:spPr/>
      <dgm:t>
        <a:bodyPr/>
        <a:lstStyle/>
        <a:p>
          <a:endParaRPr lang="en-US"/>
        </a:p>
      </dgm:t>
    </dgm:pt>
    <dgm:pt modelId="{AED9B1A8-776B-47E9-B773-E265BBAC51D6}" type="pres">
      <dgm:prSet presAssocID="{A250EE47-3FD7-4158-87F9-CDAE77129E60}" presName="rect6ParTxNoCh" presStyleLbl="alignAcc1" presStyleIdx="6" presStyleCnt="7">
        <dgm:presLayoutVars>
          <dgm:chMax val="1"/>
          <dgm:bulletEnabled val="1"/>
        </dgm:presLayoutVars>
      </dgm:prSet>
      <dgm:spPr/>
      <dgm:t>
        <a:bodyPr/>
        <a:lstStyle/>
        <a:p>
          <a:endParaRPr lang="en-US"/>
        </a:p>
      </dgm:t>
    </dgm:pt>
    <dgm:pt modelId="{7098D09B-E1DA-413E-8264-BC4DFEC85346}" type="pres">
      <dgm:prSet presAssocID="{1B603D68-9549-469A-A261-282511CA3B62}" presName="rect7ParTxNoCh" presStyleLbl="alignAcc1" presStyleIdx="6" presStyleCnt="7">
        <dgm:presLayoutVars>
          <dgm:chMax val="1"/>
          <dgm:bulletEnabled val="1"/>
        </dgm:presLayoutVars>
      </dgm:prSet>
      <dgm:spPr/>
      <dgm:t>
        <a:bodyPr/>
        <a:lstStyle/>
        <a:p>
          <a:endParaRPr lang="en-US"/>
        </a:p>
      </dgm:t>
    </dgm:pt>
  </dgm:ptLst>
  <dgm:cxnLst>
    <dgm:cxn modelId="{C4BC06AF-24F2-4DFD-B195-1A6DBE4A4FC2}" srcId="{DA3470F7-07BA-46EF-BB3E-910398814737}" destId="{A250EE47-3FD7-4158-87F9-CDAE77129E60}" srcOrd="5" destOrd="0" parTransId="{1409F6A1-B60A-4378-8928-A0C389AE682D}" sibTransId="{F42C126B-BB8D-4244-B7FD-CF45B4638BB0}"/>
    <dgm:cxn modelId="{256A5C09-777F-44F6-9D07-46AD3EE73665}" type="presOf" srcId="{5FE56978-4591-4FAB-B573-18410B6DFB6B}" destId="{603B2608-EF90-432D-9371-6F79BC89495D}" srcOrd="1" destOrd="0" presId="urn:microsoft.com/office/officeart/2005/8/layout/target3"/>
    <dgm:cxn modelId="{D09ACDE5-96DA-4055-8787-65BB16634C39}" type="presOf" srcId="{EF434844-6EAC-406D-9194-7BAD3068163D}" destId="{9E06749B-F0BA-42F9-B44E-A318A5DC5DBB}" srcOrd="1" destOrd="0" presId="urn:microsoft.com/office/officeart/2005/8/layout/target3"/>
    <dgm:cxn modelId="{C5C6F6F1-1245-4C36-9041-ECD712B2EDAF}" type="presOf" srcId="{A250EE47-3FD7-4158-87F9-CDAE77129E60}" destId="{0D59C081-793D-4C14-B392-AE2B7FB54C21}" srcOrd="0" destOrd="0" presId="urn:microsoft.com/office/officeart/2005/8/layout/target3"/>
    <dgm:cxn modelId="{986618AD-E84A-400D-AD84-6610C85ED5E4}" srcId="{DA3470F7-07BA-46EF-BB3E-910398814737}" destId="{31C335B9-237F-4F18-BCD5-39C91E182EF9}" srcOrd="3" destOrd="0" parTransId="{19076AEF-D117-4616-BAFC-FBF796D7833B}" sibTransId="{69281F66-65CB-4653-829F-DE532811879A}"/>
    <dgm:cxn modelId="{63FF4B6F-D764-44D6-8DA2-A66DA5828757}" type="presOf" srcId="{5FE56978-4591-4FAB-B573-18410B6DFB6B}" destId="{8B46CCBE-59ED-4987-A1C3-9E0BE532C5FD}" srcOrd="0" destOrd="0" presId="urn:microsoft.com/office/officeart/2005/8/layout/target3"/>
    <dgm:cxn modelId="{23E6903E-2E42-49C8-87DF-B71B498EB2CD}" type="presOf" srcId="{31C335B9-237F-4F18-BCD5-39C91E182EF9}" destId="{1F9B484B-3A86-4351-92FC-EA65B1B6DAC9}" srcOrd="0" destOrd="0" presId="urn:microsoft.com/office/officeart/2005/8/layout/target3"/>
    <dgm:cxn modelId="{FE9E790E-B1E9-4AB0-B543-36297A05A5AA}" srcId="{DA3470F7-07BA-46EF-BB3E-910398814737}" destId="{5FE56978-4591-4FAB-B573-18410B6DFB6B}" srcOrd="2" destOrd="0" parTransId="{26830377-1BA1-42CD-B0F7-7EC4A0AA159C}" sibTransId="{E67422A2-AB2B-45EC-A211-FC90A30B024B}"/>
    <dgm:cxn modelId="{82512CCD-A936-4D25-888B-239E77166F49}" type="presOf" srcId="{1B603D68-9549-469A-A261-282511CA3B62}" destId="{7098D09B-E1DA-413E-8264-BC4DFEC85346}" srcOrd="1" destOrd="0" presId="urn:microsoft.com/office/officeart/2005/8/layout/target3"/>
    <dgm:cxn modelId="{8181F273-613F-4C93-8476-CFCC2C8DCCB1}" type="presOf" srcId="{1B603D68-9549-469A-A261-282511CA3B62}" destId="{9A3868CE-98EC-429B-BA91-61E24235B583}" srcOrd="0" destOrd="0" presId="urn:microsoft.com/office/officeart/2005/8/layout/target3"/>
    <dgm:cxn modelId="{8703FBF9-D65A-4000-808C-CF49DB9D8B16}" srcId="{DA3470F7-07BA-46EF-BB3E-910398814737}" destId="{F464A73B-B262-4B3D-B367-D5BFD4829DF5}" srcOrd="1" destOrd="0" parTransId="{2FEDEC4E-C0DE-48FB-BA67-E9BACB73B01F}" sibTransId="{90057965-2848-426C-8246-E35A1D7F98B9}"/>
    <dgm:cxn modelId="{FA6080AB-1477-4627-9912-0DEDD8E82784}" type="presOf" srcId="{A250EE47-3FD7-4158-87F9-CDAE77129E60}" destId="{AED9B1A8-776B-47E9-B773-E265BBAC51D6}" srcOrd="1" destOrd="0" presId="urn:microsoft.com/office/officeart/2005/8/layout/target3"/>
    <dgm:cxn modelId="{53736BE0-04DF-4944-93E3-ADE859867DF2}" srcId="{DA3470F7-07BA-46EF-BB3E-910398814737}" destId="{8ECAF6FA-5CC8-499E-AD5D-D6F74E75B7B2}" srcOrd="0" destOrd="0" parTransId="{1CEF406C-571B-428D-AC92-65D984613EBB}" sibTransId="{517B5C27-BEA1-4690-B05F-0BAB774B61A7}"/>
    <dgm:cxn modelId="{75CD3F1D-58B7-45BE-82BA-04B808492460}" srcId="{DA3470F7-07BA-46EF-BB3E-910398814737}" destId="{1B603D68-9549-469A-A261-282511CA3B62}" srcOrd="6" destOrd="0" parTransId="{1EFF9DEB-50C8-478A-AA30-A3F67D244B3F}" sibTransId="{01FE79A4-B971-483B-8EC3-2886AF0D422D}"/>
    <dgm:cxn modelId="{6C9D5FC0-B9BD-4D0E-9FD8-8CB210DC8DB3}" srcId="{DA3470F7-07BA-46EF-BB3E-910398814737}" destId="{EF434844-6EAC-406D-9194-7BAD3068163D}" srcOrd="4" destOrd="0" parTransId="{63C33FD7-7BA4-414C-944A-456F2CED3607}" sibTransId="{406A5CE4-FB6E-4BF9-BFD4-7474F3B0001C}"/>
    <dgm:cxn modelId="{AD4F960D-0671-4949-9F8D-D0E2F2E207FA}" type="presOf" srcId="{31C335B9-237F-4F18-BCD5-39C91E182EF9}" destId="{D592588A-5EC8-4BF9-87DB-DB2C506B5E83}" srcOrd="1" destOrd="0" presId="urn:microsoft.com/office/officeart/2005/8/layout/target3"/>
    <dgm:cxn modelId="{1CE562D2-8ADB-45F8-8896-12238F1AFAF9}" type="presOf" srcId="{8ECAF6FA-5CC8-499E-AD5D-D6F74E75B7B2}" destId="{0EC62887-45AD-4DED-BE8C-CC250903A571}" srcOrd="0" destOrd="0" presId="urn:microsoft.com/office/officeart/2005/8/layout/target3"/>
    <dgm:cxn modelId="{A670594A-5FE1-4F3E-8AFB-DB0B786D5187}" type="presOf" srcId="{F464A73B-B262-4B3D-B367-D5BFD4829DF5}" destId="{2B9CCB7B-368C-491D-8858-2A6A16766F86}" srcOrd="0" destOrd="0" presId="urn:microsoft.com/office/officeart/2005/8/layout/target3"/>
    <dgm:cxn modelId="{E9FF17B2-83B0-488F-90CF-A722D6BA0376}" type="presOf" srcId="{EF434844-6EAC-406D-9194-7BAD3068163D}" destId="{23DDE89D-2E67-4201-958B-D91D81F5B356}" srcOrd="0" destOrd="0" presId="urn:microsoft.com/office/officeart/2005/8/layout/target3"/>
    <dgm:cxn modelId="{8698722F-3ED7-4FEA-A6B3-6C59E8955B69}" type="presOf" srcId="{DA3470F7-07BA-46EF-BB3E-910398814737}" destId="{2F7F4686-A533-4B8E-AEE1-7622675BA015}" srcOrd="0" destOrd="0" presId="urn:microsoft.com/office/officeart/2005/8/layout/target3"/>
    <dgm:cxn modelId="{B01FB232-039A-4BAB-A707-27A0400ACA8B}" type="presOf" srcId="{F464A73B-B262-4B3D-B367-D5BFD4829DF5}" destId="{F418D746-996C-43B3-8C1D-9452CC0D7BCE}" srcOrd="1" destOrd="0" presId="urn:microsoft.com/office/officeart/2005/8/layout/target3"/>
    <dgm:cxn modelId="{B8DD9A80-954A-4802-9E50-812D86EB7275}" type="presOf" srcId="{8ECAF6FA-5CC8-499E-AD5D-D6F74E75B7B2}" destId="{7A31EEF7-EA1F-4364-B599-78D4556E6F1B}" srcOrd="1" destOrd="0" presId="urn:microsoft.com/office/officeart/2005/8/layout/target3"/>
    <dgm:cxn modelId="{E1EC294B-B0CA-40AE-A2FD-3F8E34ED06F1}" type="presParOf" srcId="{2F7F4686-A533-4B8E-AEE1-7622675BA015}" destId="{F292276A-C0D9-4A3B-B9B3-62B0F5A7CFA9}" srcOrd="0" destOrd="0" presId="urn:microsoft.com/office/officeart/2005/8/layout/target3"/>
    <dgm:cxn modelId="{FDAACCC2-6B50-41B2-BCCA-24EABEF2739A}" type="presParOf" srcId="{2F7F4686-A533-4B8E-AEE1-7622675BA015}" destId="{74CCDF97-E9A0-4A76-AC33-1929BEF59A41}" srcOrd="1" destOrd="0" presId="urn:microsoft.com/office/officeart/2005/8/layout/target3"/>
    <dgm:cxn modelId="{1462654A-1DE7-4962-B743-FA82F52BA563}" type="presParOf" srcId="{2F7F4686-A533-4B8E-AEE1-7622675BA015}" destId="{0EC62887-45AD-4DED-BE8C-CC250903A571}" srcOrd="2" destOrd="0" presId="urn:microsoft.com/office/officeart/2005/8/layout/target3"/>
    <dgm:cxn modelId="{5FB84068-9F45-4A44-B7A9-6F91E5755792}" type="presParOf" srcId="{2F7F4686-A533-4B8E-AEE1-7622675BA015}" destId="{EE76D5FA-E26F-4DCB-9311-855FCA04A40A}" srcOrd="3" destOrd="0" presId="urn:microsoft.com/office/officeart/2005/8/layout/target3"/>
    <dgm:cxn modelId="{9F99E116-2F37-4384-995E-5609D61850CA}" type="presParOf" srcId="{2F7F4686-A533-4B8E-AEE1-7622675BA015}" destId="{33FDFC79-C12B-4AB2-8CFE-B72885269855}" srcOrd="4" destOrd="0" presId="urn:microsoft.com/office/officeart/2005/8/layout/target3"/>
    <dgm:cxn modelId="{8E379F0C-84A4-444A-B479-303EC683D19A}" type="presParOf" srcId="{2F7F4686-A533-4B8E-AEE1-7622675BA015}" destId="{2B9CCB7B-368C-491D-8858-2A6A16766F86}" srcOrd="5" destOrd="0" presId="urn:microsoft.com/office/officeart/2005/8/layout/target3"/>
    <dgm:cxn modelId="{3452FC62-F9E2-4ED5-AAED-86B23DC469B6}" type="presParOf" srcId="{2F7F4686-A533-4B8E-AEE1-7622675BA015}" destId="{99C98ADC-0886-4896-ADA0-4F551A754F9A}" srcOrd="6" destOrd="0" presId="urn:microsoft.com/office/officeart/2005/8/layout/target3"/>
    <dgm:cxn modelId="{22E2F54B-E0CF-49EE-8DFE-6752C1ED03D3}" type="presParOf" srcId="{2F7F4686-A533-4B8E-AEE1-7622675BA015}" destId="{EC9AC03F-ECB8-4D56-8446-2A7FF2A8E766}" srcOrd="7" destOrd="0" presId="urn:microsoft.com/office/officeart/2005/8/layout/target3"/>
    <dgm:cxn modelId="{6BA1FFA3-3700-488B-BE6A-C2ED5EE096BE}" type="presParOf" srcId="{2F7F4686-A533-4B8E-AEE1-7622675BA015}" destId="{8B46CCBE-59ED-4987-A1C3-9E0BE532C5FD}" srcOrd="8" destOrd="0" presId="urn:microsoft.com/office/officeart/2005/8/layout/target3"/>
    <dgm:cxn modelId="{9B9B0A10-44C1-4E71-A867-479BB666BBC7}" type="presParOf" srcId="{2F7F4686-A533-4B8E-AEE1-7622675BA015}" destId="{122AA077-FCA3-4898-B9EE-E860F3858EFF}" srcOrd="9" destOrd="0" presId="urn:microsoft.com/office/officeart/2005/8/layout/target3"/>
    <dgm:cxn modelId="{1D94055B-9593-4732-A42D-0BAFD21B3E9D}" type="presParOf" srcId="{2F7F4686-A533-4B8E-AEE1-7622675BA015}" destId="{CE064E6B-046A-4455-8699-34902DCB676A}" srcOrd="10" destOrd="0" presId="urn:microsoft.com/office/officeart/2005/8/layout/target3"/>
    <dgm:cxn modelId="{F7CC8A84-EE2E-4023-B8D7-5F8340630F2A}" type="presParOf" srcId="{2F7F4686-A533-4B8E-AEE1-7622675BA015}" destId="{1F9B484B-3A86-4351-92FC-EA65B1B6DAC9}" srcOrd="11" destOrd="0" presId="urn:microsoft.com/office/officeart/2005/8/layout/target3"/>
    <dgm:cxn modelId="{AC2126A3-1BCA-4FF7-A22C-15036648FDDA}" type="presParOf" srcId="{2F7F4686-A533-4B8E-AEE1-7622675BA015}" destId="{404AD57F-A032-4D7A-A989-78F8DD7967A8}" srcOrd="12" destOrd="0" presId="urn:microsoft.com/office/officeart/2005/8/layout/target3"/>
    <dgm:cxn modelId="{00D04BF9-B6DE-413C-9512-AD3E40723057}" type="presParOf" srcId="{2F7F4686-A533-4B8E-AEE1-7622675BA015}" destId="{94DD0A44-4BAD-4311-9174-449C74A7523F}" srcOrd="13" destOrd="0" presId="urn:microsoft.com/office/officeart/2005/8/layout/target3"/>
    <dgm:cxn modelId="{B4BA28B3-CCFC-43C6-8433-3CAC88BADC01}" type="presParOf" srcId="{2F7F4686-A533-4B8E-AEE1-7622675BA015}" destId="{23DDE89D-2E67-4201-958B-D91D81F5B356}" srcOrd="14" destOrd="0" presId="urn:microsoft.com/office/officeart/2005/8/layout/target3"/>
    <dgm:cxn modelId="{4A3FA104-B285-4B9E-B56B-E62D2DF0EC27}" type="presParOf" srcId="{2F7F4686-A533-4B8E-AEE1-7622675BA015}" destId="{E30BB31B-ED0F-4966-A863-41ABB2ED6128}" srcOrd="15" destOrd="0" presId="urn:microsoft.com/office/officeart/2005/8/layout/target3"/>
    <dgm:cxn modelId="{ADA8DC19-2443-4C2D-BD66-E6D604034B6B}" type="presParOf" srcId="{2F7F4686-A533-4B8E-AEE1-7622675BA015}" destId="{C4C7AAD3-A679-441A-B958-762B5FCAA8DC}" srcOrd="16" destOrd="0" presId="urn:microsoft.com/office/officeart/2005/8/layout/target3"/>
    <dgm:cxn modelId="{F782CBD1-523F-4F27-BC8C-197AD60E891C}" type="presParOf" srcId="{2F7F4686-A533-4B8E-AEE1-7622675BA015}" destId="{0D59C081-793D-4C14-B392-AE2B7FB54C21}" srcOrd="17" destOrd="0" presId="urn:microsoft.com/office/officeart/2005/8/layout/target3"/>
    <dgm:cxn modelId="{AA54E1A9-41FC-4873-A653-EA8735E2224A}" type="presParOf" srcId="{2F7F4686-A533-4B8E-AEE1-7622675BA015}" destId="{F809D524-26C7-445E-840A-10A237A27C05}" srcOrd="18" destOrd="0" presId="urn:microsoft.com/office/officeart/2005/8/layout/target3"/>
    <dgm:cxn modelId="{6CE35EFD-8EE1-4F70-A582-C72C60444D55}" type="presParOf" srcId="{2F7F4686-A533-4B8E-AEE1-7622675BA015}" destId="{FBC2335A-9531-42EC-9ECD-55A8493AFB5E}" srcOrd="19" destOrd="0" presId="urn:microsoft.com/office/officeart/2005/8/layout/target3"/>
    <dgm:cxn modelId="{DC532E34-4E84-4D06-9927-5EC5EEB91205}" type="presParOf" srcId="{2F7F4686-A533-4B8E-AEE1-7622675BA015}" destId="{9A3868CE-98EC-429B-BA91-61E24235B583}" srcOrd="20" destOrd="0" presId="urn:microsoft.com/office/officeart/2005/8/layout/target3"/>
    <dgm:cxn modelId="{A6E73399-8249-40C1-8BCC-2B99BD506B3F}" type="presParOf" srcId="{2F7F4686-A533-4B8E-AEE1-7622675BA015}" destId="{7A31EEF7-EA1F-4364-B599-78D4556E6F1B}" srcOrd="21" destOrd="0" presId="urn:microsoft.com/office/officeart/2005/8/layout/target3"/>
    <dgm:cxn modelId="{0C1047ED-C762-4C73-8D78-30B8AFFD6465}" type="presParOf" srcId="{2F7F4686-A533-4B8E-AEE1-7622675BA015}" destId="{F418D746-996C-43B3-8C1D-9452CC0D7BCE}" srcOrd="22" destOrd="0" presId="urn:microsoft.com/office/officeart/2005/8/layout/target3"/>
    <dgm:cxn modelId="{F41B91AF-7273-49C7-85EC-0C376847A0B6}" type="presParOf" srcId="{2F7F4686-A533-4B8E-AEE1-7622675BA015}" destId="{603B2608-EF90-432D-9371-6F79BC89495D}" srcOrd="23" destOrd="0" presId="urn:microsoft.com/office/officeart/2005/8/layout/target3"/>
    <dgm:cxn modelId="{60D3C127-DF21-4A19-948B-AC259C25B36B}" type="presParOf" srcId="{2F7F4686-A533-4B8E-AEE1-7622675BA015}" destId="{D592588A-5EC8-4BF9-87DB-DB2C506B5E83}" srcOrd="24" destOrd="0" presId="urn:microsoft.com/office/officeart/2005/8/layout/target3"/>
    <dgm:cxn modelId="{E1861C8F-8364-422F-8FE9-13C316496431}" type="presParOf" srcId="{2F7F4686-A533-4B8E-AEE1-7622675BA015}" destId="{9E06749B-F0BA-42F9-B44E-A318A5DC5DBB}" srcOrd="25" destOrd="0" presId="urn:microsoft.com/office/officeart/2005/8/layout/target3"/>
    <dgm:cxn modelId="{811D85AD-2D1F-422B-9C4F-32380E69A1E9}" type="presParOf" srcId="{2F7F4686-A533-4B8E-AEE1-7622675BA015}" destId="{AED9B1A8-776B-47E9-B773-E265BBAC51D6}" srcOrd="26" destOrd="0" presId="urn:microsoft.com/office/officeart/2005/8/layout/target3"/>
    <dgm:cxn modelId="{1B5CFDCD-C9AD-45DD-B0A5-304F10BCE4EF}" type="presParOf" srcId="{2F7F4686-A533-4B8E-AEE1-7622675BA015}" destId="{7098D09B-E1DA-413E-8264-BC4DFEC85346}" srcOrd="27"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b="0" i="1" baseline="0" dirty="0" smtClean="0"/>
            <a:t>In what environment(s) do we see this problem?</a:t>
          </a:r>
          <a:endParaRPr lang="en-US" b="0"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b="0" i="1" baseline="0" dirty="0" smtClean="0"/>
            <a:t>What is the problem we are trying to solve?</a:t>
          </a:r>
          <a:endParaRPr lang="en-US" b="0"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b="0" i="1" baseline="0" dirty="0" smtClean="0"/>
            <a:t>An example of the problem</a:t>
          </a:r>
          <a:endParaRPr lang="en-US" b="0" i="1"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b="0" i="1" baseline="0" dirty="0" smtClean="0"/>
            <a:t>What makes the problem hard to solve</a:t>
          </a:r>
          <a:r>
            <a:rPr lang="en-US" b="1" i="0" baseline="0" dirty="0" smtClean="0"/>
            <a:t>	</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b="0" i="1" baseline="0" dirty="0" smtClean="0"/>
            <a:t>How we solve the problem?</a:t>
          </a:r>
          <a:endParaRPr lang="en-US" b="0"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B4B07861-254C-4439-92AB-CB82F9DDB5C7}">
      <dgm:prSet/>
      <dgm:spPr/>
      <dgm:t>
        <a:bodyPr/>
        <a:lstStyle/>
        <a:p>
          <a:pPr rtl="0"/>
          <a:r>
            <a:rPr lang="en-US" b="1" i="0" baseline="0" dirty="0" smtClean="0"/>
            <a:t>Solution example : </a:t>
          </a:r>
          <a:r>
            <a:rPr lang="en-US" b="0" i="0" baseline="0" dirty="0" smtClean="0"/>
            <a:t>Two examples</a:t>
          </a:r>
          <a:endParaRPr lang="en-US" b="0" i="1" dirty="0"/>
        </a:p>
      </dgm:t>
    </dgm:pt>
    <dgm:pt modelId="{EACB13B0-F7E6-4550-94ED-A4BB84767690}" type="parTrans" cxnId="{D99B0E5B-ED7D-4416-967E-8C35BDE24E47}">
      <dgm:prSet/>
      <dgm:spPr/>
      <dgm:t>
        <a:bodyPr/>
        <a:lstStyle/>
        <a:p>
          <a:endParaRPr lang="en-US"/>
        </a:p>
      </dgm:t>
    </dgm:pt>
    <dgm:pt modelId="{7F1DB615-7F0A-44CB-B51B-3466D3738E75}" type="sibTrans" cxnId="{D99B0E5B-ED7D-4416-967E-8C35BDE24E47}">
      <dgm:prSet/>
      <dgm:spPr/>
      <dgm:t>
        <a:bodyPr/>
        <a:lstStyle/>
        <a:p>
          <a:endParaRPr lang="en-US"/>
        </a:p>
      </dgm:t>
    </dgm:pt>
    <dgm:pt modelId="{90989E1F-9BB8-42F2-B30F-C36254A16906}">
      <dgm:prSet/>
      <dgm:spPr/>
      <dgm:t>
        <a:bodyPr/>
        <a:lstStyle/>
        <a:p>
          <a:pPr rtl="0"/>
          <a:r>
            <a:rPr lang="en-US" b="1" i="0" baseline="0" dirty="0" smtClean="0"/>
            <a:t>Resulting Context : </a:t>
          </a:r>
          <a:r>
            <a:rPr lang="en-US" b="0" i="1" baseline="0" dirty="0" smtClean="0"/>
            <a:t>The environment created by the resolution of the problem</a:t>
          </a:r>
          <a:endParaRPr lang="en-US" b="0"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b="0" i="1" baseline="0" dirty="0" smtClean="0"/>
            <a:t>Other Patterns</a:t>
          </a:r>
          <a:endParaRPr lang="en-US" b="0" i="1"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b="0" i="1" baseline="0" dirty="0" smtClean="0"/>
            <a:t>Examples in Real Systems</a:t>
          </a:r>
          <a:endParaRPr lang="en-US" b="0" i="1"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b="0" i="1" baseline="0" dirty="0" smtClean="0"/>
            <a:t>Does this pattern have negative consequences? If so what is the mitigation?</a:t>
          </a:r>
          <a:endParaRPr lang="en-US" b="0"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0270611-2F07-4ECF-9AAA-19A10A0D71A3}">
      <dgm:prSet/>
      <dgm:spPr/>
      <dgm:t>
        <a:bodyPr/>
        <a:lstStyle/>
        <a:p>
          <a:pPr rtl="0"/>
          <a:r>
            <a:rPr lang="en-US" b="1" i="0" baseline="0" dirty="0" smtClean="0"/>
            <a:t>Illustration : </a:t>
          </a:r>
          <a:r>
            <a:rPr lang="en-US" b="0" i="1" baseline="0" dirty="0" smtClean="0"/>
            <a:t>A picture of the pattern in real use</a:t>
          </a:r>
          <a:endParaRPr lang="en-US" b="0" i="1" dirty="0"/>
        </a:p>
      </dgm:t>
    </dgm:pt>
    <dgm:pt modelId="{756125BB-EB1D-4B1C-9855-3401D88DEBDA}" type="parTrans" cxnId="{1EEB0649-CB56-414D-9592-37D88D4AA2EF}">
      <dgm:prSet/>
      <dgm:spPr/>
      <dgm:t>
        <a:bodyPr/>
        <a:lstStyle/>
        <a:p>
          <a:endParaRPr lang="en-US"/>
        </a:p>
      </dgm:t>
    </dgm:pt>
    <dgm:pt modelId="{CDBFBAE0-36BD-4A56-BAB5-6E0C7BEC001D}" type="sibTrans" cxnId="{1EEB0649-CB56-414D-9592-37D88D4AA2EF}">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688A0CD-2BBA-4B07-85FB-A9C4EE6A2216}" type="presOf" srcId="{C97E7C3F-52BA-406A-BBF7-A85DFD4D553A}" destId="{33DA84CE-87C9-4614-A8D9-C3FAE5FE1014}" srcOrd="0" destOrd="9" presId="urn:microsoft.com/office/officeart/2005/8/layout/hList1"/>
    <dgm:cxn modelId="{E8BF2B1F-3EF9-4F7F-8CC2-03F33FB7CD90}" type="presOf" srcId="{5A02540B-3C9E-429B-A6AD-A0F744D8EE50}" destId="{33DA84CE-87C9-4614-A8D9-C3FAE5FE1014}" srcOrd="0" destOrd="3" presId="urn:microsoft.com/office/officeart/2005/8/layout/hList1"/>
    <dgm:cxn modelId="{18612E2A-EEAF-4A5C-BD86-C42255D0983D}" type="presOf" srcId="{3648697E-C0C2-47E1-A581-CB19EC4DFBFE}" destId="{B1A4BFD5-AD52-45C8-9941-E9420CA43D42}" srcOrd="0" destOrd="0"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9264D876-5AE8-49B7-BA49-7DFA07BBCA4E}" type="presOf" srcId="{5F8F6E57-0397-4838-AC14-27AC3168FFD1}" destId="{33DA84CE-87C9-4614-A8D9-C3FAE5FE1014}" srcOrd="0" destOrd="0"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F74EEE2F-7D37-4FDB-9B6C-F67F1F594E14}" type="presOf" srcId="{B19AE21B-D1F5-477C-A462-4D94005ED209}" destId="{33DA84CE-87C9-4614-A8D9-C3FAE5FE1014}" srcOrd="0" destOrd="1" presId="urn:microsoft.com/office/officeart/2005/8/layout/hList1"/>
    <dgm:cxn modelId="{5582C4D7-19E4-49DB-84E5-A77253019A5F}" type="presOf" srcId="{413E6F72-34BF-47DC-B775-3E50330D2D58}" destId="{8605FF89-21C0-4C52-9D60-7882CD44458B}" srcOrd="0" destOrd="0"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E39E7FCC-5319-474C-9BB7-D1AE6BFC3FF1}" srcId="{413E6F72-34BF-47DC-B775-3E50330D2D58}" destId="{5F8F6E57-0397-4838-AC14-27AC3168FFD1}" srcOrd="0" destOrd="0" parTransId="{BEB9FBEF-C319-4EA9-B4FE-13782BB3BCBE}" sibTransId="{69655A7D-2A7C-4FE7-8695-3B8A2A1A1205}"/>
    <dgm:cxn modelId="{D99B0E5B-ED7D-4416-967E-8C35BDE24E47}" srcId="{413E6F72-34BF-47DC-B775-3E50330D2D58}" destId="{B4B07861-254C-4439-92AB-CB82F9DDB5C7}" srcOrd="5" destOrd="0" parTransId="{EACB13B0-F7E6-4550-94ED-A4BB84767690}" sibTransId="{7F1DB615-7F0A-44CB-B51B-3466D3738E75}"/>
    <dgm:cxn modelId="{3750B29B-9C04-4E56-A1DE-29E54457290B}" srcId="{413E6F72-34BF-47DC-B775-3E50330D2D58}" destId="{508A2D43-A355-4519-93F7-34EC8DFBBDFF}" srcOrd="2" destOrd="0" parTransId="{1AE6DC23-AB12-42CA-9B50-DD4F6B340AEE}" sibTransId="{4183CAD1-E58B-4F2C-BDC4-C5C1C1343507}"/>
    <dgm:cxn modelId="{89D84C8D-F4BC-4138-8080-1C5EAB1778A3}" srcId="{413E6F72-34BF-47DC-B775-3E50330D2D58}" destId="{8043F000-3576-4BD1-BB39-3FC262A2260C}" srcOrd="8" destOrd="0" parTransId="{3AC02BB0-56AF-409D-9709-BA705843104F}" sibTransId="{064CF41B-F913-4882-8E50-C23990B5287D}"/>
    <dgm:cxn modelId="{AFA6614B-CEB6-4C3F-BD68-5076F8F3ECD0}" type="presOf" srcId="{90989E1F-9BB8-42F2-B30F-C36254A16906}" destId="{33DA84CE-87C9-4614-A8D9-C3FAE5FE1014}" srcOrd="0" destOrd="6"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7465DCE0-5122-4357-BCEB-EF94FBB5A065}" srcId="{413E6F72-34BF-47DC-B775-3E50330D2D58}" destId="{5A02540B-3C9E-429B-A6AD-A0F744D8EE50}" srcOrd="3" destOrd="0" parTransId="{FF29BBF2-82BB-43AC-855C-E4FE79BDED12}" sibTransId="{D202E666-0D7E-4469-95D0-A1F8711C8BF8}"/>
    <dgm:cxn modelId="{11A78EB5-67F8-4FBF-9110-9761810DD3E1}" type="presOf" srcId="{854EF70E-DF42-45B2-994F-FD4659999C2C}" destId="{33DA84CE-87C9-4614-A8D9-C3FAE5FE1014}" srcOrd="0" destOrd="4" presId="urn:microsoft.com/office/officeart/2005/8/layout/hList1"/>
    <dgm:cxn modelId="{DD480C1E-6741-4BD3-B556-54AC655EB185}" type="presOf" srcId="{8043F000-3576-4BD1-BB39-3FC262A2260C}" destId="{33DA84CE-87C9-4614-A8D9-C3FAE5FE1014}" srcOrd="0" destOrd="8"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1EEB0649-CB56-414D-9592-37D88D4AA2EF}" srcId="{413E6F72-34BF-47DC-B775-3E50330D2D58}" destId="{B0270611-2F07-4ECF-9AAA-19A10A0D71A3}" srcOrd="10" destOrd="0" parTransId="{756125BB-EB1D-4B1C-9855-3401D88DEBDA}" sibTransId="{CDBFBAE0-36BD-4A56-BAB5-6E0C7BEC001D}"/>
    <dgm:cxn modelId="{ACBE3895-BE97-44B1-980B-98D94882CA43}" type="presOf" srcId="{B4B07861-254C-4439-92AB-CB82F9DDB5C7}" destId="{33DA84CE-87C9-4614-A8D9-C3FAE5FE1014}" srcOrd="0" destOrd="5" presId="urn:microsoft.com/office/officeart/2005/8/layout/hList1"/>
    <dgm:cxn modelId="{C1BB65D3-0184-4A51-949F-1DAF11666406}" type="presOf" srcId="{B0270611-2F07-4ECF-9AAA-19A10A0D71A3}" destId="{33DA84CE-87C9-4614-A8D9-C3FAE5FE1014}" srcOrd="0" destOrd="10" presId="urn:microsoft.com/office/officeart/2005/8/layout/hList1"/>
    <dgm:cxn modelId="{4ECC46D1-1324-4206-8879-11FD1E84D9AC}" type="presOf" srcId="{19AADCDF-3DEA-4A8C-AF29-FAD9B7E5AB21}" destId="{33DA84CE-87C9-4614-A8D9-C3FAE5FE1014}" srcOrd="0" destOrd="7"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Users want better self service as they grow used to the channel and existing self service interfaces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How to enable customers to chose better methods of self service given the same set of service options meeting the customer objectives?</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For example users may want to pay their bills with one click. </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Lack of Time, Complexity, Learning effects, Trust</a:t>
          </a:r>
          <a:r>
            <a:rPr lang="en-US" b="1" i="0" baseline="0" dirty="0" smtClean="0"/>
            <a:t>	</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a:t>
          </a:r>
          <a:r>
            <a:rPr lang="en-US" dirty="0" smtClean="0"/>
            <a:t>Create an interface option that allows bypassing some self serve choices.</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A faster self service experience for experience users.  </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Tiered Service</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a:t>
          </a:r>
          <a:r>
            <a:rPr lang="en-US" dirty="0" smtClean="0"/>
            <a:t>E-commerce often stores credit card information for reuse.</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The pattern may increase the mistakes that can be made by the unaware, so some caution must be applied for self service tasks that cannot be reverted. For example they may auto-renew services they no longer need or even these journeys may not be childproof.</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a:t>
          </a:r>
          <a:r>
            <a:rPr lang="en-US" dirty="0" smtClean="0"/>
            <a:t>A checkbox for power users that allows bypassing repetitive self serve.</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E8BF2B1F-3EF9-4F7F-8CC2-03F33FB7CD90}" type="presOf" srcId="{5A02540B-3C9E-429B-A6AD-A0F744D8EE50}"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7465DCE0-5122-4357-BCEB-EF94FBB5A065}" srcId="{413E6F72-34BF-47DC-B775-3E50330D2D58}" destId="{5A02540B-3C9E-429B-A6AD-A0F744D8EE50}" srcOrd="3" destOrd="0" parTransId="{FF29BBF2-82BB-43AC-855C-E4FE79BDED12}" sibTransId="{D202E666-0D7E-4469-95D0-A1F8711C8BF8}"/>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Multi-step complex memory based and domain aware behavior needed to satisfy objectives. User has to make informed decisions on a variety of self serve tasks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How to ensure the adequate information is provided the user to make the correct decisions on a variety of self serve tasks?</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User needs to select a specific energy plan (including green energy, his or her insulation needs) on an energy website.</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Lack of Time, Lack of Knowledge, Cognitive Complexity</a:t>
          </a:r>
          <a:r>
            <a:rPr lang="en-US" b="1" i="0" baseline="0" dirty="0" smtClean="0"/>
            <a:t>	</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Create an intelligent wizard that embodies different decision models and guides the users.</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Fast selection among complex decision options. </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b="0" i="0" baseline="0" dirty="0" smtClean="0"/>
            <a:t>Staged Journey</a:t>
          </a:r>
          <a:endParaRPr lang="en-US" b="0"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Configuring cloud instances on Amazon cloud servers often provides wizards. Some sales tools that generate customer proposals like </a:t>
          </a:r>
          <a:r>
            <a:rPr lang="en-US" dirty="0" err="1" smtClean="0"/>
            <a:t>Bigmachines</a:t>
          </a:r>
          <a:r>
            <a:rPr lang="en-US" dirty="0" smtClean="0"/>
            <a:t> will automatically detect sales of conflicting hardware and software.</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It is often possible that the users click rapidly through all the elements of a wizard like interface unaware of changes that occur. For example, they could select a software configuration which is ill suited for them. To mitigate the same Wizards should include warnings and provide auto-detection functionality. They should also provided standard automated solutions for normal users.</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a:t>
          </a:r>
          <a:r>
            <a:rPr lang="en-US" dirty="0" smtClean="0"/>
            <a:t>User has a energy plan wizard which guides them through an optimal path for selecting their energy plan based on cost, their environment and past energy bills</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E8BF2B1F-3EF9-4F7F-8CC2-03F33FB7CD90}" type="presOf" srcId="{5A02540B-3C9E-429B-A6AD-A0F744D8EE50}"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7465DCE0-5122-4357-BCEB-EF94FBB5A065}" srcId="{413E6F72-34BF-47DC-B775-3E50330D2D58}" destId="{5A02540B-3C9E-429B-A6AD-A0F744D8EE50}" srcOrd="3" destOrd="0" parTransId="{FF29BBF2-82BB-43AC-855C-E4FE79BDED12}" sibTransId="{D202E666-0D7E-4469-95D0-A1F8711C8BF8}"/>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Multi-step complex memory based behavior needed to satisfy objectives. Customer has to complete lots of tasks in a sequential order. He or she may be interrupted and may need to resume at a certain place</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How to ensure such a complex multiple steps self serve task can be executed?</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When we need to register a user a multitude of information may be asked in self serve. Customer may not have some information handy and there will be considerable think times. </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Customers may often lose track of where they are in a long process involving multiple steps. The two forces are cognitive constraints and complexity of steps.</a:t>
          </a:r>
          <a:r>
            <a:rPr lang="en-US" b="1" i="0" baseline="0" dirty="0" smtClean="0"/>
            <a:t>	</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The solution consists of multiple sub solutions. Model the problem as a journey with stops in between. Provide intermediate feedback. Store the state at every stop. </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B4B07861-254C-4439-92AB-CB82F9DDB5C7}">
      <dgm:prSet/>
      <dgm:spPr/>
      <dgm:t>
        <a:bodyPr/>
        <a:lstStyle/>
        <a:p>
          <a:pPr rtl="0"/>
          <a:r>
            <a:rPr lang="en-US" b="1" i="0" baseline="0" dirty="0" smtClean="0"/>
            <a:t>Solution example :</a:t>
          </a:r>
          <a:r>
            <a:rPr lang="en-US" dirty="0" smtClean="0"/>
            <a:t>A stage wise journey form with collapsible sections on multiple pages.</a:t>
          </a:r>
          <a:endParaRPr lang="en-US" i="1" dirty="0"/>
        </a:p>
      </dgm:t>
    </dgm:pt>
    <dgm:pt modelId="{EACB13B0-F7E6-4550-94ED-A4BB84767690}" type="parTrans" cxnId="{D99B0E5B-ED7D-4416-967E-8C35BDE24E47}">
      <dgm:prSet/>
      <dgm:spPr/>
      <dgm:t>
        <a:bodyPr/>
        <a:lstStyle/>
        <a:p>
          <a:endParaRPr lang="en-US"/>
        </a:p>
      </dgm:t>
    </dgm:pt>
    <dgm:pt modelId="{7F1DB615-7F0A-44CB-B51B-3466D3738E75}" type="sibTrans" cxnId="{D99B0E5B-ED7D-4416-967E-8C35BDE24E47}">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A progressive solution to the self serve problem </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Wizard</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a:t>
          </a:r>
          <a:r>
            <a:rPr lang="en-US" dirty="0" smtClean="0"/>
            <a:t>Many ATM machines use a journey pattern</a:t>
          </a:r>
          <a:endParaRPr lang="en-US" i="1"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If a journey pattern is used, journeys tend to get longer for complex problems and the user may feel frustration. This can be mitigated by keep journeys small and chaining them.</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688A0CD-2BBA-4B07-85FB-A9C4EE6A2216}" type="presOf" srcId="{C97E7C3F-52BA-406A-BBF7-A85DFD4D553A}" destId="{33DA84CE-87C9-4614-A8D9-C3FAE5FE1014}" srcOrd="0" destOrd="9" presId="urn:microsoft.com/office/officeart/2005/8/layout/hList1"/>
    <dgm:cxn modelId="{E8BF2B1F-3EF9-4F7F-8CC2-03F33FB7CD90}" type="presOf" srcId="{5A02540B-3C9E-429B-A6AD-A0F744D8EE50}" destId="{33DA84CE-87C9-4614-A8D9-C3FAE5FE1014}" srcOrd="0" destOrd="3" presId="urn:microsoft.com/office/officeart/2005/8/layout/hList1"/>
    <dgm:cxn modelId="{18612E2A-EEAF-4A5C-BD86-C42255D0983D}" type="presOf" srcId="{3648697E-C0C2-47E1-A581-CB19EC4DFBFE}" destId="{B1A4BFD5-AD52-45C8-9941-E9420CA43D42}" srcOrd="0" destOrd="0"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9264D876-5AE8-49B7-BA49-7DFA07BBCA4E}" type="presOf" srcId="{5F8F6E57-0397-4838-AC14-27AC3168FFD1}" destId="{33DA84CE-87C9-4614-A8D9-C3FAE5FE1014}" srcOrd="0" destOrd="0"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F74EEE2F-7D37-4FDB-9B6C-F67F1F594E14}" type="presOf" srcId="{B19AE21B-D1F5-477C-A462-4D94005ED209}" destId="{33DA84CE-87C9-4614-A8D9-C3FAE5FE1014}" srcOrd="0" destOrd="1" presId="urn:microsoft.com/office/officeart/2005/8/layout/hList1"/>
    <dgm:cxn modelId="{5582C4D7-19E4-49DB-84E5-A77253019A5F}" type="presOf" srcId="{413E6F72-34BF-47DC-B775-3E50330D2D58}" destId="{8605FF89-21C0-4C52-9D60-7882CD44458B}" srcOrd="0" destOrd="0"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E39E7FCC-5319-474C-9BB7-D1AE6BFC3FF1}" srcId="{413E6F72-34BF-47DC-B775-3E50330D2D58}" destId="{5F8F6E57-0397-4838-AC14-27AC3168FFD1}" srcOrd="0" destOrd="0" parTransId="{BEB9FBEF-C319-4EA9-B4FE-13782BB3BCBE}" sibTransId="{69655A7D-2A7C-4FE7-8695-3B8A2A1A1205}"/>
    <dgm:cxn modelId="{D99B0E5B-ED7D-4416-967E-8C35BDE24E47}" srcId="{413E6F72-34BF-47DC-B775-3E50330D2D58}" destId="{B4B07861-254C-4439-92AB-CB82F9DDB5C7}" srcOrd="5" destOrd="0" parTransId="{EACB13B0-F7E6-4550-94ED-A4BB84767690}" sibTransId="{7F1DB615-7F0A-44CB-B51B-3466D3738E75}"/>
    <dgm:cxn modelId="{3750B29B-9C04-4E56-A1DE-29E54457290B}" srcId="{413E6F72-34BF-47DC-B775-3E50330D2D58}" destId="{508A2D43-A355-4519-93F7-34EC8DFBBDFF}" srcOrd="2" destOrd="0" parTransId="{1AE6DC23-AB12-42CA-9B50-DD4F6B340AEE}" sibTransId="{4183CAD1-E58B-4F2C-BDC4-C5C1C1343507}"/>
    <dgm:cxn modelId="{89D84C8D-F4BC-4138-8080-1C5EAB1778A3}" srcId="{413E6F72-34BF-47DC-B775-3E50330D2D58}" destId="{8043F000-3576-4BD1-BB39-3FC262A2260C}" srcOrd="8" destOrd="0" parTransId="{3AC02BB0-56AF-409D-9709-BA705843104F}" sibTransId="{064CF41B-F913-4882-8E50-C23990B5287D}"/>
    <dgm:cxn modelId="{AFA6614B-CEB6-4C3F-BD68-5076F8F3ECD0}" type="presOf" srcId="{90989E1F-9BB8-42F2-B30F-C36254A16906}" destId="{33DA84CE-87C9-4614-A8D9-C3FAE5FE1014}" srcOrd="0" destOrd="6"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7465DCE0-5122-4357-BCEB-EF94FBB5A065}" srcId="{413E6F72-34BF-47DC-B775-3E50330D2D58}" destId="{5A02540B-3C9E-429B-A6AD-A0F744D8EE50}" srcOrd="3" destOrd="0" parTransId="{FF29BBF2-82BB-43AC-855C-E4FE79BDED12}" sibTransId="{D202E666-0D7E-4469-95D0-A1F8711C8BF8}"/>
    <dgm:cxn modelId="{11A78EB5-67F8-4FBF-9110-9761810DD3E1}" type="presOf" srcId="{854EF70E-DF42-45B2-994F-FD4659999C2C}" destId="{33DA84CE-87C9-4614-A8D9-C3FAE5FE1014}" srcOrd="0" destOrd="4" presId="urn:microsoft.com/office/officeart/2005/8/layout/hList1"/>
    <dgm:cxn modelId="{DD480C1E-6741-4BD3-B556-54AC655EB185}" type="presOf" srcId="{8043F000-3576-4BD1-BB39-3FC262A2260C}" destId="{33DA84CE-87C9-4614-A8D9-C3FAE5FE1014}" srcOrd="0" destOrd="8"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ACBE3895-BE97-44B1-980B-98D94882CA43}" type="presOf" srcId="{B4B07861-254C-4439-92AB-CB82F9DDB5C7}" destId="{33DA84CE-87C9-4614-A8D9-C3FAE5FE1014}" srcOrd="0" destOrd="5" presId="urn:microsoft.com/office/officeart/2005/8/layout/hList1"/>
    <dgm:cxn modelId="{4ECC46D1-1324-4206-8879-11FD1E84D9AC}" type="presOf" srcId="{19AADCDF-3DEA-4A8C-AF29-FAD9B7E5AB21}" destId="{33DA84CE-87C9-4614-A8D9-C3FAE5FE1014}" srcOrd="0" destOrd="7"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Environments where multiple repetitive self serve tasks ranging beyond 5-10 tasks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The customer has to complete lot of self serve tasks but the number  of tasks is too high</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A user may need to submit a 100 meter reads to an energy utility for all the businesses he or she owns.</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Lack of Time, Computing Constraints</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Create a template for multiple self serve tasks and allow the template to be filled in offline and submit at a single shot </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B4B07861-254C-4439-92AB-CB82F9DDB5C7}">
      <dgm:prSet/>
      <dgm:spPr/>
      <dgm:t>
        <a:bodyPr/>
        <a:lstStyle/>
        <a:p>
          <a:pPr rtl="0"/>
          <a:r>
            <a:rPr lang="en-US" b="1" i="0" baseline="0" dirty="0" smtClean="0"/>
            <a:t>Solution example :</a:t>
          </a:r>
          <a:r>
            <a:rPr lang="en-US" dirty="0" smtClean="0"/>
            <a:t>A template is provided to the user with header. This template can be a comma separated value file. The comma separated value file can be uploaded with the meter reads and meter identification numbers is submitted.</a:t>
          </a:r>
          <a:endParaRPr lang="en-US" i="1" dirty="0"/>
        </a:p>
      </dgm:t>
    </dgm:pt>
    <dgm:pt modelId="{EACB13B0-F7E6-4550-94ED-A4BB84767690}" type="parTrans" cxnId="{D99B0E5B-ED7D-4416-967E-8C35BDE24E47}">
      <dgm:prSet/>
      <dgm:spPr/>
      <dgm:t>
        <a:bodyPr/>
        <a:lstStyle/>
        <a:p>
          <a:endParaRPr lang="en-US"/>
        </a:p>
      </dgm:t>
    </dgm:pt>
    <dgm:pt modelId="{7F1DB615-7F0A-44CB-B51B-3466D3738E75}" type="sibTrans" cxnId="{D99B0E5B-ED7D-4416-967E-8C35BDE24E47}">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User is able to automate multiple self serve tasks using provided templates. </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b="0" i="0" baseline="0" dirty="0" smtClean="0"/>
            <a:t>Power User</a:t>
          </a:r>
          <a:endParaRPr lang="en-US" b="0"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Money management software has power users who can upload their bills. Social management software also allows import and export of contacts.</a:t>
          </a:r>
          <a:endParaRPr lang="en-US" i="1"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This introduces a complexity with respect to maintaining compatible file interchange formats. The template that users fill in with data need to validated. As mitigation we can consider simple interchange formats.</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688A0CD-2BBA-4B07-85FB-A9C4EE6A2216}" type="presOf" srcId="{C97E7C3F-52BA-406A-BBF7-A85DFD4D553A}" destId="{33DA84CE-87C9-4614-A8D9-C3FAE5FE1014}" srcOrd="0" destOrd="9" presId="urn:microsoft.com/office/officeart/2005/8/layout/hList1"/>
    <dgm:cxn modelId="{E8BF2B1F-3EF9-4F7F-8CC2-03F33FB7CD90}" type="presOf" srcId="{5A02540B-3C9E-429B-A6AD-A0F744D8EE50}" destId="{33DA84CE-87C9-4614-A8D9-C3FAE5FE1014}" srcOrd="0" destOrd="3" presId="urn:microsoft.com/office/officeart/2005/8/layout/hList1"/>
    <dgm:cxn modelId="{18612E2A-EEAF-4A5C-BD86-C42255D0983D}" type="presOf" srcId="{3648697E-C0C2-47E1-A581-CB19EC4DFBFE}" destId="{B1A4BFD5-AD52-45C8-9941-E9420CA43D42}" srcOrd="0" destOrd="0"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9264D876-5AE8-49B7-BA49-7DFA07BBCA4E}" type="presOf" srcId="{5F8F6E57-0397-4838-AC14-27AC3168FFD1}" destId="{33DA84CE-87C9-4614-A8D9-C3FAE5FE1014}" srcOrd="0" destOrd="0"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F74EEE2F-7D37-4FDB-9B6C-F67F1F594E14}" type="presOf" srcId="{B19AE21B-D1F5-477C-A462-4D94005ED209}" destId="{33DA84CE-87C9-4614-A8D9-C3FAE5FE1014}" srcOrd="0" destOrd="1" presId="urn:microsoft.com/office/officeart/2005/8/layout/hList1"/>
    <dgm:cxn modelId="{5582C4D7-19E4-49DB-84E5-A77253019A5F}" type="presOf" srcId="{413E6F72-34BF-47DC-B775-3E50330D2D58}" destId="{8605FF89-21C0-4C52-9D60-7882CD44458B}" srcOrd="0" destOrd="0"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E39E7FCC-5319-474C-9BB7-D1AE6BFC3FF1}" srcId="{413E6F72-34BF-47DC-B775-3E50330D2D58}" destId="{5F8F6E57-0397-4838-AC14-27AC3168FFD1}" srcOrd="0" destOrd="0" parTransId="{BEB9FBEF-C319-4EA9-B4FE-13782BB3BCBE}" sibTransId="{69655A7D-2A7C-4FE7-8695-3B8A2A1A1205}"/>
    <dgm:cxn modelId="{D99B0E5B-ED7D-4416-967E-8C35BDE24E47}" srcId="{413E6F72-34BF-47DC-B775-3E50330D2D58}" destId="{B4B07861-254C-4439-92AB-CB82F9DDB5C7}" srcOrd="5" destOrd="0" parTransId="{EACB13B0-F7E6-4550-94ED-A4BB84767690}" sibTransId="{7F1DB615-7F0A-44CB-B51B-3466D3738E75}"/>
    <dgm:cxn modelId="{3750B29B-9C04-4E56-A1DE-29E54457290B}" srcId="{413E6F72-34BF-47DC-B775-3E50330D2D58}" destId="{508A2D43-A355-4519-93F7-34EC8DFBBDFF}" srcOrd="2" destOrd="0" parTransId="{1AE6DC23-AB12-42CA-9B50-DD4F6B340AEE}" sibTransId="{4183CAD1-E58B-4F2C-BDC4-C5C1C1343507}"/>
    <dgm:cxn modelId="{89D84C8D-F4BC-4138-8080-1C5EAB1778A3}" srcId="{413E6F72-34BF-47DC-B775-3E50330D2D58}" destId="{8043F000-3576-4BD1-BB39-3FC262A2260C}" srcOrd="8" destOrd="0" parTransId="{3AC02BB0-56AF-409D-9709-BA705843104F}" sibTransId="{064CF41B-F913-4882-8E50-C23990B5287D}"/>
    <dgm:cxn modelId="{AFA6614B-CEB6-4C3F-BD68-5076F8F3ECD0}" type="presOf" srcId="{90989E1F-9BB8-42F2-B30F-C36254A16906}" destId="{33DA84CE-87C9-4614-A8D9-C3FAE5FE1014}" srcOrd="0" destOrd="6"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7465DCE0-5122-4357-BCEB-EF94FBB5A065}" srcId="{413E6F72-34BF-47DC-B775-3E50330D2D58}" destId="{5A02540B-3C9E-429B-A6AD-A0F744D8EE50}" srcOrd="3" destOrd="0" parTransId="{FF29BBF2-82BB-43AC-855C-E4FE79BDED12}" sibTransId="{D202E666-0D7E-4469-95D0-A1F8711C8BF8}"/>
    <dgm:cxn modelId="{11A78EB5-67F8-4FBF-9110-9761810DD3E1}" type="presOf" srcId="{854EF70E-DF42-45B2-994F-FD4659999C2C}" destId="{33DA84CE-87C9-4614-A8D9-C3FAE5FE1014}" srcOrd="0" destOrd="4" presId="urn:microsoft.com/office/officeart/2005/8/layout/hList1"/>
    <dgm:cxn modelId="{DD480C1E-6741-4BD3-B556-54AC655EB185}" type="presOf" srcId="{8043F000-3576-4BD1-BB39-3FC262A2260C}" destId="{33DA84CE-87C9-4614-A8D9-C3FAE5FE1014}" srcOrd="0" destOrd="8"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ACBE3895-BE97-44B1-980B-98D94882CA43}" type="presOf" srcId="{B4B07861-254C-4439-92AB-CB82F9DDB5C7}" destId="{33DA84CE-87C9-4614-A8D9-C3FAE5FE1014}" srcOrd="0" destOrd="5" presId="urn:microsoft.com/office/officeart/2005/8/layout/hList1"/>
    <dgm:cxn modelId="{4ECC46D1-1324-4206-8879-11FD1E84D9AC}" type="presOf" srcId="{19AADCDF-3DEA-4A8C-AF29-FAD9B7E5AB21}" destId="{33DA84CE-87C9-4614-A8D9-C3FAE5FE1014}" srcOrd="0" destOrd="7"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Choice among competing options with weights attached to each attribute of the option.</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Customer has to make choices between various self service options.</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has to choose between different payments plans like monthly, yearly. Choose insurance policies. Choose types of train tickets at a railroad.</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Lack of time, Lack of  Knowledge</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a:t>
          </a:r>
          <a:r>
            <a:rPr lang="en-US" dirty="0" smtClean="0"/>
            <a:t>Create tabular comparison sheets with the overall cost highlighted</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Reduction in time to make decision. More optimal decisions  </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Journey</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Tables, Graphs, Charts are used in Intuit Money Manager to show split among multiple items</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The decision aids provided to the user should be easily decipherable across various cultural barrier. It is rare for one decision aid to actually help the user so multiple decision aids should be provided.</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a:t>
          </a:r>
          <a:r>
            <a:rPr lang="en-US" dirty="0" smtClean="0"/>
            <a:t>A table displaying various payment plans. A graph comparing various  options</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E8BF2B1F-3EF9-4F7F-8CC2-03F33FB7CD90}" type="presOf" srcId="{5A02540B-3C9E-429B-A6AD-A0F744D8EE50}"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7465DCE0-5122-4357-BCEB-EF94FBB5A065}" srcId="{413E6F72-34BF-47DC-B775-3E50330D2D58}" destId="{5A02540B-3C9E-429B-A6AD-A0F744D8EE50}" srcOrd="3" destOrd="0" parTransId="{FF29BBF2-82BB-43AC-855C-E4FE79BDED12}" sibTransId="{D202E666-0D7E-4469-95D0-A1F8711C8BF8}"/>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Display multiple self serve options to the customer</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How can multiple self serve options   displayed to a customer efficiently?</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has a 100 self serve options like pay bill, view energy consumption, move premises etc. How to display them efficiently?</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Lack of time,  Lack of knowledge, Cognitive Constraints</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a:t>
          </a:r>
          <a:r>
            <a:rPr lang="en-US" dirty="0" smtClean="0"/>
            <a:t>Create a navigational system that helps the user to navigate between all the self serve options without losing the context and having to load multiple pages</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One stop self serve place which is easily book-</a:t>
          </a:r>
          <a:r>
            <a:rPr lang="en-US" dirty="0" err="1" smtClean="0"/>
            <a:t>markable</a:t>
          </a:r>
          <a:r>
            <a:rPr lang="en-US" dirty="0" smtClean="0"/>
            <a:t>.</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Wizard</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err="1" smtClean="0"/>
            <a:t>MegaMenu</a:t>
          </a:r>
          <a:r>
            <a:rPr lang="en-US" dirty="0" smtClean="0"/>
            <a:t>, Springboard, Faceted Navigation </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In some cases it is difficult to show all the decision options in a single page so techniques like infinite scrolling and swipe based navigation are used to give feeling that all options are on the same page. However, in such cases the discovery of self service options will take time as the user manually has to navigate to each and every option</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a:t>
          </a:r>
          <a:r>
            <a:rPr lang="en-US" dirty="0" smtClean="0"/>
            <a:t>Create a compact/condensed single page or faceted navigation system. This must go hand in hand with selecting the appropriate layouts which will be in line with the displays the customer may use to access the self serve system.</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E8BF2B1F-3EF9-4F7F-8CC2-03F33FB7CD90}" type="presOf" srcId="{5A02540B-3C9E-429B-A6AD-A0F744D8EE50}"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7465DCE0-5122-4357-BCEB-EF94FBB5A065}" srcId="{413E6F72-34BF-47DC-B775-3E50330D2D58}" destId="{5A02540B-3C9E-429B-A6AD-A0F744D8EE50}" srcOrd="3" destOrd="0" parTransId="{FF29BBF2-82BB-43AC-855C-E4FE79BDED12}" sibTransId="{D202E666-0D7E-4469-95D0-A1F8711C8BF8}"/>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Current technologies cannot support immediate customer needs or the web channel is not optimized to provide the support the customer needs.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Customer may need immediate help while doing self serve. How can you avoid a costly switch to other channels and complete abandonment of the online channel?</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has a complex question when accessing a self serve task. Maybe they do not understand the language or they are stuck</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Time, Cognitive, Service Cost</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a:t>
          </a:r>
          <a:r>
            <a:rPr lang="en-US" dirty="0" smtClean="0"/>
            <a:t>Introduce human digital assistance</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Wizard</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Websites like Samsung have chat line for  their customer service</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If such functionality exists, users may start using this any time and all the time thereby skipping the online self serve. The mitigation is to only provide the chat window to appear at appropriate complex positions in the online work flow, which is complex. The other negative consequence is that the chat window agent may have no idea of what the user is facing online. Some kind of mirror window could be opened to troubleshoot the customer problems. The third negative consequence is that there will be wait time required to provide the live aid. This can be mitigated by showing to customer how much time he/she has left to get live aid and also allow mechanism for the live aid to activate the channel to customer when customer is free.</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AB1EF0C3-B263-4F38-AD5C-87F883723498}">
      <dgm:prSet/>
      <dgm:spPr/>
      <dgm:t>
        <a:bodyPr/>
        <a:lstStyle/>
        <a:p>
          <a:pPr rtl="0"/>
          <a:r>
            <a:rPr lang="en-US" b="1" i="0" baseline="0" dirty="0" smtClean="0"/>
            <a:t>Solution example :</a:t>
          </a:r>
          <a:r>
            <a:rPr lang="en-US" dirty="0" smtClean="0"/>
            <a:t>Customer and Smart context based digital chats</a:t>
          </a:r>
          <a:endParaRPr lang="en-US" i="1" dirty="0"/>
        </a:p>
      </dgm:t>
    </dgm:pt>
    <dgm:pt modelId="{0D188D2B-CFE3-4955-8F3A-9B301785B463}" type="parTrans" cxnId="{EA20F5F5-A2E6-48EC-B2F7-678382768307}">
      <dgm:prSet/>
      <dgm:spPr/>
      <dgm:t>
        <a:bodyPr/>
        <a:lstStyle/>
        <a:p>
          <a:endParaRPr lang="en-US"/>
        </a:p>
      </dgm:t>
    </dgm:pt>
    <dgm:pt modelId="{F28EA62D-FD9D-40A3-BC31-867C862E7C27}" type="sibTrans" cxnId="{EA20F5F5-A2E6-48EC-B2F7-678382768307}">
      <dgm:prSet/>
      <dgm:spPr/>
      <dgm:t>
        <a:bodyPr/>
        <a:lstStyle/>
        <a:p>
          <a:endParaRPr lang="en-US"/>
        </a:p>
      </dgm:t>
    </dgm:pt>
    <dgm:pt modelId="{AABC82B9-1351-4DC0-9DB5-EC783D40D964}">
      <dgm:prSet/>
      <dgm:spPr/>
      <dgm:t>
        <a:bodyPr/>
        <a:lstStyle/>
        <a:p>
          <a:pPr rtl="0"/>
          <a:r>
            <a:rPr lang="en-US" b="1" i="0" baseline="0" dirty="0" smtClean="0"/>
            <a:t>Resulting Context : </a:t>
          </a:r>
          <a:r>
            <a:rPr lang="en-US" dirty="0" smtClean="0"/>
            <a:t>Human assistance when really needed</a:t>
          </a:r>
          <a:endParaRPr lang="en-US" i="1" dirty="0"/>
        </a:p>
      </dgm:t>
    </dgm:pt>
    <dgm:pt modelId="{C6ED7B5B-FDEE-49AF-9114-49A8C5E9AE30}" type="parTrans" cxnId="{95F13066-8378-4502-AC90-AA6F2D0F7B05}">
      <dgm:prSet/>
      <dgm:spPr/>
      <dgm:t>
        <a:bodyPr/>
        <a:lstStyle/>
        <a:p>
          <a:endParaRPr lang="en-US"/>
        </a:p>
      </dgm:t>
    </dgm:pt>
    <dgm:pt modelId="{F96B45BA-575A-4D66-ACD2-808AEA4D601B}" type="sibTrans" cxnId="{95F13066-8378-4502-AC90-AA6F2D0F7B05}">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688A0CD-2BBA-4B07-85FB-A9C4EE6A2216}" type="presOf" srcId="{C97E7C3F-52BA-406A-BBF7-A85DFD4D553A}" destId="{33DA84CE-87C9-4614-A8D9-C3FAE5FE1014}" srcOrd="0" destOrd="9" presId="urn:microsoft.com/office/officeart/2005/8/layout/hList1"/>
    <dgm:cxn modelId="{E8BF2B1F-3EF9-4F7F-8CC2-03F33FB7CD90}" type="presOf" srcId="{5A02540B-3C9E-429B-A6AD-A0F744D8EE50}" destId="{33DA84CE-87C9-4614-A8D9-C3FAE5FE1014}" srcOrd="0" destOrd="3" presId="urn:microsoft.com/office/officeart/2005/8/layout/hList1"/>
    <dgm:cxn modelId="{DCB5E5EA-BC8D-4944-BBF3-9F9B9F7A593D}" type="presOf" srcId="{AB1EF0C3-B263-4F38-AD5C-87F883723498}" destId="{33DA84CE-87C9-4614-A8D9-C3FAE5FE1014}" srcOrd="0" destOrd="5" presId="urn:microsoft.com/office/officeart/2005/8/layout/hList1"/>
    <dgm:cxn modelId="{18612E2A-EEAF-4A5C-BD86-C42255D0983D}" type="presOf" srcId="{3648697E-C0C2-47E1-A581-CB19EC4DFBFE}" destId="{B1A4BFD5-AD52-45C8-9941-E9420CA43D42}" srcOrd="0" destOrd="0"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9264D876-5AE8-49B7-BA49-7DFA07BBCA4E}" type="presOf" srcId="{5F8F6E57-0397-4838-AC14-27AC3168FFD1}" destId="{33DA84CE-87C9-4614-A8D9-C3FAE5FE1014}" srcOrd="0" destOrd="0"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F74EEE2F-7D37-4FDB-9B6C-F67F1F594E14}" type="presOf" srcId="{B19AE21B-D1F5-477C-A462-4D94005ED209}" destId="{33DA84CE-87C9-4614-A8D9-C3FAE5FE1014}" srcOrd="0" destOrd="1" presId="urn:microsoft.com/office/officeart/2005/8/layout/hList1"/>
    <dgm:cxn modelId="{5582C4D7-19E4-49DB-84E5-A77253019A5F}" type="presOf" srcId="{413E6F72-34BF-47DC-B775-3E50330D2D58}" destId="{8605FF89-21C0-4C52-9D60-7882CD44458B}" srcOrd="0" destOrd="0" presId="urn:microsoft.com/office/officeart/2005/8/layout/hList1"/>
    <dgm:cxn modelId="{EA20F5F5-A2E6-48EC-B2F7-678382768307}" srcId="{413E6F72-34BF-47DC-B775-3E50330D2D58}" destId="{AB1EF0C3-B263-4F38-AD5C-87F883723498}" srcOrd="5" destOrd="0" parTransId="{0D188D2B-CFE3-4955-8F3A-9B301785B463}" sibTransId="{F28EA62D-FD9D-40A3-BC31-867C862E7C27}"/>
    <dgm:cxn modelId="{A3DF30C8-BF1D-4D5C-8AB3-01109FF36A90}" srcId="{413E6F72-34BF-47DC-B775-3E50330D2D58}" destId="{B19AE21B-D1F5-477C-A462-4D94005ED209}" srcOrd="1" destOrd="0" parTransId="{05C022FE-3388-430A-BC24-26EDFB5F09CF}" sibTransId="{BC9AB391-5D1B-4C8E-951E-223963B13F39}"/>
    <dgm:cxn modelId="{E39E7FCC-5319-474C-9BB7-D1AE6BFC3FF1}" srcId="{413E6F72-34BF-47DC-B775-3E50330D2D58}" destId="{5F8F6E57-0397-4838-AC14-27AC3168FFD1}" srcOrd="0" destOrd="0" parTransId="{BEB9FBEF-C319-4EA9-B4FE-13782BB3BCBE}" sibTransId="{69655A7D-2A7C-4FE7-8695-3B8A2A1A1205}"/>
    <dgm:cxn modelId="{3750B29B-9C04-4E56-A1DE-29E54457290B}" srcId="{413E6F72-34BF-47DC-B775-3E50330D2D58}" destId="{508A2D43-A355-4519-93F7-34EC8DFBBDFF}" srcOrd="2" destOrd="0" parTransId="{1AE6DC23-AB12-42CA-9B50-DD4F6B340AEE}" sibTransId="{4183CAD1-E58B-4F2C-BDC4-C5C1C1343507}"/>
    <dgm:cxn modelId="{89D84C8D-F4BC-4138-8080-1C5EAB1778A3}" srcId="{413E6F72-34BF-47DC-B775-3E50330D2D58}" destId="{8043F000-3576-4BD1-BB39-3FC262A2260C}" srcOrd="8" destOrd="0" parTransId="{3AC02BB0-56AF-409D-9709-BA705843104F}" sibTransId="{064CF41B-F913-4882-8E50-C23990B5287D}"/>
    <dgm:cxn modelId="{0D529443-C1C4-499F-B022-F12D16A4CE83}" type="presOf" srcId="{508A2D43-A355-4519-93F7-34EC8DFBBDFF}" destId="{33DA84CE-87C9-4614-A8D9-C3FAE5FE1014}" srcOrd="0" destOrd="2" presId="urn:microsoft.com/office/officeart/2005/8/layout/hList1"/>
    <dgm:cxn modelId="{95F13066-8378-4502-AC90-AA6F2D0F7B05}" srcId="{413E6F72-34BF-47DC-B775-3E50330D2D58}" destId="{AABC82B9-1351-4DC0-9DB5-EC783D40D964}" srcOrd="6" destOrd="0" parTransId="{C6ED7B5B-FDEE-49AF-9114-49A8C5E9AE30}" sibTransId="{F96B45BA-575A-4D66-ACD2-808AEA4D601B}"/>
    <dgm:cxn modelId="{0DDA17DF-346F-4780-952F-78F3EBC2348A}" srcId="{413E6F72-34BF-47DC-B775-3E50330D2D58}" destId="{19AADCDF-3DEA-4A8C-AF29-FAD9B7E5AB21}" srcOrd="7" destOrd="0" parTransId="{56AAA3EB-4790-4B3C-A314-2CD94BEB769C}" sibTransId="{0E3F593E-6E41-48F7-B7DE-1342BC95428B}"/>
    <dgm:cxn modelId="{7465DCE0-5122-4357-BCEB-EF94FBB5A065}" srcId="{413E6F72-34BF-47DC-B775-3E50330D2D58}" destId="{5A02540B-3C9E-429B-A6AD-A0F744D8EE50}" srcOrd="3" destOrd="0" parTransId="{FF29BBF2-82BB-43AC-855C-E4FE79BDED12}" sibTransId="{D202E666-0D7E-4469-95D0-A1F8711C8BF8}"/>
    <dgm:cxn modelId="{11A78EB5-67F8-4FBF-9110-9761810DD3E1}" type="presOf" srcId="{854EF70E-DF42-45B2-994F-FD4659999C2C}" destId="{33DA84CE-87C9-4614-A8D9-C3FAE5FE1014}" srcOrd="0" destOrd="4" presId="urn:microsoft.com/office/officeart/2005/8/layout/hList1"/>
    <dgm:cxn modelId="{DD480C1E-6741-4BD3-B556-54AC655EB185}" type="presOf" srcId="{8043F000-3576-4BD1-BB39-3FC262A2260C}" destId="{33DA84CE-87C9-4614-A8D9-C3FAE5FE1014}" srcOrd="0" destOrd="8" presId="urn:microsoft.com/office/officeart/2005/8/layout/hList1"/>
    <dgm:cxn modelId="{4C64BB76-E0A3-41B4-B843-5ACFA9A6911D}" type="presOf" srcId="{AABC82B9-1351-4DC0-9DB5-EC783D40D964}" destId="{33DA84CE-87C9-4614-A8D9-C3FAE5FE1014}" srcOrd="0" destOrd="6" presId="urn:microsoft.com/office/officeart/2005/8/layout/hList1"/>
    <dgm:cxn modelId="{4ECC46D1-1324-4206-8879-11FD1E84D9AC}" type="presOf" srcId="{19AADCDF-3DEA-4A8C-AF29-FAD9B7E5AB21}" destId="{33DA84CE-87C9-4614-A8D9-C3FAE5FE1014}" srcOrd="0" destOrd="7"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a:t>
          </a:r>
          <a:r>
            <a:rPr lang="en-US" dirty="0" smtClean="0"/>
            <a:t>Customers  want to do long running transactions over periods of days .</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Customer may need storage of intermediate steps or final steps of their transactions</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wants to complete a moving premises task for a gas connection that takes a week. Customer wants to submit an appraisal form over a month.</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Cognitive Constraints, Heterogeneity of channels</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After customer completes part of a long running self serve task, send a message with a link to continue over other channels</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Staged Journey</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Customer sells shares online and receives messages on SMS after one week that shares are sold.</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The customer may have changed his or her mind or requirement in the midst of long running self serve tasks. The mitigation is to provide a cancellation mechanism. The customer might have forgotten about the long running self serve task. The mitigation is to provide enough context for him or her on the task status to proceed further.</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AB1EF0C3-B263-4F38-AD5C-87F883723498}">
      <dgm:prSet/>
      <dgm:spPr/>
      <dgm:t>
        <a:bodyPr/>
        <a:lstStyle/>
        <a:p>
          <a:pPr rtl="0"/>
          <a:r>
            <a:rPr lang="en-US" b="1" i="0" baseline="0" dirty="0" smtClean="0"/>
            <a:t>Solution example : </a:t>
          </a:r>
          <a:r>
            <a:rPr lang="en-US" dirty="0" smtClean="0"/>
            <a:t>For example, customer can be sent an email after 15 minutes for a task of 1 hour with an intermediate state to continue later</a:t>
          </a:r>
          <a:endParaRPr lang="en-US" i="1" dirty="0"/>
        </a:p>
      </dgm:t>
    </dgm:pt>
    <dgm:pt modelId="{0D188D2B-CFE3-4955-8F3A-9B301785B463}" type="parTrans" cxnId="{EA20F5F5-A2E6-48EC-B2F7-678382768307}">
      <dgm:prSet/>
      <dgm:spPr/>
      <dgm:t>
        <a:bodyPr/>
        <a:lstStyle/>
        <a:p>
          <a:endParaRPr lang="en-US"/>
        </a:p>
      </dgm:t>
    </dgm:pt>
    <dgm:pt modelId="{F28EA62D-FD9D-40A3-BC31-867C862E7C27}" type="sibTrans" cxnId="{EA20F5F5-A2E6-48EC-B2F7-678382768307}">
      <dgm:prSet/>
      <dgm:spPr/>
      <dgm:t>
        <a:bodyPr/>
        <a:lstStyle/>
        <a:p>
          <a:endParaRPr lang="en-US"/>
        </a:p>
      </dgm:t>
    </dgm:pt>
    <dgm:pt modelId="{AABC82B9-1351-4DC0-9DB5-EC783D40D964}">
      <dgm:prSet/>
      <dgm:spPr/>
      <dgm:t>
        <a:bodyPr/>
        <a:lstStyle/>
        <a:p>
          <a:pPr rtl="0"/>
          <a:r>
            <a:rPr lang="en-US" b="1" i="0" baseline="0" dirty="0" smtClean="0"/>
            <a:t>Resulting Context : </a:t>
          </a:r>
          <a:r>
            <a:rPr lang="en-US" dirty="0" smtClean="0"/>
            <a:t>Seamless, long running. self serve access</a:t>
          </a:r>
          <a:endParaRPr lang="en-US" i="1" dirty="0"/>
        </a:p>
      </dgm:t>
    </dgm:pt>
    <dgm:pt modelId="{C6ED7B5B-FDEE-49AF-9114-49A8C5E9AE30}" type="parTrans" cxnId="{95F13066-8378-4502-AC90-AA6F2D0F7B05}">
      <dgm:prSet/>
      <dgm:spPr/>
      <dgm:t>
        <a:bodyPr/>
        <a:lstStyle/>
        <a:p>
          <a:endParaRPr lang="en-US"/>
        </a:p>
      </dgm:t>
    </dgm:pt>
    <dgm:pt modelId="{F96B45BA-575A-4D66-ACD2-808AEA4D601B}" type="sibTrans" cxnId="{95F13066-8378-4502-AC90-AA6F2D0F7B05}">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688A0CD-2BBA-4B07-85FB-A9C4EE6A2216}" type="presOf" srcId="{C97E7C3F-52BA-406A-BBF7-A85DFD4D553A}" destId="{33DA84CE-87C9-4614-A8D9-C3FAE5FE1014}" srcOrd="0" destOrd="9" presId="urn:microsoft.com/office/officeart/2005/8/layout/hList1"/>
    <dgm:cxn modelId="{E8BF2B1F-3EF9-4F7F-8CC2-03F33FB7CD90}" type="presOf" srcId="{5A02540B-3C9E-429B-A6AD-A0F744D8EE50}" destId="{33DA84CE-87C9-4614-A8D9-C3FAE5FE1014}" srcOrd="0" destOrd="3" presId="urn:microsoft.com/office/officeart/2005/8/layout/hList1"/>
    <dgm:cxn modelId="{DCB5E5EA-BC8D-4944-BBF3-9F9B9F7A593D}" type="presOf" srcId="{AB1EF0C3-B263-4F38-AD5C-87F883723498}" destId="{33DA84CE-87C9-4614-A8D9-C3FAE5FE1014}" srcOrd="0" destOrd="5" presId="urn:microsoft.com/office/officeart/2005/8/layout/hList1"/>
    <dgm:cxn modelId="{18612E2A-EEAF-4A5C-BD86-C42255D0983D}" type="presOf" srcId="{3648697E-C0C2-47E1-A581-CB19EC4DFBFE}" destId="{B1A4BFD5-AD52-45C8-9941-E9420CA43D42}" srcOrd="0" destOrd="0"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9264D876-5AE8-49B7-BA49-7DFA07BBCA4E}" type="presOf" srcId="{5F8F6E57-0397-4838-AC14-27AC3168FFD1}" destId="{33DA84CE-87C9-4614-A8D9-C3FAE5FE1014}" srcOrd="0" destOrd="0"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F74EEE2F-7D37-4FDB-9B6C-F67F1F594E14}" type="presOf" srcId="{B19AE21B-D1F5-477C-A462-4D94005ED209}" destId="{33DA84CE-87C9-4614-A8D9-C3FAE5FE1014}" srcOrd="0" destOrd="1" presId="urn:microsoft.com/office/officeart/2005/8/layout/hList1"/>
    <dgm:cxn modelId="{5582C4D7-19E4-49DB-84E5-A77253019A5F}" type="presOf" srcId="{413E6F72-34BF-47DC-B775-3E50330D2D58}" destId="{8605FF89-21C0-4C52-9D60-7882CD44458B}" srcOrd="0" destOrd="0" presId="urn:microsoft.com/office/officeart/2005/8/layout/hList1"/>
    <dgm:cxn modelId="{EA20F5F5-A2E6-48EC-B2F7-678382768307}" srcId="{413E6F72-34BF-47DC-B775-3E50330D2D58}" destId="{AB1EF0C3-B263-4F38-AD5C-87F883723498}" srcOrd="5" destOrd="0" parTransId="{0D188D2B-CFE3-4955-8F3A-9B301785B463}" sibTransId="{F28EA62D-FD9D-40A3-BC31-867C862E7C27}"/>
    <dgm:cxn modelId="{A3DF30C8-BF1D-4D5C-8AB3-01109FF36A90}" srcId="{413E6F72-34BF-47DC-B775-3E50330D2D58}" destId="{B19AE21B-D1F5-477C-A462-4D94005ED209}" srcOrd="1" destOrd="0" parTransId="{05C022FE-3388-430A-BC24-26EDFB5F09CF}" sibTransId="{BC9AB391-5D1B-4C8E-951E-223963B13F39}"/>
    <dgm:cxn modelId="{E39E7FCC-5319-474C-9BB7-D1AE6BFC3FF1}" srcId="{413E6F72-34BF-47DC-B775-3E50330D2D58}" destId="{5F8F6E57-0397-4838-AC14-27AC3168FFD1}" srcOrd="0" destOrd="0" parTransId="{BEB9FBEF-C319-4EA9-B4FE-13782BB3BCBE}" sibTransId="{69655A7D-2A7C-4FE7-8695-3B8A2A1A1205}"/>
    <dgm:cxn modelId="{3750B29B-9C04-4E56-A1DE-29E54457290B}" srcId="{413E6F72-34BF-47DC-B775-3E50330D2D58}" destId="{508A2D43-A355-4519-93F7-34EC8DFBBDFF}" srcOrd="2" destOrd="0" parTransId="{1AE6DC23-AB12-42CA-9B50-DD4F6B340AEE}" sibTransId="{4183CAD1-E58B-4F2C-BDC4-C5C1C1343507}"/>
    <dgm:cxn modelId="{89D84C8D-F4BC-4138-8080-1C5EAB1778A3}" srcId="{413E6F72-34BF-47DC-B775-3E50330D2D58}" destId="{8043F000-3576-4BD1-BB39-3FC262A2260C}" srcOrd="8" destOrd="0" parTransId="{3AC02BB0-56AF-409D-9709-BA705843104F}" sibTransId="{064CF41B-F913-4882-8E50-C23990B5287D}"/>
    <dgm:cxn modelId="{0D529443-C1C4-499F-B022-F12D16A4CE83}" type="presOf" srcId="{508A2D43-A355-4519-93F7-34EC8DFBBDFF}" destId="{33DA84CE-87C9-4614-A8D9-C3FAE5FE1014}" srcOrd="0" destOrd="2" presId="urn:microsoft.com/office/officeart/2005/8/layout/hList1"/>
    <dgm:cxn modelId="{95F13066-8378-4502-AC90-AA6F2D0F7B05}" srcId="{413E6F72-34BF-47DC-B775-3E50330D2D58}" destId="{AABC82B9-1351-4DC0-9DB5-EC783D40D964}" srcOrd="6" destOrd="0" parTransId="{C6ED7B5B-FDEE-49AF-9114-49A8C5E9AE30}" sibTransId="{F96B45BA-575A-4D66-ACD2-808AEA4D601B}"/>
    <dgm:cxn modelId="{0DDA17DF-346F-4780-952F-78F3EBC2348A}" srcId="{413E6F72-34BF-47DC-B775-3E50330D2D58}" destId="{19AADCDF-3DEA-4A8C-AF29-FAD9B7E5AB21}" srcOrd="7" destOrd="0" parTransId="{56AAA3EB-4790-4B3C-A314-2CD94BEB769C}" sibTransId="{0E3F593E-6E41-48F7-B7DE-1342BC95428B}"/>
    <dgm:cxn modelId="{7465DCE0-5122-4357-BCEB-EF94FBB5A065}" srcId="{413E6F72-34BF-47DC-B775-3E50330D2D58}" destId="{5A02540B-3C9E-429B-A6AD-A0F744D8EE50}" srcOrd="3" destOrd="0" parTransId="{FF29BBF2-82BB-43AC-855C-E4FE79BDED12}" sibTransId="{D202E666-0D7E-4469-95D0-A1F8711C8BF8}"/>
    <dgm:cxn modelId="{11A78EB5-67F8-4FBF-9110-9761810DD3E1}" type="presOf" srcId="{854EF70E-DF42-45B2-994F-FD4659999C2C}" destId="{33DA84CE-87C9-4614-A8D9-C3FAE5FE1014}" srcOrd="0" destOrd="4" presId="urn:microsoft.com/office/officeart/2005/8/layout/hList1"/>
    <dgm:cxn modelId="{DD480C1E-6741-4BD3-B556-54AC655EB185}" type="presOf" srcId="{8043F000-3576-4BD1-BB39-3FC262A2260C}" destId="{33DA84CE-87C9-4614-A8D9-C3FAE5FE1014}" srcOrd="0" destOrd="8" presId="urn:microsoft.com/office/officeart/2005/8/layout/hList1"/>
    <dgm:cxn modelId="{4C64BB76-E0A3-41B4-B843-5ACFA9A6911D}" type="presOf" srcId="{AABC82B9-1351-4DC0-9DB5-EC783D40D964}" destId="{33DA84CE-87C9-4614-A8D9-C3FAE5FE1014}" srcOrd="0" destOrd="6" presId="urn:microsoft.com/office/officeart/2005/8/layout/hList1"/>
    <dgm:cxn modelId="{4ECC46D1-1324-4206-8879-11FD1E84D9AC}" type="presOf" srcId="{19AADCDF-3DEA-4A8C-AF29-FAD9B7E5AB21}" destId="{33DA84CE-87C9-4614-A8D9-C3FAE5FE1014}" srcOrd="0" destOrd="7"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a:t>
          </a:r>
          <a:r>
            <a:rPr lang="en-US" dirty="0" smtClean="0"/>
            <a:t>Customers are executing self serve tasks in parallel.</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Customer may have performed or may need to perform many self serve tasks. How to keep the customers informed?</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Message Center or Notification Center with task outputs.</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Live Aid</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Facebook application on mobile has icons with cues of pending messages</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The notification queue or message center or any other solution to the multitasking problem can be overloaded with too many messages/reminders/alerts some of which require urgent attention and some may do with lesser attention. Thus designers must take care to segregate these types of messages and also provide a solution to the user in order to delete unwanted notifications.</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AABC82B9-1351-4DC0-9DB5-EC783D40D964}">
      <dgm:prSet/>
      <dgm:spPr/>
      <dgm:t>
        <a:bodyPr/>
        <a:lstStyle/>
        <a:p>
          <a:pPr rtl="0"/>
          <a:r>
            <a:rPr lang="en-US" b="1" i="0" baseline="0" dirty="0" smtClean="0"/>
            <a:t>Resulting Context : </a:t>
          </a:r>
          <a:r>
            <a:rPr lang="en-US" dirty="0" smtClean="0"/>
            <a:t>Seamless multi task execution</a:t>
          </a:r>
          <a:endParaRPr lang="en-US" i="1" dirty="0"/>
        </a:p>
      </dgm:t>
    </dgm:pt>
    <dgm:pt modelId="{C6ED7B5B-FDEE-49AF-9114-49A8C5E9AE30}" type="parTrans" cxnId="{95F13066-8378-4502-AC90-AA6F2D0F7B05}">
      <dgm:prSet/>
      <dgm:spPr/>
      <dgm:t>
        <a:bodyPr/>
        <a:lstStyle/>
        <a:p>
          <a:endParaRPr lang="en-US"/>
        </a:p>
      </dgm:t>
    </dgm:pt>
    <dgm:pt modelId="{F96B45BA-575A-4D66-ACD2-808AEA4D601B}" type="sibTrans" cxnId="{95F13066-8378-4502-AC90-AA6F2D0F7B05}">
      <dgm:prSet/>
      <dgm:spPr/>
      <dgm:t>
        <a:bodyPr/>
        <a:lstStyle/>
        <a:p>
          <a:endParaRPr lang="en-US"/>
        </a:p>
      </dgm:t>
    </dgm:pt>
    <dgm:pt modelId="{427E84F5-CA71-41F3-A276-3BDEAFE1DB0B}">
      <dgm:prSet/>
      <dgm:spPr/>
      <dgm:t>
        <a:bodyPr/>
        <a:lstStyle/>
        <a:p>
          <a:pPr rtl="0"/>
          <a:r>
            <a:rPr lang="en-US" b="1" i="0" baseline="0" dirty="0" smtClean="0"/>
            <a:t>Example: </a:t>
          </a:r>
          <a:r>
            <a:rPr lang="en-US" dirty="0" smtClean="0"/>
            <a:t>Customer does a payment which will take 15 minutes to be acknowledged. He also does a change of his password</a:t>
          </a:r>
          <a:endParaRPr lang="en-US" i="1" dirty="0"/>
        </a:p>
      </dgm:t>
    </dgm:pt>
    <dgm:pt modelId="{3A2C777B-8ACE-41BE-8816-BEB9226A74E1}" type="parTrans" cxnId="{1D866611-6DF3-4E93-925F-436E3FD4BA6A}">
      <dgm:prSet/>
      <dgm:spPr/>
      <dgm:t>
        <a:bodyPr/>
        <a:lstStyle/>
        <a:p>
          <a:endParaRPr lang="en-US"/>
        </a:p>
      </dgm:t>
    </dgm:pt>
    <dgm:pt modelId="{10F27056-CB86-439D-9A92-9D8CBD035907}" type="sibTrans" cxnId="{1D866611-6DF3-4E93-925F-436E3FD4BA6A}">
      <dgm:prSet/>
      <dgm:spPr/>
      <dgm:t>
        <a:bodyPr/>
        <a:lstStyle/>
        <a:p>
          <a:endParaRPr lang="en-US"/>
        </a:p>
      </dgm:t>
    </dgm:pt>
    <dgm:pt modelId="{9D2FE480-624F-46D3-9EED-7D98DD554224}">
      <dgm:prSet/>
      <dgm:spPr/>
      <dgm:t>
        <a:bodyPr/>
        <a:lstStyle/>
        <a:p>
          <a:pPr rtl="0"/>
          <a:r>
            <a:rPr lang="en-US" b="1" i="0" baseline="0" dirty="0" smtClean="0"/>
            <a:t>Forces: </a:t>
          </a:r>
          <a:r>
            <a:rPr lang="en-US" dirty="0" smtClean="0"/>
            <a:t>Cognitive Complexity</a:t>
          </a:r>
          <a:endParaRPr lang="en-US" i="1" dirty="0"/>
        </a:p>
      </dgm:t>
    </dgm:pt>
    <dgm:pt modelId="{207159EC-C97B-4018-8151-059A5F299F6C}" type="parTrans" cxnId="{B0DF3BF4-E50C-4436-B6BF-896F04B54F6A}">
      <dgm:prSet/>
      <dgm:spPr/>
      <dgm:t>
        <a:bodyPr/>
        <a:lstStyle/>
        <a:p>
          <a:endParaRPr lang="en-US"/>
        </a:p>
      </dgm:t>
    </dgm:pt>
    <dgm:pt modelId="{98D6F4C5-F7A2-4FDB-BF3C-9726DCA7F51E}" type="sibTrans" cxnId="{B0DF3BF4-E50C-4436-B6BF-896F04B54F6A}">
      <dgm:prSet/>
      <dgm:spPr/>
      <dgm:t>
        <a:bodyPr/>
        <a:lstStyle/>
        <a:p>
          <a:endParaRPr lang="en-US"/>
        </a:p>
      </dgm:t>
    </dgm:pt>
    <dgm:pt modelId="{3EFA9E57-8E26-498A-A747-FF1AFF8B40AF}">
      <dgm:prSet/>
      <dgm:spPr/>
      <dgm:t>
        <a:bodyPr/>
        <a:lstStyle/>
        <a:p>
          <a:pPr rtl="0"/>
          <a:r>
            <a:rPr lang="en-US" b="1" i="0" baseline="0" dirty="0" smtClean="0"/>
            <a:t>Solution example : </a:t>
          </a:r>
          <a:r>
            <a:rPr lang="en-US" dirty="0" smtClean="0"/>
            <a:t>Design a notification queue or message center that allows customer to received delayed feedback on self serve tasks.</a:t>
          </a:r>
          <a:endParaRPr lang="en-US" i="1" dirty="0"/>
        </a:p>
      </dgm:t>
    </dgm:pt>
    <dgm:pt modelId="{25D442A0-119F-4BA8-96DB-B06FB5F87D14}" type="parTrans" cxnId="{AA85D545-8531-40DE-B2F8-A4C9309CF255}">
      <dgm:prSet/>
      <dgm:spPr/>
      <dgm:t>
        <a:bodyPr/>
        <a:lstStyle/>
        <a:p>
          <a:endParaRPr lang="en-US"/>
        </a:p>
      </dgm:t>
    </dgm:pt>
    <dgm:pt modelId="{00A61141-1356-45A3-A08A-E13894973AF8}" type="sibTrans" cxnId="{AA85D545-8531-40DE-B2F8-A4C9309CF255}">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5582C4D7-19E4-49DB-84E5-A77253019A5F}" type="presOf" srcId="{413E6F72-34BF-47DC-B775-3E50330D2D58}" destId="{8605FF89-21C0-4C52-9D60-7882CD44458B}" srcOrd="0" destOrd="0" presId="urn:microsoft.com/office/officeart/2005/8/layout/hList1"/>
    <dgm:cxn modelId="{4C64BB76-E0A3-41B4-B843-5ACFA9A6911D}" type="presOf" srcId="{AABC82B9-1351-4DC0-9DB5-EC783D40D964}" destId="{33DA84CE-87C9-4614-A8D9-C3FAE5FE1014}" srcOrd="0" destOrd="6" presId="urn:microsoft.com/office/officeart/2005/8/layout/hList1"/>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AA85D545-8531-40DE-B2F8-A4C9309CF255}" srcId="{413E6F72-34BF-47DC-B775-3E50330D2D58}" destId="{3EFA9E57-8E26-498A-A747-FF1AFF8B40AF}" srcOrd="5" destOrd="0" parTransId="{25D442A0-119F-4BA8-96DB-B06FB5F87D14}" sibTransId="{00A61141-1356-45A3-A08A-E13894973AF8}"/>
    <dgm:cxn modelId="{A49FEA5E-78AE-40F0-BA65-B1F935A336FF}" srcId="{3648697E-C0C2-47E1-A581-CB19EC4DFBFE}" destId="{413E6F72-34BF-47DC-B775-3E50330D2D58}" srcOrd="0" destOrd="0" parTransId="{57BC52C9-A681-4628-BF7D-C6319716EA58}" sibTransId="{773F7038-F3E3-457F-9985-E40AAAD8B413}"/>
    <dgm:cxn modelId="{C4FAE8C5-7F29-4203-A8EE-A71C2DF34A0B}" type="presOf" srcId="{3EFA9E57-8E26-498A-A747-FF1AFF8B40AF}" destId="{33DA84CE-87C9-4614-A8D9-C3FAE5FE1014}" srcOrd="0" destOrd="5"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1D866611-6DF3-4E93-925F-436E3FD4BA6A}" srcId="{413E6F72-34BF-47DC-B775-3E50330D2D58}" destId="{427E84F5-CA71-41F3-A276-3BDEAFE1DB0B}" srcOrd="2" destOrd="0" parTransId="{3A2C777B-8ACE-41BE-8816-BEB9226A74E1}" sibTransId="{10F27056-CB86-439D-9A92-9D8CBD035907}"/>
    <dgm:cxn modelId="{A3DF30C8-BF1D-4D5C-8AB3-01109FF36A90}" srcId="{413E6F72-34BF-47DC-B775-3E50330D2D58}" destId="{B19AE21B-D1F5-477C-A462-4D94005ED209}" srcOrd="1" destOrd="0" parTransId="{05C022FE-3388-430A-BC24-26EDFB5F09CF}" sibTransId="{BC9AB391-5D1B-4C8E-951E-223963B13F39}"/>
    <dgm:cxn modelId="{95F13066-8378-4502-AC90-AA6F2D0F7B05}" srcId="{413E6F72-34BF-47DC-B775-3E50330D2D58}" destId="{AABC82B9-1351-4DC0-9DB5-EC783D40D964}" srcOrd="6" destOrd="0" parTransId="{C6ED7B5B-FDEE-49AF-9114-49A8C5E9AE30}" sibTransId="{F96B45BA-575A-4D66-ACD2-808AEA4D601B}"/>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47283F38-54DA-454A-A4F5-3444DDF64FA6}" type="presOf" srcId="{9D2FE480-624F-46D3-9EED-7D98DD554224}" destId="{33DA84CE-87C9-4614-A8D9-C3FAE5FE1014}" srcOrd="0" destOrd="3" presId="urn:microsoft.com/office/officeart/2005/8/layout/hList1"/>
    <dgm:cxn modelId="{16E4921A-C65F-4270-9347-A5436E6805C9}" type="presOf" srcId="{427E84F5-CA71-41F3-A276-3BDEAFE1DB0B}" destId="{33DA84CE-87C9-4614-A8D9-C3FAE5FE1014}" srcOrd="0" destOrd="2" presId="urn:microsoft.com/office/officeart/2005/8/layout/hList1"/>
    <dgm:cxn modelId="{B0DF3BF4-E50C-4436-B6BF-896F04B54F6A}" srcId="{413E6F72-34BF-47DC-B775-3E50330D2D58}" destId="{9D2FE480-624F-46D3-9EED-7D98DD554224}" srcOrd="3" destOrd="0" parTransId="{207159EC-C97B-4018-8151-059A5F299F6C}" sibTransId="{98D6F4C5-F7A2-4FDB-BF3C-9726DCA7F51E}"/>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a:t>
          </a:r>
          <a:r>
            <a:rPr lang="en-US" dirty="0" smtClean="0"/>
            <a:t>When customer has to view large volumes of data in multiple renderings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There is a lot of self service data for the customer. How to display it for good comprehension?</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Create multiple pagination options or views. Allow the user to switch between these views. Make the most used view as the default view. If the customer makes persistent use of one of the views make that the default view.</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19AADCDF-3DEA-4A8C-AF29-FAD9B7E5AB21}">
      <dgm:prSet/>
      <dgm:spPr/>
      <dgm:t>
        <a:bodyPr/>
        <a:lstStyle/>
        <a:p>
          <a:pPr rtl="0"/>
          <a:r>
            <a:rPr lang="en-US" b="1" i="0" baseline="0" dirty="0" smtClean="0"/>
            <a:t>Related Patterns : </a:t>
          </a:r>
          <a:r>
            <a:rPr lang="en-US" b="0" i="0" baseline="0" dirty="0" smtClean="0"/>
            <a:t>Wizard</a:t>
          </a:r>
          <a:endParaRPr lang="en-US" b="0"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HDFC bank allows quick account summary and account summary by period </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If there are too many pagination options, user confusion may increase, seeing variety of ways they can see the data when they are interested in a few data. A decision aid is the mitigation for such a case.</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AABC82B9-1351-4DC0-9DB5-EC783D40D964}">
      <dgm:prSet/>
      <dgm:spPr/>
      <dgm:t>
        <a:bodyPr/>
        <a:lstStyle/>
        <a:p>
          <a:pPr rtl="0"/>
          <a:r>
            <a:rPr lang="en-US" b="1" i="0" baseline="0" dirty="0" smtClean="0"/>
            <a:t>Resulting Context : </a:t>
          </a:r>
          <a:r>
            <a:rPr lang="en-US" dirty="0" smtClean="0"/>
            <a:t>Multiple views of large volumes of data allowing for efficient selection.</a:t>
          </a:r>
          <a:endParaRPr lang="en-US" i="1" dirty="0"/>
        </a:p>
      </dgm:t>
    </dgm:pt>
    <dgm:pt modelId="{C6ED7B5B-FDEE-49AF-9114-49A8C5E9AE30}" type="parTrans" cxnId="{95F13066-8378-4502-AC90-AA6F2D0F7B05}">
      <dgm:prSet/>
      <dgm:spPr/>
      <dgm:t>
        <a:bodyPr/>
        <a:lstStyle/>
        <a:p>
          <a:endParaRPr lang="en-US"/>
        </a:p>
      </dgm:t>
    </dgm:pt>
    <dgm:pt modelId="{F96B45BA-575A-4D66-ACD2-808AEA4D601B}" type="sibTrans" cxnId="{95F13066-8378-4502-AC90-AA6F2D0F7B05}">
      <dgm:prSet/>
      <dgm:spPr/>
      <dgm:t>
        <a:bodyPr/>
        <a:lstStyle/>
        <a:p>
          <a:endParaRPr lang="en-US"/>
        </a:p>
      </dgm:t>
    </dgm:pt>
    <dgm:pt modelId="{427E84F5-CA71-41F3-A276-3BDEAFE1DB0B}">
      <dgm:prSet/>
      <dgm:spPr/>
      <dgm:t>
        <a:bodyPr/>
        <a:lstStyle/>
        <a:p>
          <a:pPr rtl="0"/>
          <a:r>
            <a:rPr lang="en-US" b="1" i="0" baseline="0" dirty="0" smtClean="0"/>
            <a:t>Example: </a:t>
          </a:r>
          <a:r>
            <a:rPr lang="en-US" dirty="0" smtClean="0"/>
            <a:t>Customer wants to see top ten bills. Sometimes they want to see all their bills. Sometimes they want to see bills that they have paid.</a:t>
          </a:r>
          <a:endParaRPr lang="en-US" i="1" dirty="0"/>
        </a:p>
      </dgm:t>
    </dgm:pt>
    <dgm:pt modelId="{3A2C777B-8ACE-41BE-8816-BEB9226A74E1}" type="parTrans" cxnId="{1D866611-6DF3-4E93-925F-436E3FD4BA6A}">
      <dgm:prSet/>
      <dgm:spPr/>
      <dgm:t>
        <a:bodyPr/>
        <a:lstStyle/>
        <a:p>
          <a:endParaRPr lang="en-US"/>
        </a:p>
      </dgm:t>
    </dgm:pt>
    <dgm:pt modelId="{10F27056-CB86-439D-9A92-9D8CBD035907}" type="sibTrans" cxnId="{1D866611-6DF3-4E93-925F-436E3FD4BA6A}">
      <dgm:prSet/>
      <dgm:spPr/>
      <dgm:t>
        <a:bodyPr/>
        <a:lstStyle/>
        <a:p>
          <a:endParaRPr lang="en-US"/>
        </a:p>
      </dgm:t>
    </dgm:pt>
    <dgm:pt modelId="{9D2FE480-624F-46D3-9EED-7D98DD554224}">
      <dgm:prSet/>
      <dgm:spPr/>
      <dgm:t>
        <a:bodyPr/>
        <a:lstStyle/>
        <a:p>
          <a:pPr rtl="0"/>
          <a:r>
            <a:rPr lang="en-US" b="1" i="0" baseline="0" dirty="0" smtClean="0"/>
            <a:t>Forces: </a:t>
          </a:r>
          <a:r>
            <a:rPr lang="en-US" dirty="0" smtClean="0"/>
            <a:t>Time Complexity, Cognitive Constraints</a:t>
          </a:r>
          <a:endParaRPr lang="en-US" i="1" dirty="0"/>
        </a:p>
      </dgm:t>
    </dgm:pt>
    <dgm:pt modelId="{207159EC-C97B-4018-8151-059A5F299F6C}" type="parTrans" cxnId="{B0DF3BF4-E50C-4436-B6BF-896F04B54F6A}">
      <dgm:prSet/>
      <dgm:spPr/>
      <dgm:t>
        <a:bodyPr/>
        <a:lstStyle/>
        <a:p>
          <a:endParaRPr lang="en-US"/>
        </a:p>
      </dgm:t>
    </dgm:pt>
    <dgm:pt modelId="{98D6F4C5-F7A2-4FDB-BF3C-9726DCA7F51E}" type="sibTrans" cxnId="{B0DF3BF4-E50C-4436-B6BF-896F04B54F6A}">
      <dgm:prSet/>
      <dgm:spPr/>
      <dgm:t>
        <a:bodyPr/>
        <a:lstStyle/>
        <a:p>
          <a:endParaRPr lang="en-US"/>
        </a:p>
      </dgm:t>
    </dgm:pt>
    <dgm:pt modelId="{3EFA9E57-8E26-498A-A747-FF1AFF8B40AF}">
      <dgm:prSet/>
      <dgm:spPr/>
      <dgm:t>
        <a:bodyPr/>
        <a:lstStyle/>
        <a:p>
          <a:pPr rtl="0"/>
          <a:r>
            <a:rPr lang="en-US" b="1" i="0" baseline="0" dirty="0" smtClean="0"/>
            <a:t>Solution example : </a:t>
          </a:r>
          <a:r>
            <a:rPr lang="en-US" dirty="0" smtClean="0"/>
            <a:t>Pagination by top ten bills, pagination by last 3 months, and pagination by payment status could be provided and it would also allow for sorting.</a:t>
          </a:r>
          <a:endParaRPr lang="en-US" i="1" dirty="0"/>
        </a:p>
      </dgm:t>
    </dgm:pt>
    <dgm:pt modelId="{25D442A0-119F-4BA8-96DB-B06FB5F87D14}" type="parTrans" cxnId="{AA85D545-8531-40DE-B2F8-A4C9309CF255}">
      <dgm:prSet/>
      <dgm:spPr/>
      <dgm:t>
        <a:bodyPr/>
        <a:lstStyle/>
        <a:p>
          <a:endParaRPr lang="en-US"/>
        </a:p>
      </dgm:t>
    </dgm:pt>
    <dgm:pt modelId="{00A61141-1356-45A3-A08A-E13894973AF8}" type="sibTrans" cxnId="{AA85D545-8531-40DE-B2F8-A4C9309CF255}">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5582C4D7-19E4-49DB-84E5-A77253019A5F}" type="presOf" srcId="{413E6F72-34BF-47DC-B775-3E50330D2D58}" destId="{8605FF89-21C0-4C52-9D60-7882CD44458B}" srcOrd="0" destOrd="0" presId="urn:microsoft.com/office/officeart/2005/8/layout/hList1"/>
    <dgm:cxn modelId="{4C64BB76-E0A3-41B4-B843-5ACFA9A6911D}" type="presOf" srcId="{AABC82B9-1351-4DC0-9DB5-EC783D40D964}" destId="{33DA84CE-87C9-4614-A8D9-C3FAE5FE1014}" srcOrd="0" destOrd="6" presId="urn:microsoft.com/office/officeart/2005/8/layout/hList1"/>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AA85D545-8531-40DE-B2F8-A4C9309CF255}" srcId="{413E6F72-34BF-47DC-B775-3E50330D2D58}" destId="{3EFA9E57-8E26-498A-A747-FF1AFF8B40AF}" srcOrd="5" destOrd="0" parTransId="{25D442A0-119F-4BA8-96DB-B06FB5F87D14}" sibTransId="{00A61141-1356-45A3-A08A-E13894973AF8}"/>
    <dgm:cxn modelId="{A49FEA5E-78AE-40F0-BA65-B1F935A336FF}" srcId="{3648697E-C0C2-47E1-A581-CB19EC4DFBFE}" destId="{413E6F72-34BF-47DC-B775-3E50330D2D58}" srcOrd="0" destOrd="0" parTransId="{57BC52C9-A681-4628-BF7D-C6319716EA58}" sibTransId="{773F7038-F3E3-457F-9985-E40AAAD8B413}"/>
    <dgm:cxn modelId="{C4FAE8C5-7F29-4203-A8EE-A71C2DF34A0B}" type="presOf" srcId="{3EFA9E57-8E26-498A-A747-FF1AFF8B40AF}" destId="{33DA84CE-87C9-4614-A8D9-C3FAE5FE1014}" srcOrd="0" destOrd="5"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1D866611-6DF3-4E93-925F-436E3FD4BA6A}" srcId="{413E6F72-34BF-47DC-B775-3E50330D2D58}" destId="{427E84F5-CA71-41F3-A276-3BDEAFE1DB0B}" srcOrd="2" destOrd="0" parTransId="{3A2C777B-8ACE-41BE-8816-BEB9226A74E1}" sibTransId="{10F27056-CB86-439D-9A92-9D8CBD035907}"/>
    <dgm:cxn modelId="{A3DF30C8-BF1D-4D5C-8AB3-01109FF36A90}" srcId="{413E6F72-34BF-47DC-B775-3E50330D2D58}" destId="{B19AE21B-D1F5-477C-A462-4D94005ED209}" srcOrd="1" destOrd="0" parTransId="{05C022FE-3388-430A-BC24-26EDFB5F09CF}" sibTransId="{BC9AB391-5D1B-4C8E-951E-223963B13F39}"/>
    <dgm:cxn modelId="{95F13066-8378-4502-AC90-AA6F2D0F7B05}" srcId="{413E6F72-34BF-47DC-B775-3E50330D2D58}" destId="{AABC82B9-1351-4DC0-9DB5-EC783D40D964}" srcOrd="6" destOrd="0" parTransId="{C6ED7B5B-FDEE-49AF-9114-49A8C5E9AE30}" sibTransId="{F96B45BA-575A-4D66-ACD2-808AEA4D601B}"/>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47283F38-54DA-454A-A4F5-3444DDF64FA6}" type="presOf" srcId="{9D2FE480-624F-46D3-9EED-7D98DD554224}" destId="{33DA84CE-87C9-4614-A8D9-C3FAE5FE1014}" srcOrd="0" destOrd="3" presId="urn:microsoft.com/office/officeart/2005/8/layout/hList1"/>
    <dgm:cxn modelId="{16E4921A-C65F-4270-9347-A5436E6805C9}" type="presOf" srcId="{427E84F5-CA71-41F3-A276-3BDEAFE1DB0B}" destId="{33DA84CE-87C9-4614-A8D9-C3FAE5FE1014}" srcOrd="0" destOrd="2" presId="urn:microsoft.com/office/officeart/2005/8/layout/hList1"/>
    <dgm:cxn modelId="{B0DF3BF4-E50C-4436-B6BF-896F04B54F6A}" srcId="{413E6F72-34BF-47DC-B775-3E50330D2D58}" destId="{9D2FE480-624F-46D3-9EED-7D98DD554224}" srcOrd="3" destOrd="0" parTransId="{207159EC-C97B-4018-8151-059A5F299F6C}" sibTransId="{98D6F4C5-F7A2-4FDB-BF3C-9726DCA7F51E}"/>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Customer does repetitive self serve tasks on huge volumes of backend data</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The customer may do multiple self serve actions. This results in costly backend calls to the system in terms of time and bandwidth. How do you enable customers to do repetitive self service tasks efficiently when large volumes of data are transferred over the online channel?</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may want to view 100s of his bills, then go and buy a plan and view the bills again</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Computing Constraints</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Create a backend cache to store all the frequently used data for the customer right in the frontend making backend calls un-necessary and respond faster.</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Faster access to data </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Smart Pagination</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Google docs caches customer data even if offline</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Caches may quickly increase in size and may need to deleted for other programs to run smoothly especially in resource starved environments. Hence caching strategy should heavily depend on the nature of end device the customer is using and should be optimized. Caches also have to be secure.</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Store data in the browser for his bills till he comes back. </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E8BF2B1F-3EF9-4F7F-8CC2-03F33FB7CD90}" type="presOf" srcId="{5A02540B-3C9E-429B-A6AD-A0F744D8EE50}"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7465DCE0-5122-4357-BCEB-EF94FBB5A065}" srcId="{413E6F72-34BF-47DC-B775-3E50330D2D58}" destId="{5A02540B-3C9E-429B-A6AD-A0F744D8EE50}" srcOrd="3" destOrd="0" parTransId="{FF29BBF2-82BB-43AC-855C-E4FE79BDED12}" sibTransId="{D202E666-0D7E-4469-95D0-A1F8711C8BF8}"/>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Customer has multiple devices or multiple access channels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The customer may do multiple self serve access like devices on same channel: mobile, tablet, a browser. How to create a unique self serve across multiple customer devices?</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has a tablet, a smart phone and a PC and wants to use same self serve application.</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Computing constraints, Service Cost</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A hybrid application supporting multiple devices is one which offers a customized online channel experience for various devices. </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Multi device access</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Smart Pagination</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HDFC bank has a mobile app for payment across devices</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Hybrid applications are not as fast and don’t have same look and feel as the native applications which may lead to a bad user experience. Hence look and feel and speed needs to be critically monitored for hybrid apps.</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An application store where customer can download a shrink wrapped hybrid app for their device for his specific device. The hybrid app mixes both the best features of a pure online access as well as allows for native feature access.</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E8BF2B1F-3EF9-4F7F-8CC2-03F33FB7CD90}" type="presOf" srcId="{5A02540B-3C9E-429B-A6AD-A0F744D8EE50}"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7465DCE0-5122-4357-BCEB-EF94FBB5A065}" srcId="{413E6F72-34BF-47DC-B775-3E50330D2D58}" destId="{5A02540B-3C9E-429B-A6AD-A0F744D8EE50}" srcOrd="3" destOrd="0" parTransId="{FF29BBF2-82BB-43AC-855C-E4FE79BDED12}" sibTransId="{D202E666-0D7E-4469-95D0-A1F8711C8BF8}"/>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Digital channels are not always available.99.9% is common. </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Some customer self service operations may be down. How to ensure the completion of self service even when backend systems could be down? </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Some services like payments are down. How to still allow them?</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5A02540B-3C9E-429B-A6AD-A0F744D8EE50}">
      <dgm:prSet/>
      <dgm:spPr/>
      <dgm:t>
        <a:bodyPr/>
        <a:lstStyle/>
        <a:p>
          <a:pPr rtl="0"/>
          <a:r>
            <a:rPr lang="en-US" b="1" i="0" baseline="0" dirty="0" smtClean="0"/>
            <a:t>Forces: </a:t>
          </a:r>
          <a:r>
            <a:rPr lang="en-US" dirty="0" smtClean="0"/>
            <a:t>Service Cost</a:t>
          </a:r>
          <a:endParaRPr lang="en-US" dirty="0"/>
        </a:p>
      </dgm:t>
    </dgm:pt>
    <dgm:pt modelId="{FF29BBF2-82BB-43AC-855C-E4FE79BDED12}" type="parTrans" cxnId="{7465DCE0-5122-4357-BCEB-EF94FBB5A065}">
      <dgm:prSet/>
      <dgm:spPr/>
      <dgm:t>
        <a:bodyPr/>
        <a:lstStyle/>
        <a:p>
          <a:endParaRPr lang="en-US"/>
        </a:p>
      </dgm:t>
    </dgm:pt>
    <dgm:pt modelId="{D202E666-0D7E-4469-95D0-A1F8711C8BF8}" type="sibTrans" cxnId="{7465DCE0-5122-4357-BCEB-EF94FBB5A065}">
      <dgm:prSet/>
      <dgm:spPr/>
      <dgm:t>
        <a:bodyPr/>
        <a:lstStyle/>
        <a:p>
          <a:endParaRPr lang="en-US"/>
        </a:p>
      </dgm:t>
    </dgm:pt>
    <dgm:pt modelId="{854EF70E-DF42-45B2-994F-FD4659999C2C}">
      <dgm:prSet/>
      <dgm:spPr/>
      <dgm:t>
        <a:bodyPr/>
        <a:lstStyle/>
        <a:p>
          <a:pPr rtl="0"/>
          <a:r>
            <a:rPr lang="en-US" b="1" i="0" baseline="0" dirty="0" smtClean="0"/>
            <a:t>Solution : </a:t>
          </a:r>
          <a:r>
            <a:rPr lang="en-US" dirty="0" smtClean="0"/>
            <a:t>Disconnected operation where self service task is queued till operations resume.</a:t>
          </a:r>
          <a:endParaRPr lang="en-US" i="1" dirty="0"/>
        </a:p>
      </dgm:t>
    </dgm:pt>
    <dgm:pt modelId="{EE44471B-4AE8-4487-B9E8-9C67B8F36BF8}" type="parTrans" cxnId="{F8030C20-2D67-4346-B819-A09646850B9F}">
      <dgm:prSet/>
      <dgm:spPr/>
      <dgm:t>
        <a:bodyPr/>
        <a:lstStyle/>
        <a:p>
          <a:endParaRPr lang="en-US"/>
        </a:p>
      </dgm:t>
    </dgm:pt>
    <dgm:pt modelId="{D67FC930-CE30-4782-B22F-57AF6CFBEE23}" type="sibTrans" cxnId="{F8030C20-2D67-4346-B819-A09646850B9F}">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Simulation of always up.</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Seamless Long Self-Service</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Some mail clients will put mail in outbox and send when connection is available demonstrated in illustration below</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When multiple customers access the same data and are offline they may make mutually incompatible changes. To mitigate these factors synchronization software needs to be written.</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Allow self service but commit the payment only when services are up. Customer sees no difference</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ECC46D1-1324-4206-8879-11FD1E84D9AC}" type="presOf" srcId="{19AADCDF-3DEA-4A8C-AF29-FAD9B7E5AB21}" destId="{33DA84CE-87C9-4614-A8D9-C3FAE5FE1014}" srcOrd="0" destOrd="7"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F8030C20-2D67-4346-B819-A09646850B9F}" srcId="{413E6F72-34BF-47DC-B775-3E50330D2D58}" destId="{854EF70E-DF42-45B2-994F-FD4659999C2C}" srcOrd="4" destOrd="0" parTransId="{EE44471B-4AE8-4487-B9E8-9C67B8F36BF8}" sibTransId="{D67FC930-CE30-4782-B22F-57AF6CFBEE23}"/>
    <dgm:cxn modelId="{E8BF2B1F-3EF9-4F7F-8CC2-03F33FB7CD90}" type="presOf" srcId="{5A02540B-3C9E-429B-A6AD-A0F744D8EE50}"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7465DCE0-5122-4357-BCEB-EF94FBB5A065}" srcId="{413E6F72-34BF-47DC-B775-3E50330D2D58}" destId="{5A02540B-3C9E-429B-A6AD-A0F744D8EE50}" srcOrd="3" destOrd="0" parTransId="{FF29BBF2-82BB-43AC-855C-E4FE79BDED12}" sibTransId="{D202E666-0D7E-4469-95D0-A1F8711C8BF8}"/>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11A78EB5-67F8-4FBF-9110-9761810DD3E1}" type="presOf" srcId="{854EF70E-DF42-45B2-994F-FD4659999C2C}" destId="{33DA84CE-87C9-4614-A8D9-C3FAE5FE1014}" srcOrd="0" destOrd="4"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Customer preferences are lost when executing repetitive self serve tasks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If the customer is always treated as new customer then we lose valuable information about their preference like their cognitive style or decision preferences. How to ensure that the self service customer provides an interface that can learn over time?</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wants to pay bill always with their same credit card.</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Customer feels like a known entity. Personalization occurs.</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2 way non anonymous channel</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E-commerce </a:t>
          </a:r>
          <a:r>
            <a:rPr lang="en-US" dirty="0" smtClean="0"/>
            <a:t>stores credit card information and other purchase information for reuse</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The stored data of the customer must be constantly updated. He could have changed his credit card, moved premises, started to have different culinary taste between the time he expressed his preferences in the site and the time he accesses the site. To mitigate the preferences must allow for change from existing preferences.</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Store customers old credit card information securely and allow to use the same</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6E42D67A-7C24-48D2-9F6B-1677EA23B5A5}">
      <dgm:prSet/>
      <dgm:spPr/>
      <dgm:t>
        <a:bodyPr/>
        <a:lstStyle/>
        <a:p>
          <a:pPr rtl="0"/>
          <a:r>
            <a:rPr lang="en-US" b="1" i="0" baseline="0" dirty="0" smtClean="0"/>
            <a:t>Forces: </a:t>
          </a:r>
          <a:r>
            <a:rPr lang="en-US" dirty="0" smtClean="0"/>
            <a:t>Service Cost, Lack of Time.</a:t>
          </a:r>
          <a:endParaRPr lang="en-US" dirty="0"/>
        </a:p>
      </dgm:t>
    </dgm:pt>
    <dgm:pt modelId="{FC15B83C-A504-477F-9F47-801D3AAA6EFE}" type="parTrans" cxnId="{F98A17CE-729A-4F19-B5A7-70A880B6ECAB}">
      <dgm:prSet/>
      <dgm:spPr/>
      <dgm:t>
        <a:bodyPr/>
        <a:lstStyle/>
        <a:p>
          <a:endParaRPr lang="en-US"/>
        </a:p>
      </dgm:t>
    </dgm:pt>
    <dgm:pt modelId="{F64625E4-ECFB-46FA-AD05-CC927FA463AE}" type="sibTrans" cxnId="{F98A17CE-729A-4F19-B5A7-70A880B6ECAB}">
      <dgm:prSet/>
      <dgm:spPr/>
      <dgm:t>
        <a:bodyPr/>
        <a:lstStyle/>
        <a:p>
          <a:endParaRPr lang="en-US"/>
        </a:p>
      </dgm:t>
    </dgm:pt>
    <dgm:pt modelId="{A99F4372-AF96-4E48-B693-D9380CD1263C}">
      <dgm:prSet/>
      <dgm:spPr/>
      <dgm:t>
        <a:bodyPr/>
        <a:lstStyle/>
        <a:p>
          <a:pPr rtl="0"/>
          <a:r>
            <a:rPr lang="en-US" b="1" i="0" baseline="0" dirty="0" smtClean="0"/>
            <a:t>Solution : </a:t>
          </a:r>
          <a:r>
            <a:rPr lang="en-US" dirty="0" smtClean="0"/>
            <a:t>Stores the likes, dislikes and the customer data and keep it updated. This can be leveraged when the customer executes the self service task repeatedly they execute new self serve tasks.</a:t>
          </a:r>
          <a:endParaRPr lang="en-US" dirty="0"/>
        </a:p>
      </dgm:t>
    </dgm:pt>
    <dgm:pt modelId="{17A47165-893E-430F-8522-CF215607C8CC}" type="parTrans" cxnId="{01A0729C-7937-49AA-9A1D-BA992F01DFC1}">
      <dgm:prSet/>
      <dgm:spPr/>
      <dgm:t>
        <a:bodyPr/>
        <a:lstStyle/>
        <a:p>
          <a:endParaRPr lang="en-US"/>
        </a:p>
      </dgm:t>
    </dgm:pt>
    <dgm:pt modelId="{56184529-4952-4FEC-901C-39630D9851C1}" type="sibTrans" cxnId="{01A0729C-7937-49AA-9A1D-BA992F01DFC1}">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1A0729C-7937-49AA-9A1D-BA992F01DFC1}" srcId="{413E6F72-34BF-47DC-B775-3E50330D2D58}" destId="{A99F4372-AF96-4E48-B693-D9380CD1263C}" srcOrd="4" destOrd="0" parTransId="{17A47165-893E-430F-8522-CF215607C8CC}" sibTransId="{56184529-4952-4FEC-901C-39630D9851C1}"/>
    <dgm:cxn modelId="{4ECC46D1-1324-4206-8879-11FD1E84D9AC}" type="presOf" srcId="{19AADCDF-3DEA-4A8C-AF29-FAD9B7E5AB21}" destId="{33DA84CE-87C9-4614-A8D9-C3FAE5FE1014}" srcOrd="0" destOrd="7" presId="urn:microsoft.com/office/officeart/2005/8/layout/hList1"/>
    <dgm:cxn modelId="{CD542FF1-3D0B-4234-ABF3-B874639AE612}" type="presOf" srcId="{A99F4372-AF96-4E48-B693-D9380CD1263C}" destId="{33DA84CE-87C9-4614-A8D9-C3FAE5FE1014}" srcOrd="0" destOrd="4"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F98A17CE-729A-4F19-B5A7-70A880B6ECAB}" srcId="{413E6F72-34BF-47DC-B775-3E50330D2D58}" destId="{6E42D67A-7C24-48D2-9F6B-1677EA23B5A5}" srcOrd="3" destOrd="0" parTransId="{FC15B83C-A504-477F-9F47-801D3AAA6EFE}" sibTransId="{F64625E4-ECFB-46FA-AD05-CC927FA463AE}"/>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EDE74DA3-E653-4211-8487-745A951626DD}" type="presOf" srcId="{6E42D67A-7C24-48D2-9F6B-1677EA23B5A5}" destId="{33DA84CE-87C9-4614-A8D9-C3FAE5FE1014}" srcOrd="0" destOrd="3" presId="urn:microsoft.com/office/officeart/2005/8/layout/hList1"/>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When the service provider needs two way communication but customer is anonymous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Anonymous customers cannot be provided optimized self service. How to ensure that end customers are not an anonymous entity in the online channel?</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Site wants to send a feedback on a self serve task but customer is anonymous</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2 way communication happens</a:t>
          </a:r>
          <a:endParaRPr lang="en-US"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b="0" i="0" baseline="0" dirty="0" smtClean="0"/>
            <a:t>360 degree view</a:t>
          </a:r>
          <a:endParaRPr lang="en-US" b="0"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E-commerce </a:t>
          </a:r>
          <a:r>
            <a:rPr lang="en-US" dirty="0" smtClean="0"/>
            <a:t>stores allows anonymous bill pay as well as logged in bill pay. While logged in, users are shown additional usages and other efficient plans.</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Once customer account management feature resulting in two way non-anonymous channel, the safety and security infrastructure needed at the backend also increases tremendously. To mitigate this strong security measures need to be put in backend including things like automatically changing passwords, CAPTCHAs and creating password reset infrastructure. Further customers start demanding increased service due to non anonymity which can be remedied by providing them with specialized items like coupons or lower bills. Some customers who prefer to be anonymous may need to be served so all critical self serve activities should have an anonymous mode.</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Login functionality capturing email and phone number</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6E42D67A-7C24-48D2-9F6B-1677EA23B5A5}">
      <dgm:prSet/>
      <dgm:spPr/>
      <dgm:t>
        <a:bodyPr/>
        <a:lstStyle/>
        <a:p>
          <a:pPr rtl="0"/>
          <a:r>
            <a:rPr lang="en-US" b="1" i="0" baseline="0" dirty="0" smtClean="0"/>
            <a:t>Forces: </a:t>
          </a:r>
          <a:r>
            <a:rPr lang="en-US" dirty="0" smtClean="0"/>
            <a:t>Service Cost, Trust</a:t>
          </a:r>
          <a:endParaRPr lang="en-US" dirty="0"/>
        </a:p>
      </dgm:t>
    </dgm:pt>
    <dgm:pt modelId="{FC15B83C-A504-477F-9F47-801D3AAA6EFE}" type="parTrans" cxnId="{F98A17CE-729A-4F19-B5A7-70A880B6ECAB}">
      <dgm:prSet/>
      <dgm:spPr/>
      <dgm:t>
        <a:bodyPr/>
        <a:lstStyle/>
        <a:p>
          <a:endParaRPr lang="en-US"/>
        </a:p>
      </dgm:t>
    </dgm:pt>
    <dgm:pt modelId="{F64625E4-ECFB-46FA-AD05-CC927FA463AE}" type="sibTrans" cxnId="{F98A17CE-729A-4F19-B5A7-70A880B6ECAB}">
      <dgm:prSet/>
      <dgm:spPr/>
      <dgm:t>
        <a:bodyPr/>
        <a:lstStyle/>
        <a:p>
          <a:endParaRPr lang="en-US"/>
        </a:p>
      </dgm:t>
    </dgm:pt>
    <dgm:pt modelId="{A99F4372-AF96-4E48-B693-D9380CD1263C}">
      <dgm:prSet/>
      <dgm:spPr/>
      <dgm:t>
        <a:bodyPr/>
        <a:lstStyle/>
        <a:p>
          <a:pPr rtl="0"/>
          <a:r>
            <a:rPr lang="en-US" b="1" i="0" baseline="0" dirty="0" smtClean="0"/>
            <a:t>Solution : </a:t>
          </a:r>
          <a:r>
            <a:rPr lang="en-US" dirty="0" smtClean="0"/>
            <a:t>Create account management functionality which allows users to provide contact information as well as allows them to be. Thus the users are no longer anonymous.</a:t>
          </a:r>
          <a:endParaRPr lang="en-US" dirty="0"/>
        </a:p>
      </dgm:t>
    </dgm:pt>
    <dgm:pt modelId="{17A47165-893E-430F-8522-CF215607C8CC}" type="parTrans" cxnId="{01A0729C-7937-49AA-9A1D-BA992F01DFC1}">
      <dgm:prSet/>
      <dgm:spPr/>
      <dgm:t>
        <a:bodyPr/>
        <a:lstStyle/>
        <a:p>
          <a:endParaRPr lang="en-US"/>
        </a:p>
      </dgm:t>
    </dgm:pt>
    <dgm:pt modelId="{56184529-4952-4FEC-901C-39630D9851C1}" type="sibTrans" cxnId="{01A0729C-7937-49AA-9A1D-BA992F01DFC1}">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CD542FF1-3D0B-4234-ABF3-B874639AE612}" type="presOf" srcId="{A99F4372-AF96-4E48-B693-D9380CD1263C}" destId="{33DA84CE-87C9-4614-A8D9-C3FAE5FE1014}" srcOrd="0" destOrd="4"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F74EEE2F-7D37-4FDB-9B6C-F67F1F594E14}" type="presOf" srcId="{B19AE21B-D1F5-477C-A462-4D94005ED209}" destId="{33DA84CE-87C9-4614-A8D9-C3FAE5FE1014}" srcOrd="0" destOrd="1"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5582C4D7-19E4-49DB-84E5-A77253019A5F}" type="presOf" srcId="{413E6F72-34BF-47DC-B775-3E50330D2D58}" destId="{8605FF89-21C0-4C52-9D60-7882CD44458B}" srcOrd="0" destOrd="0" presId="urn:microsoft.com/office/officeart/2005/8/layout/hList1"/>
    <dgm:cxn modelId="{01A0729C-7937-49AA-9A1D-BA992F01DFC1}" srcId="{413E6F72-34BF-47DC-B775-3E50330D2D58}" destId="{A99F4372-AF96-4E48-B693-D9380CD1263C}" srcOrd="4" destOrd="0" parTransId="{17A47165-893E-430F-8522-CF215607C8CC}" sibTransId="{56184529-4952-4FEC-901C-39630D9851C1}"/>
    <dgm:cxn modelId="{DD480C1E-6741-4BD3-B556-54AC655EB185}" type="presOf" srcId="{8043F000-3576-4BD1-BB39-3FC262A2260C}" destId="{33DA84CE-87C9-4614-A8D9-C3FAE5FE1014}" srcOrd="0" destOrd="8"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0D529443-C1C4-499F-B022-F12D16A4CE83}" type="presOf" srcId="{508A2D43-A355-4519-93F7-34EC8DFBBDFF}" destId="{33DA84CE-87C9-4614-A8D9-C3FAE5FE1014}" srcOrd="0" destOrd="2"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0DDA17DF-346F-4780-952F-78F3EBC2348A}" srcId="{413E6F72-34BF-47DC-B775-3E50330D2D58}" destId="{19AADCDF-3DEA-4A8C-AF29-FAD9B7E5AB21}" srcOrd="7" destOrd="0" parTransId="{56AAA3EB-4790-4B3C-A314-2CD94BEB769C}" sibTransId="{0E3F593E-6E41-48F7-B7DE-1342BC95428B}"/>
    <dgm:cxn modelId="{AFA6614B-CEB6-4C3F-BD68-5076F8F3ECD0}" type="presOf" srcId="{90989E1F-9BB8-42F2-B30F-C36254A16906}" destId="{33DA84CE-87C9-4614-A8D9-C3FAE5FE1014}" srcOrd="0" destOrd="6" presId="urn:microsoft.com/office/officeart/2005/8/layout/hList1"/>
    <dgm:cxn modelId="{18612E2A-EEAF-4A5C-BD86-C42255D0983D}" type="presOf" srcId="{3648697E-C0C2-47E1-A581-CB19EC4DFBFE}" destId="{B1A4BFD5-AD52-45C8-9941-E9420CA43D42}" srcOrd="0" destOrd="0"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9264D876-5AE8-49B7-BA49-7DFA07BBCA4E}" type="presOf" srcId="{5F8F6E57-0397-4838-AC14-27AC3168FFD1}" destId="{33DA84CE-87C9-4614-A8D9-C3FAE5FE1014}" srcOrd="0" destOrd="0" presId="urn:microsoft.com/office/officeart/2005/8/layout/hList1"/>
    <dgm:cxn modelId="{391AE0DE-AB42-4170-904F-444887EBE115}" type="presOf" srcId="{B33FD830-CF21-455F-B47C-29230CAFF8E5}" destId="{33DA84CE-87C9-4614-A8D9-C3FAE5FE1014}" srcOrd="0" destOrd="5" presId="urn:microsoft.com/office/officeart/2005/8/layout/hList1"/>
    <dgm:cxn modelId="{4ECC46D1-1324-4206-8879-11FD1E84D9AC}" type="presOf" srcId="{19AADCDF-3DEA-4A8C-AF29-FAD9B7E5AB21}" destId="{33DA84CE-87C9-4614-A8D9-C3FAE5FE1014}" srcOrd="0" destOrd="7" presId="urn:microsoft.com/office/officeart/2005/8/layout/hList1"/>
    <dgm:cxn modelId="{F98A17CE-729A-4F19-B5A7-70A880B6ECAB}" srcId="{413E6F72-34BF-47DC-B775-3E50330D2D58}" destId="{6E42D67A-7C24-48D2-9F6B-1677EA23B5A5}" srcOrd="3" destOrd="0" parTransId="{FC15B83C-A504-477F-9F47-801D3AAA6EFE}" sibTransId="{F64625E4-ECFB-46FA-AD05-CC927FA463AE}"/>
    <dgm:cxn modelId="{0688A0CD-2BBA-4B07-85FB-A9C4EE6A2216}" type="presOf" srcId="{C97E7C3F-52BA-406A-BBF7-A85DFD4D553A}" destId="{33DA84CE-87C9-4614-A8D9-C3FAE5FE1014}" srcOrd="0" destOrd="9" presId="urn:microsoft.com/office/officeart/2005/8/layout/hList1"/>
    <dgm:cxn modelId="{E39E7FCC-5319-474C-9BB7-D1AE6BFC3FF1}" srcId="{413E6F72-34BF-47DC-B775-3E50330D2D58}" destId="{5F8F6E57-0397-4838-AC14-27AC3168FFD1}" srcOrd="0" destOrd="0" parTransId="{BEB9FBEF-C319-4EA9-B4FE-13782BB3BCBE}" sibTransId="{69655A7D-2A7C-4FE7-8695-3B8A2A1A1205}"/>
    <dgm:cxn modelId="{EDE74DA3-E653-4211-8487-745A951626DD}" type="presOf" srcId="{6E42D67A-7C24-48D2-9F6B-1677EA23B5A5}" destId="{33DA84CE-87C9-4614-A8D9-C3FAE5FE1014}" srcOrd="0" destOrd="3"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Customer does self serve and forgets the provider</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Once the customer moves away from self serve, the self serve organization desires to build trust and relations. How to ensure that the self service provider is in the mind of the customer even after customer has finished the self serve task?</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Customer is not able to build long term relationship with self serve</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Customer feels part of 2 way conversation if the communication is personalized, individualized and dialogic </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360 Degree View </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IRCTC communicates customized rail packages to its known customers</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The stored data of the customer must be constantly updated. He could have changed his credit card, moved premises, started to have different culinary taste between the time he expressed his preferences in the site and the time he accesses the site. To mitigate the preferences must allow for change from existing preferences.</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Email/SMS/Survey/Social/Ratings can be provided</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6E42D67A-7C24-48D2-9F6B-1677EA23B5A5}">
      <dgm:prSet/>
      <dgm:spPr/>
      <dgm:t>
        <a:bodyPr/>
        <a:lstStyle/>
        <a:p>
          <a:pPr rtl="0"/>
          <a:r>
            <a:rPr lang="en-US" b="1" i="0" baseline="0" dirty="0" smtClean="0"/>
            <a:t>Forces: </a:t>
          </a:r>
          <a:r>
            <a:rPr lang="en-US" dirty="0" smtClean="0"/>
            <a:t>Cognitive Complexity, Trust, Service Cost, Offline versus Online, Heterogeneity</a:t>
          </a:r>
          <a:endParaRPr lang="en-US" dirty="0"/>
        </a:p>
      </dgm:t>
    </dgm:pt>
    <dgm:pt modelId="{FC15B83C-A504-477F-9F47-801D3AAA6EFE}" type="parTrans" cxnId="{F98A17CE-729A-4F19-B5A7-70A880B6ECAB}">
      <dgm:prSet/>
      <dgm:spPr/>
      <dgm:t>
        <a:bodyPr/>
        <a:lstStyle/>
        <a:p>
          <a:endParaRPr lang="en-US"/>
        </a:p>
      </dgm:t>
    </dgm:pt>
    <dgm:pt modelId="{F64625E4-ECFB-46FA-AD05-CC927FA463AE}" type="sibTrans" cxnId="{F98A17CE-729A-4F19-B5A7-70A880B6ECAB}">
      <dgm:prSet/>
      <dgm:spPr/>
      <dgm:t>
        <a:bodyPr/>
        <a:lstStyle/>
        <a:p>
          <a:endParaRPr lang="en-US"/>
        </a:p>
      </dgm:t>
    </dgm:pt>
    <dgm:pt modelId="{A99F4372-AF96-4E48-B693-D9380CD1263C}">
      <dgm:prSet/>
      <dgm:spPr/>
      <dgm:t>
        <a:bodyPr/>
        <a:lstStyle/>
        <a:p>
          <a:pPr rtl="0"/>
          <a:r>
            <a:rPr lang="en-US" b="1" i="0" baseline="0" dirty="0" smtClean="0"/>
            <a:t>Solution : </a:t>
          </a:r>
          <a:r>
            <a:rPr lang="en-US" dirty="0" smtClean="0"/>
            <a:t>Create a multichannel feedback allowing for relationships..</a:t>
          </a:r>
          <a:endParaRPr lang="en-US" dirty="0"/>
        </a:p>
      </dgm:t>
    </dgm:pt>
    <dgm:pt modelId="{17A47165-893E-430F-8522-CF215607C8CC}" type="parTrans" cxnId="{01A0729C-7937-49AA-9A1D-BA992F01DFC1}">
      <dgm:prSet/>
      <dgm:spPr/>
      <dgm:t>
        <a:bodyPr/>
        <a:lstStyle/>
        <a:p>
          <a:endParaRPr lang="en-US"/>
        </a:p>
      </dgm:t>
    </dgm:pt>
    <dgm:pt modelId="{56184529-4952-4FEC-901C-39630D9851C1}" type="sibTrans" cxnId="{01A0729C-7937-49AA-9A1D-BA992F01DFC1}">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CD542FF1-3D0B-4234-ABF3-B874639AE612}" type="presOf" srcId="{A99F4372-AF96-4E48-B693-D9380CD1263C}" destId="{33DA84CE-87C9-4614-A8D9-C3FAE5FE1014}" srcOrd="0" destOrd="4"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F74EEE2F-7D37-4FDB-9B6C-F67F1F594E14}" type="presOf" srcId="{B19AE21B-D1F5-477C-A462-4D94005ED209}" destId="{33DA84CE-87C9-4614-A8D9-C3FAE5FE1014}" srcOrd="0" destOrd="1"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5582C4D7-19E4-49DB-84E5-A77253019A5F}" type="presOf" srcId="{413E6F72-34BF-47DC-B775-3E50330D2D58}" destId="{8605FF89-21C0-4C52-9D60-7882CD44458B}" srcOrd="0" destOrd="0" presId="urn:microsoft.com/office/officeart/2005/8/layout/hList1"/>
    <dgm:cxn modelId="{01A0729C-7937-49AA-9A1D-BA992F01DFC1}" srcId="{413E6F72-34BF-47DC-B775-3E50330D2D58}" destId="{A99F4372-AF96-4E48-B693-D9380CD1263C}" srcOrd="4" destOrd="0" parTransId="{17A47165-893E-430F-8522-CF215607C8CC}" sibTransId="{56184529-4952-4FEC-901C-39630D9851C1}"/>
    <dgm:cxn modelId="{DD480C1E-6741-4BD3-B556-54AC655EB185}" type="presOf" srcId="{8043F000-3576-4BD1-BB39-3FC262A2260C}" destId="{33DA84CE-87C9-4614-A8D9-C3FAE5FE1014}" srcOrd="0" destOrd="8"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0D529443-C1C4-499F-B022-F12D16A4CE83}" type="presOf" srcId="{508A2D43-A355-4519-93F7-34EC8DFBBDFF}" destId="{33DA84CE-87C9-4614-A8D9-C3FAE5FE1014}" srcOrd="0" destOrd="2"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0DDA17DF-346F-4780-952F-78F3EBC2348A}" srcId="{413E6F72-34BF-47DC-B775-3E50330D2D58}" destId="{19AADCDF-3DEA-4A8C-AF29-FAD9B7E5AB21}" srcOrd="7" destOrd="0" parTransId="{56AAA3EB-4790-4B3C-A314-2CD94BEB769C}" sibTransId="{0E3F593E-6E41-48F7-B7DE-1342BC95428B}"/>
    <dgm:cxn modelId="{AFA6614B-CEB6-4C3F-BD68-5076F8F3ECD0}" type="presOf" srcId="{90989E1F-9BB8-42F2-B30F-C36254A16906}" destId="{33DA84CE-87C9-4614-A8D9-C3FAE5FE1014}" srcOrd="0" destOrd="6" presId="urn:microsoft.com/office/officeart/2005/8/layout/hList1"/>
    <dgm:cxn modelId="{18612E2A-EEAF-4A5C-BD86-C42255D0983D}" type="presOf" srcId="{3648697E-C0C2-47E1-A581-CB19EC4DFBFE}" destId="{B1A4BFD5-AD52-45C8-9941-E9420CA43D42}" srcOrd="0" destOrd="0" presId="urn:microsoft.com/office/officeart/2005/8/layout/hList1"/>
    <dgm:cxn modelId="{5FB0967E-2AE0-4236-B97F-6B398D88B74E}" srcId="{413E6F72-34BF-47DC-B775-3E50330D2D58}" destId="{C97E7C3F-52BA-406A-BBF7-A85DFD4D553A}" srcOrd="9" destOrd="0" parTransId="{6419E4B4-2FC7-487F-8665-E234817B8196}" sibTransId="{2CA6C518-F6B5-4404-BE32-265B16C0A3EB}"/>
    <dgm:cxn modelId="{9264D876-5AE8-49B7-BA49-7DFA07BBCA4E}" type="presOf" srcId="{5F8F6E57-0397-4838-AC14-27AC3168FFD1}" destId="{33DA84CE-87C9-4614-A8D9-C3FAE5FE1014}" srcOrd="0" destOrd="0" presId="urn:microsoft.com/office/officeart/2005/8/layout/hList1"/>
    <dgm:cxn modelId="{391AE0DE-AB42-4170-904F-444887EBE115}" type="presOf" srcId="{B33FD830-CF21-455F-B47C-29230CAFF8E5}" destId="{33DA84CE-87C9-4614-A8D9-C3FAE5FE1014}" srcOrd="0" destOrd="5" presId="urn:microsoft.com/office/officeart/2005/8/layout/hList1"/>
    <dgm:cxn modelId="{4ECC46D1-1324-4206-8879-11FD1E84D9AC}" type="presOf" srcId="{19AADCDF-3DEA-4A8C-AF29-FAD9B7E5AB21}" destId="{33DA84CE-87C9-4614-A8D9-C3FAE5FE1014}" srcOrd="0" destOrd="7" presId="urn:microsoft.com/office/officeart/2005/8/layout/hList1"/>
    <dgm:cxn modelId="{F98A17CE-729A-4F19-B5A7-70A880B6ECAB}" srcId="{413E6F72-34BF-47DC-B775-3E50330D2D58}" destId="{6E42D67A-7C24-48D2-9F6B-1677EA23B5A5}" srcOrd="3" destOrd="0" parTransId="{FC15B83C-A504-477F-9F47-801D3AAA6EFE}" sibTransId="{F64625E4-ECFB-46FA-AD05-CC927FA463AE}"/>
    <dgm:cxn modelId="{0688A0CD-2BBA-4B07-85FB-A9C4EE6A2216}" type="presOf" srcId="{C97E7C3F-52BA-406A-BBF7-A85DFD4D553A}" destId="{33DA84CE-87C9-4614-A8D9-C3FAE5FE1014}" srcOrd="0" destOrd="9" presId="urn:microsoft.com/office/officeart/2005/8/layout/hList1"/>
    <dgm:cxn modelId="{E39E7FCC-5319-474C-9BB7-D1AE6BFC3FF1}" srcId="{413E6F72-34BF-47DC-B775-3E50330D2D58}" destId="{5F8F6E57-0397-4838-AC14-27AC3168FFD1}" srcOrd="0" destOrd="0" parTransId="{BEB9FBEF-C319-4EA9-B4FE-13782BB3BCBE}" sibTransId="{69655A7D-2A7C-4FE7-8695-3B8A2A1A1205}"/>
    <dgm:cxn modelId="{EDE74DA3-E653-4211-8487-745A951626DD}" type="presOf" srcId="{6E42D67A-7C24-48D2-9F6B-1677EA23B5A5}" destId="{33DA84CE-87C9-4614-A8D9-C3FAE5FE1014}" srcOrd="0" destOrd="3" presId="urn:microsoft.com/office/officeart/2005/8/layout/hList1"/>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Some customers may use multiple channels to interact. How to build a relationship?</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Customers interact with self service providers through various channels that may be transactional, relationship-based or social. Typically data regarding these interactions are in separate silos, thus the company cannot have an integrated view of the customer. We call such an integrated view, a 360 degree view of the customer. How does a system create 360 degree view of customer self serve to serve better?</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508A2D43-A355-4519-93F7-34EC8DFBBDFF}">
      <dgm:prSet/>
      <dgm:spPr/>
      <dgm:t>
        <a:bodyPr/>
        <a:lstStyle/>
        <a:p>
          <a:pPr rtl="0"/>
          <a:r>
            <a:rPr lang="en-US" b="1" i="0" baseline="0" dirty="0" smtClean="0"/>
            <a:t>Example: </a:t>
          </a:r>
          <a:r>
            <a:rPr lang="en-US" dirty="0" smtClean="0"/>
            <a:t>Some customers may call and pose a problem. Then they may go to a website and try to self serve and solve the problem. Then call back. They may post something about the self service task to a user forum. How to provide a unified view to service provider?</a:t>
          </a:r>
          <a:endParaRPr lang="en-US" dirty="0"/>
        </a:p>
      </dgm:t>
    </dgm:pt>
    <dgm:pt modelId="{1AE6DC23-AB12-42CA-9B50-DD4F6B340AEE}" type="parTrans" cxnId="{3750B29B-9C04-4E56-A1DE-29E54457290B}">
      <dgm:prSet/>
      <dgm:spPr/>
      <dgm:t>
        <a:bodyPr/>
        <a:lstStyle/>
        <a:p>
          <a:endParaRPr lang="en-US"/>
        </a:p>
      </dgm:t>
    </dgm:pt>
    <dgm:pt modelId="{4183CAD1-E58B-4F2C-BDC4-C5C1C1343507}" type="sibTrans" cxnId="{3750B29B-9C04-4E56-A1DE-29E54457290B}">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Seamless access. Full information</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Trusted Online Brand</a:t>
          </a:r>
          <a:endParaRPr lang="en-US"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 </a:t>
          </a:r>
          <a:r>
            <a:rPr lang="en-US" dirty="0" smtClean="0"/>
            <a:t>HDFC sends an SMS alert once you shop with debit/credit card, an alert when your salary is deposited and a end of month alert with bank-balances and an alert for third party transactions. They also allow to pay bills through the bank,</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C97E7C3F-52BA-406A-BBF7-A85DFD4D553A}">
      <dgm:prSet/>
      <dgm:spPr/>
      <dgm:t>
        <a:bodyPr/>
        <a:lstStyle/>
        <a:p>
          <a:pPr rtl="0"/>
          <a:r>
            <a:rPr lang="en-US" b="1" i="0" baseline="0" dirty="0" smtClean="0"/>
            <a:t>Negative Consequences: </a:t>
          </a:r>
          <a:r>
            <a:rPr lang="en-US" dirty="0" smtClean="0"/>
            <a:t>Building a 360 degree view is challenging and may raise privacy concerns. Further customer data from things like social networks is rich and unstructured and cannot be quantitatively measured. Also significant infrastructure is needed to host a 360 degree view. The mitigation is to gradually build the view from incoming data on cloud based services.</a:t>
          </a:r>
          <a:endParaRPr lang="en-US" i="1" dirty="0"/>
        </a:p>
      </dgm:t>
    </dgm:pt>
    <dgm:pt modelId="{6419E4B4-2FC7-487F-8665-E234817B8196}" type="parTrans" cxnId="{5FB0967E-2AE0-4236-B97F-6B398D88B74E}">
      <dgm:prSet/>
      <dgm:spPr/>
      <dgm:t>
        <a:bodyPr/>
        <a:lstStyle/>
        <a:p>
          <a:endParaRPr lang="en-US"/>
        </a:p>
      </dgm:t>
    </dgm:pt>
    <dgm:pt modelId="{2CA6C518-F6B5-4404-BE32-265B16C0A3EB}" type="sibTrans" cxnId="{5FB0967E-2AE0-4236-B97F-6B398D88B74E}">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A backend integrated CRM system</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6E42D67A-7C24-48D2-9F6B-1677EA23B5A5}">
      <dgm:prSet/>
      <dgm:spPr/>
      <dgm:t>
        <a:bodyPr/>
        <a:lstStyle/>
        <a:p>
          <a:pPr rtl="0"/>
          <a:r>
            <a:rPr lang="en-US" b="1" i="0" baseline="0" dirty="0" smtClean="0"/>
            <a:t>Forces: </a:t>
          </a:r>
          <a:r>
            <a:rPr lang="en-US" dirty="0" smtClean="0"/>
            <a:t>Service Cost, Short Term versus Long Term</a:t>
          </a:r>
          <a:endParaRPr lang="en-US" dirty="0"/>
        </a:p>
      </dgm:t>
    </dgm:pt>
    <dgm:pt modelId="{FC15B83C-A504-477F-9F47-801D3AAA6EFE}" type="parTrans" cxnId="{F98A17CE-729A-4F19-B5A7-70A880B6ECAB}">
      <dgm:prSet/>
      <dgm:spPr/>
      <dgm:t>
        <a:bodyPr/>
        <a:lstStyle/>
        <a:p>
          <a:endParaRPr lang="en-US"/>
        </a:p>
      </dgm:t>
    </dgm:pt>
    <dgm:pt modelId="{F64625E4-ECFB-46FA-AD05-CC927FA463AE}" type="sibTrans" cxnId="{F98A17CE-729A-4F19-B5A7-70A880B6ECAB}">
      <dgm:prSet/>
      <dgm:spPr/>
      <dgm:t>
        <a:bodyPr/>
        <a:lstStyle/>
        <a:p>
          <a:endParaRPr lang="en-US"/>
        </a:p>
      </dgm:t>
    </dgm:pt>
    <dgm:pt modelId="{A99F4372-AF96-4E48-B693-D9380CD1263C}">
      <dgm:prSet/>
      <dgm:spPr/>
      <dgm:t>
        <a:bodyPr/>
        <a:lstStyle/>
        <a:p>
          <a:pPr rtl="0"/>
          <a:r>
            <a:rPr lang="en-US" b="1" i="0" baseline="0" dirty="0" smtClean="0"/>
            <a:t>Solution : </a:t>
          </a:r>
          <a:r>
            <a:rPr lang="en-US" dirty="0" smtClean="0"/>
            <a:t>Create a backend system with a multi channel 360 degree view.</a:t>
          </a:r>
          <a:endParaRPr lang="en-US" dirty="0"/>
        </a:p>
      </dgm:t>
    </dgm:pt>
    <dgm:pt modelId="{17A47165-893E-430F-8522-CF215607C8CC}" type="parTrans" cxnId="{01A0729C-7937-49AA-9A1D-BA992F01DFC1}">
      <dgm:prSet/>
      <dgm:spPr/>
      <dgm:t>
        <a:bodyPr/>
        <a:lstStyle/>
        <a:p>
          <a:endParaRPr lang="en-US"/>
        </a:p>
      </dgm:t>
    </dgm:pt>
    <dgm:pt modelId="{56184529-4952-4FEC-901C-39630D9851C1}" type="sibTrans" cxnId="{01A0729C-7937-49AA-9A1D-BA992F01DFC1}">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1A0729C-7937-49AA-9A1D-BA992F01DFC1}" srcId="{413E6F72-34BF-47DC-B775-3E50330D2D58}" destId="{A99F4372-AF96-4E48-B693-D9380CD1263C}" srcOrd="4" destOrd="0" parTransId="{17A47165-893E-430F-8522-CF215607C8CC}" sibTransId="{56184529-4952-4FEC-901C-39630D9851C1}"/>
    <dgm:cxn modelId="{4ECC46D1-1324-4206-8879-11FD1E84D9AC}" type="presOf" srcId="{19AADCDF-3DEA-4A8C-AF29-FAD9B7E5AB21}" destId="{33DA84CE-87C9-4614-A8D9-C3FAE5FE1014}" srcOrd="0" destOrd="7" presId="urn:microsoft.com/office/officeart/2005/8/layout/hList1"/>
    <dgm:cxn modelId="{CD542FF1-3D0B-4234-ABF3-B874639AE612}" type="presOf" srcId="{A99F4372-AF96-4E48-B693-D9380CD1263C}" destId="{33DA84CE-87C9-4614-A8D9-C3FAE5FE1014}" srcOrd="0" destOrd="4"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F98A17CE-729A-4F19-B5A7-70A880B6ECAB}" srcId="{413E6F72-34BF-47DC-B775-3E50330D2D58}" destId="{6E42D67A-7C24-48D2-9F6B-1677EA23B5A5}" srcOrd="3" destOrd="0" parTransId="{FC15B83C-A504-477F-9F47-801D3AAA6EFE}" sibTransId="{F64625E4-ECFB-46FA-AD05-CC927FA463AE}"/>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3750B29B-9C04-4E56-A1DE-29E54457290B}" srcId="{413E6F72-34BF-47DC-B775-3E50330D2D58}" destId="{508A2D43-A355-4519-93F7-34EC8DFBBDFF}" srcOrd="2" destOrd="0" parTransId="{1AE6DC23-AB12-42CA-9B50-DD4F6B340AEE}" sibTransId="{4183CAD1-E58B-4F2C-BDC4-C5C1C1343507}"/>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EDE74DA3-E653-4211-8487-745A951626DD}" type="presOf" srcId="{6E42D67A-7C24-48D2-9F6B-1677EA23B5A5}" destId="{33DA84CE-87C9-4614-A8D9-C3FAE5FE1014}" srcOrd="0" destOrd="3" presId="urn:microsoft.com/office/officeart/2005/8/layout/hList1"/>
    <dgm:cxn modelId="{73FBEFA3-6B1D-4CA2-9A43-8262162D6868}" srcId="{413E6F72-34BF-47DC-B775-3E50330D2D58}" destId="{B33FD830-CF21-455F-B47C-29230CAFF8E5}" srcOrd="5" destOrd="0" parTransId="{ABABFA8C-B3A7-489B-AE4E-12CD82DE6573}" sibTransId="{E7EBA716-263F-4C35-A285-48EB8E14C58B}"/>
    <dgm:cxn modelId="{5FB0967E-2AE0-4236-B97F-6B398D88B74E}" srcId="{413E6F72-34BF-47DC-B775-3E50330D2D58}" destId="{C97E7C3F-52BA-406A-BBF7-A85DFD4D553A}" srcOrd="9" destOrd="0" parTransId="{6419E4B4-2FC7-487F-8665-E234817B8196}" sibTransId="{2CA6C518-F6B5-4404-BE32-265B16C0A3EB}"/>
    <dgm:cxn modelId="{DD480C1E-6741-4BD3-B556-54AC655EB185}" type="presOf" srcId="{8043F000-3576-4BD1-BB39-3FC262A2260C}" destId="{33DA84CE-87C9-4614-A8D9-C3FAE5FE1014}" srcOrd="0" destOrd="8"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688A0CD-2BBA-4B07-85FB-A9C4EE6A2216}" type="presOf" srcId="{C97E7C3F-52BA-406A-BBF7-A85DFD4D553A}" destId="{33DA84CE-87C9-4614-A8D9-C3FAE5FE1014}" srcOrd="0" destOrd="9" presId="urn:microsoft.com/office/officeart/2005/8/layout/hList1"/>
    <dgm:cxn modelId="{0D529443-C1C4-499F-B022-F12D16A4CE83}" type="presOf" srcId="{508A2D43-A355-4519-93F7-34EC8DFBBDFF}" destId="{33DA84CE-87C9-4614-A8D9-C3FAE5FE1014}" srcOrd="0" destOrd="2"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Customer trust is low in online channels</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Customers feel revealing information to self serve websites may compromise their privacy. How to assure customers that their privacy won’t be compromised?</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More trust and cooperation will result if the company crafts a well defined policy and adheres to the same.</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b="0" i="0" baseline="0" dirty="0" smtClean="0"/>
            <a:t>360 degree view</a:t>
          </a:r>
          <a:endParaRPr lang="en-US" b="0"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a:t>
          </a:r>
          <a:r>
            <a:rPr lang="en-US" dirty="0" smtClean="0"/>
            <a:t>All websites have well defined privacy policies in their footer</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A cookie tracking policy</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A99F4372-AF96-4E48-B693-D9380CD1263C}">
      <dgm:prSet/>
      <dgm:spPr/>
      <dgm:t>
        <a:bodyPr/>
        <a:lstStyle/>
        <a:p>
          <a:pPr rtl="0"/>
          <a:r>
            <a:rPr lang="en-US" b="1" i="0" baseline="0" dirty="0" smtClean="0"/>
            <a:t>Solution : </a:t>
          </a:r>
          <a:r>
            <a:rPr lang="en-US" dirty="0" smtClean="0"/>
            <a:t>Create a well defined working privacy policy</a:t>
          </a:r>
          <a:endParaRPr lang="en-US" dirty="0"/>
        </a:p>
      </dgm:t>
    </dgm:pt>
    <dgm:pt modelId="{17A47165-893E-430F-8522-CF215607C8CC}" type="parTrans" cxnId="{01A0729C-7937-49AA-9A1D-BA992F01DFC1}">
      <dgm:prSet/>
      <dgm:spPr/>
      <dgm:t>
        <a:bodyPr/>
        <a:lstStyle/>
        <a:p>
          <a:endParaRPr lang="en-US"/>
        </a:p>
      </dgm:t>
    </dgm:pt>
    <dgm:pt modelId="{56184529-4952-4FEC-901C-39630D9851C1}" type="sibTrans" cxnId="{01A0729C-7937-49AA-9A1D-BA992F01DFC1}">
      <dgm:prSet/>
      <dgm:spPr/>
      <dgm:t>
        <a:bodyPr/>
        <a:lstStyle/>
        <a:p>
          <a:endParaRPr lang="en-US"/>
        </a:p>
      </dgm:t>
    </dgm:pt>
    <dgm:pt modelId="{87261791-6A46-45E8-8FBE-CAB45F7B0A89}">
      <dgm:prSet/>
      <dgm:spPr/>
      <dgm:t>
        <a:bodyPr/>
        <a:lstStyle/>
        <a:p>
          <a:pPr rtl="0"/>
          <a:r>
            <a:rPr lang="en-US" b="1" i="0" baseline="0" dirty="0" smtClean="0"/>
            <a:t>Example: </a:t>
          </a:r>
          <a:r>
            <a:rPr lang="en-US" dirty="0" smtClean="0"/>
            <a:t>Customer does not trust a website with credit card information, personal details in fear they will be targeted or discriminated or robbed.</a:t>
          </a:r>
          <a:endParaRPr lang="en-US" i="1" dirty="0"/>
        </a:p>
      </dgm:t>
    </dgm:pt>
    <dgm:pt modelId="{8B081FDF-C210-4102-9F81-9773CAAD8320}" type="parTrans" cxnId="{AD4900D2-EC34-4BC5-9E25-05DB6CEF2262}">
      <dgm:prSet/>
      <dgm:spPr/>
      <dgm:t>
        <a:bodyPr/>
        <a:lstStyle/>
        <a:p>
          <a:endParaRPr lang="en-US"/>
        </a:p>
      </dgm:t>
    </dgm:pt>
    <dgm:pt modelId="{6B111370-DCED-4B33-8160-22F4070FEDBB}" type="sibTrans" cxnId="{AD4900D2-EC34-4BC5-9E25-05DB6CEF2262}">
      <dgm:prSet/>
      <dgm:spPr/>
      <dgm:t>
        <a:bodyPr/>
        <a:lstStyle/>
        <a:p>
          <a:endParaRPr lang="en-US"/>
        </a:p>
      </dgm:t>
    </dgm:pt>
    <dgm:pt modelId="{355C6AB1-946D-493F-BD81-3390EC630BF4}">
      <dgm:prSet/>
      <dgm:spPr/>
      <dgm:t>
        <a:bodyPr/>
        <a:lstStyle/>
        <a:p>
          <a:pPr rtl="0"/>
          <a:r>
            <a:rPr lang="en-US" b="1" i="0" baseline="0" dirty="0" smtClean="0"/>
            <a:t>Forces: </a:t>
          </a:r>
          <a:r>
            <a:rPr lang="en-US" dirty="0" smtClean="0"/>
            <a:t>Short Term versus Long Term, Trust</a:t>
          </a:r>
          <a:endParaRPr lang="en-US" i="1" dirty="0"/>
        </a:p>
      </dgm:t>
    </dgm:pt>
    <dgm:pt modelId="{0FC0F214-346B-466B-AB3E-EABF1682CB53}" type="parTrans" cxnId="{C0717730-F5E1-4555-910E-42CCE5AA6081}">
      <dgm:prSet/>
      <dgm:spPr/>
      <dgm:t>
        <a:bodyPr/>
        <a:lstStyle/>
        <a:p>
          <a:endParaRPr lang="en-US"/>
        </a:p>
      </dgm:t>
    </dgm:pt>
    <dgm:pt modelId="{4FEA7E78-C6C7-4049-A37A-E703B6A9ED3A}" type="sibTrans" cxnId="{C0717730-F5E1-4555-910E-42CCE5AA6081}">
      <dgm:prSet/>
      <dgm:spPr/>
      <dgm:t>
        <a:bodyPr/>
        <a:lstStyle/>
        <a:p>
          <a:endParaRPr lang="en-US"/>
        </a:p>
      </dgm:t>
    </dgm:pt>
    <dgm:pt modelId="{68A5D258-A828-43C5-8579-D371C021E201}">
      <dgm:prSet/>
      <dgm:spPr/>
      <dgm:t>
        <a:bodyPr/>
        <a:lstStyle/>
        <a:p>
          <a:pPr rtl="0"/>
          <a:r>
            <a:rPr lang="en-US" b="1" i="0" baseline="0" dirty="0" smtClean="0"/>
            <a:t>Negative Consequences: </a:t>
          </a:r>
          <a:r>
            <a:rPr lang="en-US" dirty="0" smtClean="0"/>
            <a:t>Having no working privacy policy, means you can monetize the clicks the user makes on the site as well as build referral networks at cost of customer privacy. This could be suitable in rare cases. However having a working privacy policy entails you to not sell customer data to third party, not to track the customer unless it is with their explicit permission, which is better in long run.</a:t>
          </a:r>
          <a:endParaRPr lang="en-US" dirty="0"/>
        </a:p>
      </dgm:t>
    </dgm:pt>
    <dgm:pt modelId="{8E9657E5-E926-410B-9D77-A3C9B439E0E1}" type="parTrans" cxnId="{BD544647-CDDC-4B29-8B29-E3A7C56529F0}">
      <dgm:prSet/>
      <dgm:spPr/>
      <dgm:t>
        <a:bodyPr/>
        <a:lstStyle/>
        <a:p>
          <a:endParaRPr lang="en-US"/>
        </a:p>
      </dgm:t>
    </dgm:pt>
    <dgm:pt modelId="{C6E9D11B-48A2-49BB-81E5-4947805797EF}" type="sibTrans" cxnId="{BD544647-CDDC-4B29-8B29-E3A7C56529F0}">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4A37E288-2BE5-4264-822D-01D4244B9E07}" type="presOf" srcId="{355C6AB1-946D-493F-BD81-3390EC630BF4}" destId="{33DA84CE-87C9-4614-A8D9-C3FAE5FE1014}" srcOrd="0" destOrd="3" presId="urn:microsoft.com/office/officeart/2005/8/layout/hList1"/>
    <dgm:cxn modelId="{01A0729C-7937-49AA-9A1D-BA992F01DFC1}" srcId="{413E6F72-34BF-47DC-B775-3E50330D2D58}" destId="{A99F4372-AF96-4E48-B693-D9380CD1263C}" srcOrd="4" destOrd="0" parTransId="{17A47165-893E-430F-8522-CF215607C8CC}" sibTransId="{56184529-4952-4FEC-901C-39630D9851C1}"/>
    <dgm:cxn modelId="{BD544647-CDDC-4B29-8B29-E3A7C56529F0}" srcId="{413E6F72-34BF-47DC-B775-3E50330D2D58}" destId="{68A5D258-A828-43C5-8579-D371C021E201}" srcOrd="9" destOrd="0" parTransId="{8E9657E5-E926-410B-9D77-A3C9B439E0E1}" sibTransId="{C6E9D11B-48A2-49BB-81E5-4947805797EF}"/>
    <dgm:cxn modelId="{4ECC46D1-1324-4206-8879-11FD1E84D9AC}" type="presOf" srcId="{19AADCDF-3DEA-4A8C-AF29-FAD9B7E5AB21}" destId="{33DA84CE-87C9-4614-A8D9-C3FAE5FE1014}" srcOrd="0" destOrd="7" presId="urn:microsoft.com/office/officeart/2005/8/layout/hList1"/>
    <dgm:cxn modelId="{CD542FF1-3D0B-4234-ABF3-B874639AE612}" type="presOf" srcId="{A99F4372-AF96-4E48-B693-D9380CD1263C}" destId="{33DA84CE-87C9-4614-A8D9-C3FAE5FE1014}" srcOrd="0" destOrd="4"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ADF18B94-5BD6-45CE-9583-B937E4146392}" type="presOf" srcId="{68A5D258-A828-43C5-8579-D371C021E201}" destId="{33DA84CE-87C9-4614-A8D9-C3FAE5FE1014}" srcOrd="0" destOrd="9" presId="urn:microsoft.com/office/officeart/2005/8/layout/hList1"/>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C0717730-F5E1-4555-910E-42CCE5AA6081}" srcId="{413E6F72-34BF-47DC-B775-3E50330D2D58}" destId="{355C6AB1-946D-493F-BD81-3390EC630BF4}" srcOrd="3" destOrd="0" parTransId="{0FC0F214-346B-466B-AB3E-EABF1682CB53}" sibTransId="{4FEA7E78-C6C7-4049-A37A-E703B6A9ED3A}"/>
    <dgm:cxn modelId="{18612E2A-EEAF-4A5C-BD86-C42255D0983D}" type="presOf" srcId="{3648697E-C0C2-47E1-A581-CB19EC4DFBFE}" destId="{B1A4BFD5-AD52-45C8-9941-E9420CA43D42}" srcOrd="0" destOrd="0" presId="urn:microsoft.com/office/officeart/2005/8/layout/hList1"/>
    <dgm:cxn modelId="{AD4900D2-EC34-4BC5-9E25-05DB6CEF2262}" srcId="{413E6F72-34BF-47DC-B775-3E50330D2D58}" destId="{87261791-6A46-45E8-8FBE-CAB45F7B0A89}" srcOrd="2" destOrd="0" parTransId="{8B081FDF-C210-4102-9F81-9773CAAD8320}" sibTransId="{6B111370-DCED-4B33-8160-22F4070FEDBB}"/>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2FF64BD6-170B-40A7-B061-00CBC004F86A}" type="presOf" srcId="{87261791-6A46-45E8-8FBE-CAB45F7B0A89}" destId="{33DA84CE-87C9-4614-A8D9-C3FAE5FE1014}" srcOrd="0" destOrd="2" presId="urn:microsoft.com/office/officeart/2005/8/layout/hList1"/>
    <dgm:cxn modelId="{DD480C1E-6741-4BD3-B556-54AC655EB185}" type="presOf" srcId="{8043F000-3576-4BD1-BB39-3FC262A2260C}" destId="{33DA84CE-87C9-4614-A8D9-C3FAE5FE1014}" srcOrd="0" destOrd="8"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648697E-C0C2-47E1-A581-CB19EC4DFB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13E6F72-34BF-47DC-B775-3E50330D2D58}">
      <dgm:prSet/>
      <dgm:spPr/>
      <dgm:t>
        <a:bodyPr/>
        <a:lstStyle/>
        <a:p>
          <a:pPr rtl="0"/>
          <a:r>
            <a:rPr lang="en-US" b="1" i="0" baseline="0" smtClean="0"/>
            <a:t>Context </a:t>
          </a:r>
          <a:endParaRPr lang="en-US"/>
        </a:p>
      </dgm:t>
    </dgm:pt>
    <dgm:pt modelId="{57BC52C9-A681-4628-BF7D-C6319716EA58}" type="parTrans" cxnId="{A49FEA5E-78AE-40F0-BA65-B1F935A336FF}">
      <dgm:prSet/>
      <dgm:spPr/>
      <dgm:t>
        <a:bodyPr/>
        <a:lstStyle/>
        <a:p>
          <a:endParaRPr lang="en-US"/>
        </a:p>
      </dgm:t>
    </dgm:pt>
    <dgm:pt modelId="{773F7038-F3E3-457F-9985-E40AAAD8B413}" type="sibTrans" cxnId="{A49FEA5E-78AE-40F0-BA65-B1F935A336FF}">
      <dgm:prSet/>
      <dgm:spPr/>
      <dgm:t>
        <a:bodyPr/>
        <a:lstStyle/>
        <a:p>
          <a:endParaRPr lang="en-US"/>
        </a:p>
      </dgm:t>
    </dgm:pt>
    <dgm:pt modelId="{5F8F6E57-0397-4838-AC14-27AC3168FFD1}">
      <dgm:prSet/>
      <dgm:spPr/>
      <dgm:t>
        <a:bodyPr/>
        <a:lstStyle/>
        <a:p>
          <a:pPr rtl="0"/>
          <a:r>
            <a:rPr lang="en-US" b="1" i="0" baseline="0" dirty="0" smtClean="0"/>
            <a:t>Specific context :  </a:t>
          </a:r>
          <a:r>
            <a:rPr lang="en-US" dirty="0" smtClean="0"/>
            <a:t>There are multiple classes of segment-able users for the self service with different demands and differing capacities to pay for services. The resource on service provider side is limited.</a:t>
          </a:r>
          <a:endParaRPr lang="en-US" i="1" dirty="0"/>
        </a:p>
      </dgm:t>
    </dgm:pt>
    <dgm:pt modelId="{BEB9FBEF-C319-4EA9-B4FE-13782BB3BCBE}" type="parTrans" cxnId="{E39E7FCC-5319-474C-9BB7-D1AE6BFC3FF1}">
      <dgm:prSet/>
      <dgm:spPr/>
      <dgm:t>
        <a:bodyPr/>
        <a:lstStyle/>
        <a:p>
          <a:endParaRPr lang="en-US"/>
        </a:p>
      </dgm:t>
    </dgm:pt>
    <dgm:pt modelId="{69655A7D-2A7C-4FE7-8695-3B8A2A1A1205}" type="sibTrans" cxnId="{E39E7FCC-5319-474C-9BB7-D1AE6BFC3FF1}">
      <dgm:prSet/>
      <dgm:spPr/>
      <dgm:t>
        <a:bodyPr/>
        <a:lstStyle/>
        <a:p>
          <a:endParaRPr lang="en-US"/>
        </a:p>
      </dgm:t>
    </dgm:pt>
    <dgm:pt modelId="{B19AE21B-D1F5-477C-A462-4D94005ED209}">
      <dgm:prSet/>
      <dgm:spPr/>
      <dgm:t>
        <a:bodyPr/>
        <a:lstStyle/>
        <a:p>
          <a:pPr rtl="0"/>
          <a:r>
            <a:rPr lang="en-US" b="1" i="0" baseline="0" dirty="0" smtClean="0"/>
            <a:t>Problem: </a:t>
          </a:r>
          <a:r>
            <a:rPr lang="en-US" dirty="0" smtClean="0"/>
            <a:t>How does the system serve some users at a different service level than others?</a:t>
          </a:r>
          <a:endParaRPr lang="en-US" i="1" dirty="0"/>
        </a:p>
      </dgm:t>
    </dgm:pt>
    <dgm:pt modelId="{05C022FE-3388-430A-BC24-26EDFB5F09CF}" type="parTrans" cxnId="{A3DF30C8-BF1D-4D5C-8AB3-01109FF36A90}">
      <dgm:prSet/>
      <dgm:spPr/>
      <dgm:t>
        <a:bodyPr/>
        <a:lstStyle/>
        <a:p>
          <a:endParaRPr lang="en-US"/>
        </a:p>
      </dgm:t>
    </dgm:pt>
    <dgm:pt modelId="{BC9AB391-5D1B-4C8E-951E-223963B13F39}" type="sibTrans" cxnId="{A3DF30C8-BF1D-4D5C-8AB3-01109FF36A90}">
      <dgm:prSet/>
      <dgm:spPr/>
      <dgm:t>
        <a:bodyPr/>
        <a:lstStyle/>
        <a:p>
          <a:endParaRPr lang="en-US"/>
        </a:p>
      </dgm:t>
    </dgm:pt>
    <dgm:pt modelId="{90989E1F-9BB8-42F2-B30F-C36254A16906}">
      <dgm:prSet/>
      <dgm:spPr/>
      <dgm:t>
        <a:bodyPr/>
        <a:lstStyle/>
        <a:p>
          <a:pPr rtl="0"/>
          <a:r>
            <a:rPr lang="en-US" b="1" i="0" baseline="0" dirty="0" smtClean="0"/>
            <a:t>Resulting Context : </a:t>
          </a:r>
          <a:r>
            <a:rPr lang="en-US" dirty="0" smtClean="0"/>
            <a:t>People are served based on relationship value</a:t>
          </a:r>
          <a:endParaRPr lang="en-US" i="1" dirty="0"/>
        </a:p>
      </dgm:t>
    </dgm:pt>
    <dgm:pt modelId="{43F06514-34BB-41A1-990F-B94DA2AF8C63}" type="parTrans" cxnId="{CE4723C4-B90D-4524-840F-DE8DF88C2C18}">
      <dgm:prSet/>
      <dgm:spPr/>
      <dgm:t>
        <a:bodyPr/>
        <a:lstStyle/>
        <a:p>
          <a:endParaRPr lang="en-US"/>
        </a:p>
      </dgm:t>
    </dgm:pt>
    <dgm:pt modelId="{365C0DDB-ED59-4EE6-9301-7273F9903745}" type="sibTrans" cxnId="{CE4723C4-B90D-4524-840F-DE8DF88C2C18}">
      <dgm:prSet/>
      <dgm:spPr/>
      <dgm:t>
        <a:bodyPr/>
        <a:lstStyle/>
        <a:p>
          <a:endParaRPr lang="en-US"/>
        </a:p>
      </dgm:t>
    </dgm:pt>
    <dgm:pt modelId="{19AADCDF-3DEA-4A8C-AF29-FAD9B7E5AB21}">
      <dgm:prSet/>
      <dgm:spPr/>
      <dgm:t>
        <a:bodyPr/>
        <a:lstStyle/>
        <a:p>
          <a:pPr rtl="0"/>
          <a:r>
            <a:rPr lang="en-US" b="1" i="0" baseline="0" dirty="0" smtClean="0"/>
            <a:t>Related Patterns : </a:t>
          </a:r>
          <a:r>
            <a:rPr lang="en-US" dirty="0" smtClean="0"/>
            <a:t>Trusted online brand : To ensure users don’t feel that some discrimination is happening</a:t>
          </a:r>
          <a:endParaRPr lang="en-US" b="0" dirty="0"/>
        </a:p>
      </dgm:t>
    </dgm:pt>
    <dgm:pt modelId="{56AAA3EB-4790-4B3C-A314-2CD94BEB769C}" type="parTrans" cxnId="{0DDA17DF-346F-4780-952F-78F3EBC2348A}">
      <dgm:prSet/>
      <dgm:spPr/>
      <dgm:t>
        <a:bodyPr/>
        <a:lstStyle/>
        <a:p>
          <a:endParaRPr lang="en-US"/>
        </a:p>
      </dgm:t>
    </dgm:pt>
    <dgm:pt modelId="{0E3F593E-6E41-48F7-B7DE-1342BC95428B}" type="sibTrans" cxnId="{0DDA17DF-346F-4780-952F-78F3EBC2348A}">
      <dgm:prSet/>
      <dgm:spPr/>
      <dgm:t>
        <a:bodyPr/>
        <a:lstStyle/>
        <a:p>
          <a:endParaRPr lang="en-US"/>
        </a:p>
      </dgm:t>
    </dgm:pt>
    <dgm:pt modelId="{8043F000-3576-4BD1-BB39-3FC262A2260C}">
      <dgm:prSet/>
      <dgm:spPr/>
      <dgm:t>
        <a:bodyPr/>
        <a:lstStyle/>
        <a:p>
          <a:pPr rtl="0"/>
          <a:r>
            <a:rPr lang="en-US" b="1" i="0" baseline="0" dirty="0" smtClean="0"/>
            <a:t>Known Uses </a:t>
          </a:r>
          <a:r>
            <a:rPr lang="en-US" b="1" i="1" baseline="0" dirty="0" smtClean="0"/>
            <a:t>:</a:t>
          </a:r>
          <a:r>
            <a:rPr lang="en-US" dirty="0" smtClean="0"/>
            <a:t>Some internet download providers like deposit files add a slight delay to free download customers. </a:t>
          </a:r>
          <a:endParaRPr lang="en-US" dirty="0"/>
        </a:p>
      </dgm:t>
    </dgm:pt>
    <dgm:pt modelId="{3AC02BB0-56AF-409D-9709-BA705843104F}" type="parTrans" cxnId="{89D84C8D-F4BC-4138-8080-1C5EAB1778A3}">
      <dgm:prSet/>
      <dgm:spPr/>
      <dgm:t>
        <a:bodyPr/>
        <a:lstStyle/>
        <a:p>
          <a:endParaRPr lang="en-US"/>
        </a:p>
      </dgm:t>
    </dgm:pt>
    <dgm:pt modelId="{064CF41B-F913-4882-8E50-C23990B5287D}" type="sibTrans" cxnId="{89D84C8D-F4BC-4138-8080-1C5EAB1778A3}">
      <dgm:prSet/>
      <dgm:spPr/>
      <dgm:t>
        <a:bodyPr/>
        <a:lstStyle/>
        <a:p>
          <a:endParaRPr lang="en-US"/>
        </a:p>
      </dgm:t>
    </dgm:pt>
    <dgm:pt modelId="{B33FD830-CF21-455F-B47C-29230CAFF8E5}">
      <dgm:prSet/>
      <dgm:spPr/>
      <dgm:t>
        <a:bodyPr/>
        <a:lstStyle/>
        <a:p>
          <a:pPr rtl="0"/>
          <a:r>
            <a:rPr lang="en-US" b="1" i="0" baseline="0" dirty="0" smtClean="0"/>
            <a:t>Solution example : </a:t>
          </a:r>
          <a:r>
            <a:rPr lang="en-US" dirty="0" smtClean="0"/>
            <a:t>For example introduce a time delay for low paying customers who can afford to wait. We can also give discounts to customers who have used the online channel considerably more in the past as compared to other customers.</a:t>
          </a:r>
          <a:endParaRPr lang="en-US" i="1" dirty="0"/>
        </a:p>
      </dgm:t>
    </dgm:pt>
    <dgm:pt modelId="{ABABFA8C-B3A7-489B-AE4E-12CD82DE6573}" type="parTrans" cxnId="{73FBEFA3-6B1D-4CA2-9A43-8262162D6868}">
      <dgm:prSet/>
      <dgm:spPr/>
      <dgm:t>
        <a:bodyPr/>
        <a:lstStyle/>
        <a:p>
          <a:endParaRPr lang="en-US"/>
        </a:p>
      </dgm:t>
    </dgm:pt>
    <dgm:pt modelId="{E7EBA716-263F-4C35-A285-48EB8E14C58B}" type="sibTrans" cxnId="{73FBEFA3-6B1D-4CA2-9A43-8262162D6868}">
      <dgm:prSet/>
      <dgm:spPr/>
      <dgm:t>
        <a:bodyPr/>
        <a:lstStyle/>
        <a:p>
          <a:endParaRPr lang="en-US"/>
        </a:p>
      </dgm:t>
    </dgm:pt>
    <dgm:pt modelId="{A99F4372-AF96-4E48-B693-D9380CD1263C}">
      <dgm:prSet/>
      <dgm:spPr/>
      <dgm:t>
        <a:bodyPr/>
        <a:lstStyle/>
        <a:p>
          <a:pPr rtl="0"/>
          <a:r>
            <a:rPr lang="en-US" b="1" i="0" baseline="0" dirty="0" smtClean="0"/>
            <a:t>Solution : </a:t>
          </a:r>
          <a:r>
            <a:rPr lang="en-US" dirty="0" smtClean="0"/>
            <a:t>Provide various classes of self service differentiated in terms of time, quality or cost. Segment the users and assign each segment to a given class. </a:t>
          </a:r>
          <a:endParaRPr lang="en-US" dirty="0"/>
        </a:p>
      </dgm:t>
    </dgm:pt>
    <dgm:pt modelId="{17A47165-893E-430F-8522-CF215607C8CC}" type="parTrans" cxnId="{01A0729C-7937-49AA-9A1D-BA992F01DFC1}">
      <dgm:prSet/>
      <dgm:spPr/>
      <dgm:t>
        <a:bodyPr/>
        <a:lstStyle/>
        <a:p>
          <a:endParaRPr lang="en-US"/>
        </a:p>
      </dgm:t>
    </dgm:pt>
    <dgm:pt modelId="{56184529-4952-4FEC-901C-39630D9851C1}" type="sibTrans" cxnId="{01A0729C-7937-49AA-9A1D-BA992F01DFC1}">
      <dgm:prSet/>
      <dgm:spPr/>
      <dgm:t>
        <a:bodyPr/>
        <a:lstStyle/>
        <a:p>
          <a:endParaRPr lang="en-US"/>
        </a:p>
      </dgm:t>
    </dgm:pt>
    <dgm:pt modelId="{68A5D258-A828-43C5-8579-D371C021E201}">
      <dgm:prSet/>
      <dgm:spPr/>
      <dgm:t>
        <a:bodyPr/>
        <a:lstStyle/>
        <a:p>
          <a:pPr rtl="0"/>
          <a:r>
            <a:rPr lang="en-US" b="1" i="0" baseline="0" dirty="0" smtClean="0"/>
            <a:t>Negative Consequences: </a:t>
          </a:r>
          <a:r>
            <a:rPr lang="en-US" dirty="0" smtClean="0"/>
            <a:t>The drawback of this pattern is customers may not like being segmented to lower classes of service and migrate to other providers and the service provider must ensure that appropriate mechanisms to control for such backlash.</a:t>
          </a:r>
          <a:endParaRPr lang="en-US" dirty="0"/>
        </a:p>
      </dgm:t>
    </dgm:pt>
    <dgm:pt modelId="{8E9657E5-E926-410B-9D77-A3C9B439E0E1}" type="parTrans" cxnId="{BD544647-CDDC-4B29-8B29-E3A7C56529F0}">
      <dgm:prSet/>
      <dgm:spPr/>
      <dgm:t>
        <a:bodyPr/>
        <a:lstStyle/>
        <a:p>
          <a:endParaRPr lang="en-US"/>
        </a:p>
      </dgm:t>
    </dgm:pt>
    <dgm:pt modelId="{C6E9D11B-48A2-49BB-81E5-4947805797EF}" type="sibTrans" cxnId="{BD544647-CDDC-4B29-8B29-E3A7C56529F0}">
      <dgm:prSet/>
      <dgm:spPr/>
      <dgm:t>
        <a:bodyPr/>
        <a:lstStyle/>
        <a:p>
          <a:endParaRPr lang="en-US"/>
        </a:p>
      </dgm:t>
    </dgm:pt>
    <dgm:pt modelId="{D749DD51-7B07-4ABE-A531-D21BF52A5F58}">
      <dgm:prSet/>
      <dgm:spPr/>
      <dgm:t>
        <a:bodyPr/>
        <a:lstStyle/>
        <a:p>
          <a:pPr rtl="0"/>
          <a:r>
            <a:rPr lang="en-US" b="1" i="0" baseline="0" dirty="0" smtClean="0"/>
            <a:t>Example: </a:t>
          </a:r>
          <a:r>
            <a:rPr lang="en-US" dirty="0" smtClean="0"/>
            <a:t>Some customers are high paying or need a different class of self service and some are low paying for a file download website. How to differentiate?</a:t>
          </a:r>
          <a:endParaRPr lang="en-US" i="1" dirty="0"/>
        </a:p>
      </dgm:t>
    </dgm:pt>
    <dgm:pt modelId="{092E7657-BD6D-47C0-BA78-3C570B5AF5B5}" type="parTrans" cxnId="{BCC15CA4-1437-4AFC-8556-037BE582F250}">
      <dgm:prSet/>
      <dgm:spPr/>
      <dgm:t>
        <a:bodyPr/>
        <a:lstStyle/>
        <a:p>
          <a:endParaRPr lang="en-US"/>
        </a:p>
      </dgm:t>
    </dgm:pt>
    <dgm:pt modelId="{D3BA7315-13D7-44B7-A56A-ABA7305E1C0B}" type="sibTrans" cxnId="{BCC15CA4-1437-4AFC-8556-037BE582F250}">
      <dgm:prSet/>
      <dgm:spPr/>
      <dgm:t>
        <a:bodyPr/>
        <a:lstStyle/>
        <a:p>
          <a:endParaRPr lang="en-US"/>
        </a:p>
      </dgm:t>
    </dgm:pt>
    <dgm:pt modelId="{E905F66D-C224-4CAF-8304-0D0318703D4D}">
      <dgm:prSet/>
      <dgm:spPr/>
      <dgm:t>
        <a:bodyPr/>
        <a:lstStyle/>
        <a:p>
          <a:pPr rtl="0"/>
          <a:r>
            <a:rPr lang="en-US" b="1" i="0" baseline="0" dirty="0" smtClean="0"/>
            <a:t>Forces: </a:t>
          </a:r>
          <a:r>
            <a:rPr lang="en-US" dirty="0" smtClean="0"/>
            <a:t>Service Cost, Long term versus short term</a:t>
          </a:r>
          <a:endParaRPr lang="en-US" i="1" dirty="0"/>
        </a:p>
      </dgm:t>
    </dgm:pt>
    <dgm:pt modelId="{DE4B5FE9-8727-408A-8B42-C20C4D0F6B62}" type="parTrans" cxnId="{03660BAE-19D6-45C9-8DC8-50087A3F0888}">
      <dgm:prSet/>
      <dgm:spPr/>
      <dgm:t>
        <a:bodyPr/>
        <a:lstStyle/>
        <a:p>
          <a:endParaRPr lang="en-US"/>
        </a:p>
      </dgm:t>
    </dgm:pt>
    <dgm:pt modelId="{E98F428E-4C38-421B-A3B0-A8028A0E5E75}" type="sibTrans" cxnId="{03660BAE-19D6-45C9-8DC8-50087A3F0888}">
      <dgm:prSet/>
      <dgm:spPr/>
      <dgm:t>
        <a:bodyPr/>
        <a:lstStyle/>
        <a:p>
          <a:endParaRPr lang="en-US"/>
        </a:p>
      </dgm:t>
    </dgm:pt>
    <dgm:pt modelId="{B1A4BFD5-AD52-45C8-9941-E9420CA43D42}" type="pres">
      <dgm:prSet presAssocID="{3648697E-C0C2-47E1-A581-CB19EC4DFBFE}" presName="Name0" presStyleCnt="0">
        <dgm:presLayoutVars>
          <dgm:dir/>
          <dgm:animLvl val="lvl"/>
          <dgm:resizeHandles val="exact"/>
        </dgm:presLayoutVars>
      </dgm:prSet>
      <dgm:spPr/>
      <dgm:t>
        <a:bodyPr/>
        <a:lstStyle/>
        <a:p>
          <a:endParaRPr lang="en-US"/>
        </a:p>
      </dgm:t>
    </dgm:pt>
    <dgm:pt modelId="{E3E58C47-AB2A-4A7B-B075-A0083CFE50F5}" type="pres">
      <dgm:prSet presAssocID="{413E6F72-34BF-47DC-B775-3E50330D2D58}" presName="composite" presStyleCnt="0"/>
      <dgm:spPr/>
    </dgm:pt>
    <dgm:pt modelId="{8605FF89-21C0-4C52-9D60-7882CD44458B}" type="pres">
      <dgm:prSet presAssocID="{413E6F72-34BF-47DC-B775-3E50330D2D58}" presName="parTx" presStyleLbl="alignNode1" presStyleIdx="0" presStyleCnt="1">
        <dgm:presLayoutVars>
          <dgm:chMax val="0"/>
          <dgm:chPref val="0"/>
          <dgm:bulletEnabled val="1"/>
        </dgm:presLayoutVars>
      </dgm:prSet>
      <dgm:spPr/>
      <dgm:t>
        <a:bodyPr/>
        <a:lstStyle/>
        <a:p>
          <a:endParaRPr lang="en-US"/>
        </a:p>
      </dgm:t>
    </dgm:pt>
    <dgm:pt modelId="{33DA84CE-87C9-4614-A8D9-C3FAE5FE1014}" type="pres">
      <dgm:prSet presAssocID="{413E6F72-34BF-47DC-B775-3E50330D2D58}" presName="desTx" presStyleLbl="alignAccFollowNode1" presStyleIdx="0" presStyleCnt="1">
        <dgm:presLayoutVars>
          <dgm:bulletEnabled val="1"/>
        </dgm:presLayoutVars>
      </dgm:prSet>
      <dgm:spPr/>
      <dgm:t>
        <a:bodyPr/>
        <a:lstStyle/>
        <a:p>
          <a:endParaRPr lang="en-US"/>
        </a:p>
      </dgm:t>
    </dgm:pt>
  </dgm:ptLst>
  <dgm:cxnLst>
    <dgm:cxn modelId="{01A0729C-7937-49AA-9A1D-BA992F01DFC1}" srcId="{413E6F72-34BF-47DC-B775-3E50330D2D58}" destId="{A99F4372-AF96-4E48-B693-D9380CD1263C}" srcOrd="4" destOrd="0" parTransId="{17A47165-893E-430F-8522-CF215607C8CC}" sibTransId="{56184529-4952-4FEC-901C-39630D9851C1}"/>
    <dgm:cxn modelId="{BD544647-CDDC-4B29-8B29-E3A7C56529F0}" srcId="{413E6F72-34BF-47DC-B775-3E50330D2D58}" destId="{68A5D258-A828-43C5-8579-D371C021E201}" srcOrd="9" destOrd="0" parTransId="{8E9657E5-E926-410B-9D77-A3C9B439E0E1}" sibTransId="{C6E9D11B-48A2-49BB-81E5-4947805797EF}"/>
    <dgm:cxn modelId="{4ECC46D1-1324-4206-8879-11FD1E84D9AC}" type="presOf" srcId="{19AADCDF-3DEA-4A8C-AF29-FAD9B7E5AB21}" destId="{33DA84CE-87C9-4614-A8D9-C3FAE5FE1014}" srcOrd="0" destOrd="7" presId="urn:microsoft.com/office/officeart/2005/8/layout/hList1"/>
    <dgm:cxn modelId="{CD542FF1-3D0B-4234-ABF3-B874639AE612}" type="presOf" srcId="{A99F4372-AF96-4E48-B693-D9380CD1263C}" destId="{33DA84CE-87C9-4614-A8D9-C3FAE5FE1014}" srcOrd="0" destOrd="4" presId="urn:microsoft.com/office/officeart/2005/8/layout/hList1"/>
    <dgm:cxn modelId="{AFA6614B-CEB6-4C3F-BD68-5076F8F3ECD0}" type="presOf" srcId="{90989E1F-9BB8-42F2-B30F-C36254A16906}" destId="{33DA84CE-87C9-4614-A8D9-C3FAE5FE1014}" srcOrd="0" destOrd="6" presId="urn:microsoft.com/office/officeart/2005/8/layout/hList1"/>
    <dgm:cxn modelId="{5582C4D7-19E4-49DB-84E5-A77253019A5F}" type="presOf" srcId="{413E6F72-34BF-47DC-B775-3E50330D2D58}" destId="{8605FF89-21C0-4C52-9D60-7882CD44458B}" srcOrd="0" destOrd="0" presId="urn:microsoft.com/office/officeart/2005/8/layout/hList1"/>
    <dgm:cxn modelId="{CE4723C4-B90D-4524-840F-DE8DF88C2C18}" srcId="{413E6F72-34BF-47DC-B775-3E50330D2D58}" destId="{90989E1F-9BB8-42F2-B30F-C36254A16906}" srcOrd="6" destOrd="0" parTransId="{43F06514-34BB-41A1-990F-B94DA2AF8C63}" sibTransId="{365C0DDB-ED59-4EE6-9301-7273F9903745}"/>
    <dgm:cxn modelId="{ADF18B94-5BD6-45CE-9583-B937E4146392}" type="presOf" srcId="{68A5D258-A828-43C5-8579-D371C021E201}" destId="{33DA84CE-87C9-4614-A8D9-C3FAE5FE1014}" srcOrd="0" destOrd="9" presId="urn:microsoft.com/office/officeart/2005/8/layout/hList1"/>
    <dgm:cxn modelId="{E39E7FCC-5319-474C-9BB7-D1AE6BFC3FF1}" srcId="{413E6F72-34BF-47DC-B775-3E50330D2D58}" destId="{5F8F6E57-0397-4838-AC14-27AC3168FFD1}" srcOrd="0" destOrd="0" parTransId="{BEB9FBEF-C319-4EA9-B4FE-13782BB3BCBE}" sibTransId="{69655A7D-2A7C-4FE7-8695-3B8A2A1A1205}"/>
    <dgm:cxn modelId="{F74EEE2F-7D37-4FDB-9B6C-F67F1F594E14}" type="presOf" srcId="{B19AE21B-D1F5-477C-A462-4D94005ED209}" destId="{33DA84CE-87C9-4614-A8D9-C3FAE5FE1014}" srcOrd="0" destOrd="1" presId="urn:microsoft.com/office/officeart/2005/8/layout/hList1"/>
    <dgm:cxn modelId="{8C8C604E-4BA4-4898-A897-AA68E2ED0511}" type="presOf" srcId="{E905F66D-C224-4CAF-8304-0D0318703D4D}" destId="{33DA84CE-87C9-4614-A8D9-C3FAE5FE1014}" srcOrd="0" destOrd="3" presId="urn:microsoft.com/office/officeart/2005/8/layout/hList1"/>
    <dgm:cxn modelId="{89D84C8D-F4BC-4138-8080-1C5EAB1778A3}" srcId="{413E6F72-34BF-47DC-B775-3E50330D2D58}" destId="{8043F000-3576-4BD1-BB39-3FC262A2260C}" srcOrd="8" destOrd="0" parTransId="{3AC02BB0-56AF-409D-9709-BA705843104F}" sibTransId="{064CF41B-F913-4882-8E50-C23990B5287D}"/>
    <dgm:cxn modelId="{18612E2A-EEAF-4A5C-BD86-C42255D0983D}" type="presOf" srcId="{3648697E-C0C2-47E1-A581-CB19EC4DFBFE}" destId="{B1A4BFD5-AD52-45C8-9941-E9420CA43D42}" srcOrd="0" destOrd="0" presId="urn:microsoft.com/office/officeart/2005/8/layout/hList1"/>
    <dgm:cxn modelId="{03660BAE-19D6-45C9-8DC8-50087A3F0888}" srcId="{413E6F72-34BF-47DC-B775-3E50330D2D58}" destId="{E905F66D-C224-4CAF-8304-0D0318703D4D}" srcOrd="3" destOrd="0" parTransId="{DE4B5FE9-8727-408A-8B42-C20C4D0F6B62}" sibTransId="{E98F428E-4C38-421B-A3B0-A8028A0E5E75}"/>
    <dgm:cxn modelId="{F7E99AD4-7592-4844-AEC2-1CBF1CFCD41F}" type="presOf" srcId="{D749DD51-7B07-4ABE-A531-D21BF52A5F58}" destId="{33DA84CE-87C9-4614-A8D9-C3FAE5FE1014}" srcOrd="0" destOrd="2" presId="urn:microsoft.com/office/officeart/2005/8/layout/hList1"/>
    <dgm:cxn modelId="{BCC15CA4-1437-4AFC-8556-037BE582F250}" srcId="{413E6F72-34BF-47DC-B775-3E50330D2D58}" destId="{D749DD51-7B07-4ABE-A531-D21BF52A5F58}" srcOrd="2" destOrd="0" parTransId="{092E7657-BD6D-47C0-BA78-3C570B5AF5B5}" sibTransId="{D3BA7315-13D7-44B7-A56A-ABA7305E1C0B}"/>
    <dgm:cxn modelId="{391AE0DE-AB42-4170-904F-444887EBE115}" type="presOf" srcId="{B33FD830-CF21-455F-B47C-29230CAFF8E5}" destId="{33DA84CE-87C9-4614-A8D9-C3FAE5FE1014}" srcOrd="0" destOrd="5" presId="urn:microsoft.com/office/officeart/2005/8/layout/hList1"/>
    <dgm:cxn modelId="{A49FEA5E-78AE-40F0-BA65-B1F935A336FF}" srcId="{3648697E-C0C2-47E1-A581-CB19EC4DFBFE}" destId="{413E6F72-34BF-47DC-B775-3E50330D2D58}" srcOrd="0" destOrd="0" parTransId="{57BC52C9-A681-4628-BF7D-C6319716EA58}" sibTransId="{773F7038-F3E3-457F-9985-E40AAAD8B413}"/>
    <dgm:cxn modelId="{73FBEFA3-6B1D-4CA2-9A43-8262162D6868}" srcId="{413E6F72-34BF-47DC-B775-3E50330D2D58}" destId="{B33FD830-CF21-455F-B47C-29230CAFF8E5}" srcOrd="5" destOrd="0" parTransId="{ABABFA8C-B3A7-489B-AE4E-12CD82DE6573}" sibTransId="{E7EBA716-263F-4C35-A285-48EB8E14C58B}"/>
    <dgm:cxn modelId="{DD480C1E-6741-4BD3-B556-54AC655EB185}" type="presOf" srcId="{8043F000-3576-4BD1-BB39-3FC262A2260C}" destId="{33DA84CE-87C9-4614-A8D9-C3FAE5FE1014}" srcOrd="0" destOrd="8" presId="urn:microsoft.com/office/officeart/2005/8/layout/hList1"/>
    <dgm:cxn modelId="{A3DF30C8-BF1D-4D5C-8AB3-01109FF36A90}" srcId="{413E6F72-34BF-47DC-B775-3E50330D2D58}" destId="{B19AE21B-D1F5-477C-A462-4D94005ED209}" srcOrd="1" destOrd="0" parTransId="{05C022FE-3388-430A-BC24-26EDFB5F09CF}" sibTransId="{BC9AB391-5D1B-4C8E-951E-223963B13F39}"/>
    <dgm:cxn modelId="{9264D876-5AE8-49B7-BA49-7DFA07BBCA4E}" type="presOf" srcId="{5F8F6E57-0397-4838-AC14-27AC3168FFD1}" destId="{33DA84CE-87C9-4614-A8D9-C3FAE5FE1014}" srcOrd="0" destOrd="0" presId="urn:microsoft.com/office/officeart/2005/8/layout/hList1"/>
    <dgm:cxn modelId="{0DDA17DF-346F-4780-952F-78F3EBC2348A}" srcId="{413E6F72-34BF-47DC-B775-3E50330D2D58}" destId="{19AADCDF-3DEA-4A8C-AF29-FAD9B7E5AB21}" srcOrd="7" destOrd="0" parTransId="{56AAA3EB-4790-4B3C-A314-2CD94BEB769C}" sibTransId="{0E3F593E-6E41-48F7-B7DE-1342BC95428B}"/>
    <dgm:cxn modelId="{ACE5664A-CA41-41A0-AFD4-768D89C8F0C4}" type="presParOf" srcId="{B1A4BFD5-AD52-45C8-9941-E9420CA43D42}" destId="{E3E58C47-AB2A-4A7B-B075-A0083CFE50F5}" srcOrd="0" destOrd="0" presId="urn:microsoft.com/office/officeart/2005/8/layout/hList1"/>
    <dgm:cxn modelId="{A196A2A5-BE03-49CA-A925-F78C0429C06F}" type="presParOf" srcId="{E3E58C47-AB2A-4A7B-B075-A0083CFE50F5}" destId="{8605FF89-21C0-4C52-9D60-7882CD44458B}" srcOrd="0" destOrd="0" presId="urn:microsoft.com/office/officeart/2005/8/layout/hList1"/>
    <dgm:cxn modelId="{28FA63F5-B9E7-47A6-8350-66B962586EB4}" type="presParOf" srcId="{E3E58C47-AB2A-4A7B-B075-A0083CFE50F5}" destId="{33DA84CE-87C9-4614-A8D9-C3FAE5FE101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0AD206-8E02-4B6C-AFA1-CB2D7B84D62B}">
      <dsp:nvSpPr>
        <dsp:cNvPr id="0" name=""/>
        <dsp:cNvSpPr/>
      </dsp:nvSpPr>
      <dsp:spPr>
        <a:xfrm>
          <a:off x="0" y="0"/>
          <a:ext cx="6546022" cy="654602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93A8C0C-93D7-4ACA-B859-5AB4F3EB1669}">
      <dsp:nvSpPr>
        <dsp:cNvPr id="0" name=""/>
        <dsp:cNvSpPr/>
      </dsp:nvSpPr>
      <dsp:spPr>
        <a:xfrm>
          <a:off x="3273011" y="0"/>
          <a:ext cx="13173478" cy="654602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lvl="0" algn="ctr" defTabSz="1333500" rtl="0">
            <a:lnSpc>
              <a:spcPct val="90000"/>
            </a:lnSpc>
            <a:spcBef>
              <a:spcPct val="0"/>
            </a:spcBef>
            <a:spcAft>
              <a:spcPct val="35000"/>
            </a:spcAft>
          </a:pPr>
          <a:r>
            <a:rPr lang="en-US" sz="3000" b="1" i="0" kern="1200" baseline="0" dirty="0" smtClean="0"/>
            <a:t>Customers are digitally savvy or native</a:t>
          </a:r>
          <a:endParaRPr lang="en-US" sz="3000" kern="1200" dirty="0"/>
        </a:p>
      </dsp:txBody>
      <dsp:txXfrm>
        <a:off x="3273011" y="0"/>
        <a:ext cx="13173478" cy="1047363"/>
      </dsp:txXfrm>
    </dsp:sp>
    <dsp:sp modelId="{27D38020-98F1-4563-92C0-08ECA39E3B21}">
      <dsp:nvSpPr>
        <dsp:cNvPr id="0" name=""/>
        <dsp:cNvSpPr/>
      </dsp:nvSpPr>
      <dsp:spPr>
        <a:xfrm>
          <a:off x="687332" y="1047363"/>
          <a:ext cx="5171357" cy="5171357"/>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7DB78A5-D496-4A32-AAA4-BD3967271ED6}">
      <dsp:nvSpPr>
        <dsp:cNvPr id="0" name=""/>
        <dsp:cNvSpPr/>
      </dsp:nvSpPr>
      <dsp:spPr>
        <a:xfrm>
          <a:off x="3273011" y="1047363"/>
          <a:ext cx="13173478" cy="517135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lvl="0" algn="ctr" defTabSz="1333500" rtl="0">
            <a:lnSpc>
              <a:spcPct val="90000"/>
            </a:lnSpc>
            <a:spcBef>
              <a:spcPct val="0"/>
            </a:spcBef>
            <a:spcAft>
              <a:spcPct val="35000"/>
            </a:spcAft>
          </a:pPr>
          <a:r>
            <a:rPr lang="en-US" sz="3000" b="1" i="0" kern="1200" baseline="0" dirty="0" smtClean="0"/>
            <a:t>Customers are well connected due to increasing penetration  of the internet and high end devices</a:t>
          </a:r>
          <a:endParaRPr lang="en-US" sz="3000" kern="1200" dirty="0"/>
        </a:p>
      </dsp:txBody>
      <dsp:txXfrm>
        <a:off x="3273011" y="1047363"/>
        <a:ext cx="13173478" cy="1047363"/>
      </dsp:txXfrm>
    </dsp:sp>
    <dsp:sp modelId="{7F0BC675-091F-4FD3-8841-82035D837E6A}">
      <dsp:nvSpPr>
        <dsp:cNvPr id="0" name=""/>
        <dsp:cNvSpPr/>
      </dsp:nvSpPr>
      <dsp:spPr>
        <a:xfrm>
          <a:off x="1374664" y="2094727"/>
          <a:ext cx="3796692" cy="3796692"/>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30606D-5557-4905-B036-976DF0F6AF8E}">
      <dsp:nvSpPr>
        <dsp:cNvPr id="0" name=""/>
        <dsp:cNvSpPr/>
      </dsp:nvSpPr>
      <dsp:spPr>
        <a:xfrm>
          <a:off x="3273011" y="2094727"/>
          <a:ext cx="13173478" cy="3796692"/>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lvl="0" algn="ctr" defTabSz="1333500" rtl="0">
            <a:lnSpc>
              <a:spcPct val="90000"/>
            </a:lnSpc>
            <a:spcBef>
              <a:spcPct val="0"/>
            </a:spcBef>
            <a:spcAft>
              <a:spcPct val="35000"/>
            </a:spcAft>
          </a:pPr>
          <a:r>
            <a:rPr lang="en-US" sz="3000" b="1" i="0" kern="1200" baseline="0" dirty="0" smtClean="0"/>
            <a:t>Increasing information richness due to big data  means customers can find the knowledge themselves</a:t>
          </a:r>
          <a:endParaRPr lang="en-US" sz="3000" kern="1200" dirty="0"/>
        </a:p>
      </dsp:txBody>
      <dsp:txXfrm>
        <a:off x="3273011" y="2094727"/>
        <a:ext cx="13173478" cy="1047363"/>
      </dsp:txXfrm>
    </dsp:sp>
    <dsp:sp modelId="{48249C73-E9C8-4CE0-A852-3FE00EA71C12}">
      <dsp:nvSpPr>
        <dsp:cNvPr id="0" name=""/>
        <dsp:cNvSpPr/>
      </dsp:nvSpPr>
      <dsp:spPr>
        <a:xfrm>
          <a:off x="2061996" y="3142090"/>
          <a:ext cx="2422028" cy="2422028"/>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491777-70C6-4A29-AC4D-6DD2BB702A12}">
      <dsp:nvSpPr>
        <dsp:cNvPr id="0" name=""/>
        <dsp:cNvSpPr/>
      </dsp:nvSpPr>
      <dsp:spPr>
        <a:xfrm>
          <a:off x="3273011" y="3142090"/>
          <a:ext cx="13173478" cy="2422028"/>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lvl="0" algn="ctr" defTabSz="1333500" rtl="0">
            <a:lnSpc>
              <a:spcPct val="90000"/>
            </a:lnSpc>
            <a:spcBef>
              <a:spcPct val="0"/>
            </a:spcBef>
            <a:spcAft>
              <a:spcPct val="35000"/>
            </a:spcAft>
          </a:pPr>
          <a:r>
            <a:rPr lang="en-US" sz="3000" b="1" i="0" kern="1200" baseline="0" dirty="0" smtClean="0"/>
            <a:t>Customers do not want to wait for service agent due to the hold time</a:t>
          </a:r>
          <a:endParaRPr lang="en-US" sz="3000" kern="1200" dirty="0"/>
        </a:p>
      </dsp:txBody>
      <dsp:txXfrm>
        <a:off x="3273011" y="3142090"/>
        <a:ext cx="13173478" cy="1047363"/>
      </dsp:txXfrm>
    </dsp:sp>
    <dsp:sp modelId="{9D2149A8-5B0D-4B5D-9D31-8D10A2F231E5}">
      <dsp:nvSpPr>
        <dsp:cNvPr id="0" name=""/>
        <dsp:cNvSpPr/>
      </dsp:nvSpPr>
      <dsp:spPr>
        <a:xfrm>
          <a:off x="2749329" y="4189454"/>
          <a:ext cx="1047363" cy="1047363"/>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42F6F80-F190-4842-8E46-E07D5386DF97}">
      <dsp:nvSpPr>
        <dsp:cNvPr id="0" name=""/>
        <dsp:cNvSpPr/>
      </dsp:nvSpPr>
      <dsp:spPr>
        <a:xfrm>
          <a:off x="3273011" y="4189454"/>
          <a:ext cx="13173478" cy="1047363"/>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lvl="0" algn="ctr" defTabSz="1333500" rtl="0">
            <a:lnSpc>
              <a:spcPct val="90000"/>
            </a:lnSpc>
            <a:spcBef>
              <a:spcPct val="0"/>
            </a:spcBef>
            <a:spcAft>
              <a:spcPct val="35000"/>
            </a:spcAft>
          </a:pPr>
          <a:r>
            <a:rPr lang="en-US" sz="3000" b="1" i="0" kern="1200" baseline="0" smtClean="0"/>
            <a:t>AI has matured  to the extent that intelligent self service is possible</a:t>
          </a:r>
          <a:endParaRPr lang="en-US" sz="3000" kern="1200"/>
        </a:p>
      </dsp:txBody>
      <dsp:txXfrm>
        <a:off x="3273011" y="4189454"/>
        <a:ext cx="13173478" cy="10473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92276A-C0D9-4A3B-B9B3-62B0F5A7CFA9}">
      <dsp:nvSpPr>
        <dsp:cNvPr id="0" name=""/>
        <dsp:cNvSpPr/>
      </dsp:nvSpPr>
      <dsp:spPr>
        <a:xfrm>
          <a:off x="0" y="0"/>
          <a:ext cx="8631395" cy="8631395"/>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C62887-45AD-4DED-BE8C-CC250903A571}">
      <dsp:nvSpPr>
        <dsp:cNvPr id="0" name=""/>
        <dsp:cNvSpPr/>
      </dsp:nvSpPr>
      <dsp:spPr>
        <a:xfrm>
          <a:off x="4315697" y="0"/>
          <a:ext cx="14007893" cy="8631395"/>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b="1" kern="1200" dirty="0" smtClean="0"/>
            <a:t>Self Service reduces transaction costs by 1/10</a:t>
          </a:r>
          <a:r>
            <a:rPr lang="en-US" sz="2600" b="1" kern="1200" baseline="30000" dirty="0" smtClean="0"/>
            <a:t>th</a:t>
          </a:r>
          <a:r>
            <a:rPr lang="en-US" sz="2600" b="1" kern="1200" dirty="0" smtClean="0"/>
            <a:t> of a normal human interaction</a:t>
          </a:r>
          <a:endParaRPr lang="en-US" sz="2600" b="1" kern="1200" dirty="0"/>
        </a:p>
      </dsp:txBody>
      <dsp:txXfrm>
        <a:off x="4315697" y="0"/>
        <a:ext cx="14007893" cy="863138"/>
      </dsp:txXfrm>
    </dsp:sp>
    <dsp:sp modelId="{33FDFC79-C12B-4AB2-8CFE-B72885269855}">
      <dsp:nvSpPr>
        <dsp:cNvPr id="0" name=""/>
        <dsp:cNvSpPr/>
      </dsp:nvSpPr>
      <dsp:spPr>
        <a:xfrm>
          <a:off x="647353" y="863138"/>
          <a:ext cx="7336687" cy="7336687"/>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9CCB7B-368C-491D-8858-2A6A16766F86}">
      <dsp:nvSpPr>
        <dsp:cNvPr id="0" name=""/>
        <dsp:cNvSpPr/>
      </dsp:nvSpPr>
      <dsp:spPr>
        <a:xfrm>
          <a:off x="4315697" y="863138"/>
          <a:ext cx="14007893" cy="7336687"/>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b="1" kern="1200" dirty="0" smtClean="0"/>
            <a:t>Self Service improves overall customer experience quality like speed and satisfaction. </a:t>
          </a:r>
          <a:endParaRPr lang="en-US" sz="2600" b="1" kern="1200" dirty="0"/>
        </a:p>
      </dsp:txBody>
      <dsp:txXfrm>
        <a:off x="4315697" y="863138"/>
        <a:ext cx="14007893" cy="863138"/>
      </dsp:txXfrm>
    </dsp:sp>
    <dsp:sp modelId="{EC9AC03F-ECB8-4D56-8446-2A7FF2A8E766}">
      <dsp:nvSpPr>
        <dsp:cNvPr id="0" name=""/>
        <dsp:cNvSpPr/>
      </dsp:nvSpPr>
      <dsp:spPr>
        <a:xfrm>
          <a:off x="1294707" y="1726276"/>
          <a:ext cx="6041979" cy="6041979"/>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46CCBE-59ED-4987-A1C3-9E0BE532C5FD}">
      <dsp:nvSpPr>
        <dsp:cNvPr id="0" name=""/>
        <dsp:cNvSpPr/>
      </dsp:nvSpPr>
      <dsp:spPr>
        <a:xfrm>
          <a:off x="4315697" y="1726276"/>
          <a:ext cx="14007893" cy="604197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b="1" kern="1200" dirty="0" smtClean="0"/>
            <a:t>Self Service improves customer loyalty</a:t>
          </a:r>
          <a:endParaRPr lang="en-US" sz="2600" b="1" kern="1200" dirty="0"/>
        </a:p>
      </dsp:txBody>
      <dsp:txXfrm>
        <a:off x="4315697" y="1726276"/>
        <a:ext cx="14007893" cy="863138"/>
      </dsp:txXfrm>
    </dsp:sp>
    <dsp:sp modelId="{CE064E6B-046A-4455-8699-34902DCB676A}">
      <dsp:nvSpPr>
        <dsp:cNvPr id="0" name=""/>
        <dsp:cNvSpPr/>
      </dsp:nvSpPr>
      <dsp:spPr>
        <a:xfrm>
          <a:off x="1942061" y="2589414"/>
          <a:ext cx="4747271" cy="4747271"/>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9B484B-3A86-4351-92FC-EA65B1B6DAC9}">
      <dsp:nvSpPr>
        <dsp:cNvPr id="0" name=""/>
        <dsp:cNvSpPr/>
      </dsp:nvSpPr>
      <dsp:spPr>
        <a:xfrm>
          <a:off x="4315697" y="2589414"/>
          <a:ext cx="14007893" cy="4747271"/>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b="1" kern="1200" dirty="0" smtClean="0"/>
            <a:t>Self Service improves Availability</a:t>
          </a:r>
          <a:endParaRPr lang="en-US" sz="2600" b="1" kern="1200" dirty="0"/>
        </a:p>
      </dsp:txBody>
      <dsp:txXfrm>
        <a:off x="4315697" y="2589414"/>
        <a:ext cx="14007893" cy="863147"/>
      </dsp:txXfrm>
    </dsp:sp>
    <dsp:sp modelId="{94DD0A44-4BAD-4311-9174-449C74A7523F}">
      <dsp:nvSpPr>
        <dsp:cNvPr id="0" name=""/>
        <dsp:cNvSpPr/>
      </dsp:nvSpPr>
      <dsp:spPr>
        <a:xfrm>
          <a:off x="2589420" y="3452561"/>
          <a:ext cx="3452554" cy="3452554"/>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DDE89D-2E67-4201-958B-D91D81F5B356}">
      <dsp:nvSpPr>
        <dsp:cNvPr id="0" name=""/>
        <dsp:cNvSpPr/>
      </dsp:nvSpPr>
      <dsp:spPr>
        <a:xfrm>
          <a:off x="4315697" y="3452561"/>
          <a:ext cx="14007893" cy="3452554"/>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b="1" kern="1200" dirty="0" smtClean="0"/>
            <a:t>90% of e-commerce customers expect Self Service</a:t>
          </a:r>
          <a:endParaRPr lang="en-US" sz="2600" b="1" kern="1200" dirty="0"/>
        </a:p>
      </dsp:txBody>
      <dsp:txXfrm>
        <a:off x="4315697" y="3452561"/>
        <a:ext cx="14007893" cy="863138"/>
      </dsp:txXfrm>
    </dsp:sp>
    <dsp:sp modelId="{C4C7AAD3-A679-441A-B958-762B5FCAA8DC}">
      <dsp:nvSpPr>
        <dsp:cNvPr id="0" name=""/>
        <dsp:cNvSpPr/>
      </dsp:nvSpPr>
      <dsp:spPr>
        <a:xfrm>
          <a:off x="3236774" y="4315700"/>
          <a:ext cx="2157846" cy="2157846"/>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59C081-793D-4C14-B392-AE2B7FB54C21}">
      <dsp:nvSpPr>
        <dsp:cNvPr id="0" name=""/>
        <dsp:cNvSpPr/>
      </dsp:nvSpPr>
      <dsp:spPr>
        <a:xfrm>
          <a:off x="4315697" y="4315700"/>
          <a:ext cx="14007893" cy="2157846"/>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b="1" kern="1200" dirty="0" smtClean="0"/>
            <a:t>Self Service can be easily secured, centralized and scaled</a:t>
          </a:r>
          <a:endParaRPr lang="en-US" sz="2600" b="1" kern="1200" dirty="0"/>
        </a:p>
      </dsp:txBody>
      <dsp:txXfrm>
        <a:off x="4315697" y="4315700"/>
        <a:ext cx="14007893" cy="863138"/>
      </dsp:txXfrm>
    </dsp:sp>
    <dsp:sp modelId="{FBC2335A-9531-42EC-9ECD-55A8493AFB5E}">
      <dsp:nvSpPr>
        <dsp:cNvPr id="0" name=""/>
        <dsp:cNvSpPr/>
      </dsp:nvSpPr>
      <dsp:spPr>
        <a:xfrm>
          <a:off x="3884128" y="5178838"/>
          <a:ext cx="863138" cy="863138"/>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3868CE-98EC-429B-BA91-61E24235B583}">
      <dsp:nvSpPr>
        <dsp:cNvPr id="0" name=""/>
        <dsp:cNvSpPr/>
      </dsp:nvSpPr>
      <dsp:spPr>
        <a:xfrm>
          <a:off x="4315697" y="5178838"/>
          <a:ext cx="14007893" cy="863138"/>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en-US" sz="2600" b="1" kern="1200" dirty="0" smtClean="0"/>
            <a:t>Self Service helps the employees to move away from routine business tasks</a:t>
          </a:r>
          <a:endParaRPr lang="en-US" sz="2600" b="1" kern="1200" dirty="0"/>
        </a:p>
      </dsp:txBody>
      <dsp:txXfrm>
        <a:off x="4315697" y="5178838"/>
        <a:ext cx="14007893" cy="863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347826"/>
          <a:ext cx="19751040" cy="1209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704" tIns="170688" rIns="298704" bIns="170688" numCol="1" spcCol="1270" anchor="ctr" anchorCtr="0">
          <a:noAutofit/>
        </a:bodyPr>
        <a:lstStyle/>
        <a:p>
          <a:pPr lvl="0" algn="ctr" defTabSz="1866900" rtl="0">
            <a:lnSpc>
              <a:spcPct val="90000"/>
            </a:lnSpc>
            <a:spcBef>
              <a:spcPct val="0"/>
            </a:spcBef>
            <a:spcAft>
              <a:spcPct val="35000"/>
            </a:spcAft>
          </a:pPr>
          <a:r>
            <a:rPr lang="en-US" sz="4200" b="1" i="0" kern="1200" baseline="0" smtClean="0"/>
            <a:t>Context </a:t>
          </a:r>
          <a:endParaRPr lang="en-US" sz="4200" kern="1200"/>
        </a:p>
      </dsp:txBody>
      <dsp:txXfrm>
        <a:off x="0" y="347826"/>
        <a:ext cx="19751040" cy="1209600"/>
      </dsp:txXfrm>
    </dsp:sp>
    <dsp:sp modelId="{33DA84CE-87C9-4614-A8D9-C3FAE5FE1014}">
      <dsp:nvSpPr>
        <dsp:cNvPr id="0" name=""/>
        <dsp:cNvSpPr/>
      </dsp:nvSpPr>
      <dsp:spPr>
        <a:xfrm>
          <a:off x="0" y="1557426"/>
          <a:ext cx="19751040" cy="830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4028" tIns="224028" rIns="298704" bIns="336042" numCol="1" spcCol="1270" anchor="t" anchorCtr="0">
          <a:noAutofit/>
        </a:bodyPr>
        <a:lstStyle/>
        <a:p>
          <a:pPr marL="285750" lvl="1" indent="-285750" algn="l" defTabSz="1866900" rtl="0">
            <a:lnSpc>
              <a:spcPct val="90000"/>
            </a:lnSpc>
            <a:spcBef>
              <a:spcPct val="0"/>
            </a:spcBef>
            <a:spcAft>
              <a:spcPct val="15000"/>
            </a:spcAft>
            <a:buChar char="••"/>
          </a:pPr>
          <a:r>
            <a:rPr lang="en-US" sz="4200" b="1" i="0" kern="1200" baseline="0" dirty="0" smtClean="0"/>
            <a:t>Specific context :  </a:t>
          </a:r>
          <a:r>
            <a:rPr lang="en-US" sz="4200" b="0" i="1" kern="1200" baseline="0" dirty="0" smtClean="0"/>
            <a:t>In what environment(s) do we see this problem?</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Problem: </a:t>
          </a:r>
          <a:r>
            <a:rPr lang="en-US" sz="4200" b="0" i="1" kern="1200" baseline="0" dirty="0" smtClean="0"/>
            <a:t>What is the problem we are trying to solve?</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Example: </a:t>
          </a:r>
          <a:r>
            <a:rPr lang="en-US" sz="4200" b="0" i="1" kern="1200" baseline="0" dirty="0" smtClean="0"/>
            <a:t>An example of the problem</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Forces: </a:t>
          </a:r>
          <a:r>
            <a:rPr lang="en-US" sz="4200" b="0" i="1" kern="1200" baseline="0" dirty="0" smtClean="0"/>
            <a:t>What makes the problem hard to solve</a:t>
          </a:r>
          <a:r>
            <a:rPr lang="en-US" sz="4200" b="1" i="0" kern="1200" baseline="0" dirty="0" smtClean="0"/>
            <a:t>	</a:t>
          </a:r>
          <a:endParaRPr lang="en-US" sz="4200" kern="1200" dirty="0"/>
        </a:p>
        <a:p>
          <a:pPr marL="285750" lvl="1" indent="-285750" algn="l" defTabSz="1866900" rtl="0">
            <a:lnSpc>
              <a:spcPct val="90000"/>
            </a:lnSpc>
            <a:spcBef>
              <a:spcPct val="0"/>
            </a:spcBef>
            <a:spcAft>
              <a:spcPct val="15000"/>
            </a:spcAft>
            <a:buChar char="••"/>
          </a:pPr>
          <a:r>
            <a:rPr lang="en-US" sz="4200" b="1" i="0" kern="1200" baseline="0" dirty="0" smtClean="0"/>
            <a:t>Solution : </a:t>
          </a:r>
          <a:r>
            <a:rPr lang="en-US" sz="4200" b="0" i="1" kern="1200" baseline="0" dirty="0" smtClean="0"/>
            <a:t>How we solve the problem?</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Solution example : </a:t>
          </a:r>
          <a:r>
            <a:rPr lang="en-US" sz="4200" b="0" i="0" kern="1200" baseline="0" dirty="0" smtClean="0"/>
            <a:t>Two examples</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Resulting Context : </a:t>
          </a:r>
          <a:r>
            <a:rPr lang="en-US" sz="4200" b="0" i="1" kern="1200" baseline="0" dirty="0" smtClean="0"/>
            <a:t>The environment created by the resolution of the problem</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Related Patterns : </a:t>
          </a:r>
          <a:r>
            <a:rPr lang="en-US" sz="4200" b="0" i="1" kern="1200" baseline="0" dirty="0" smtClean="0"/>
            <a:t>Other Patterns</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Known Uses </a:t>
          </a:r>
          <a:r>
            <a:rPr lang="en-US" sz="4200" b="1" i="1" kern="1200" baseline="0" dirty="0" smtClean="0"/>
            <a:t>: </a:t>
          </a:r>
          <a:r>
            <a:rPr lang="en-US" sz="4200" b="0" i="1" kern="1200" baseline="0" dirty="0" smtClean="0"/>
            <a:t>Examples in Real Systems</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Negative Consequences: </a:t>
          </a:r>
          <a:r>
            <a:rPr lang="en-US" sz="4200" b="0" i="1" kern="1200" baseline="0" dirty="0" smtClean="0"/>
            <a:t>Does this pattern have negative consequences? If so what is the mitigation?</a:t>
          </a:r>
          <a:endParaRPr lang="en-US" sz="4200" b="0" i="1" kern="1200" dirty="0"/>
        </a:p>
        <a:p>
          <a:pPr marL="285750" lvl="1" indent="-285750" algn="l" defTabSz="1866900" rtl="0">
            <a:lnSpc>
              <a:spcPct val="90000"/>
            </a:lnSpc>
            <a:spcBef>
              <a:spcPct val="0"/>
            </a:spcBef>
            <a:spcAft>
              <a:spcPct val="15000"/>
            </a:spcAft>
            <a:buChar char="••"/>
          </a:pPr>
          <a:r>
            <a:rPr lang="en-US" sz="4200" b="1" i="0" kern="1200" baseline="0" dirty="0" smtClean="0"/>
            <a:t>Illustration : </a:t>
          </a:r>
          <a:r>
            <a:rPr lang="en-US" sz="4200" b="0" i="1" kern="1200" baseline="0" dirty="0" smtClean="0"/>
            <a:t>A picture of the pattern in real use</a:t>
          </a:r>
          <a:endParaRPr lang="en-US" sz="4200" b="0" i="1" kern="1200" dirty="0"/>
        </a:p>
      </dsp:txBody>
      <dsp:txXfrm>
        <a:off x="0" y="1557426"/>
        <a:ext cx="19751040" cy="83008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800616"/>
          <a:ext cx="13368528" cy="864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lvl="0" algn="ctr" defTabSz="1333500" rtl="0">
            <a:lnSpc>
              <a:spcPct val="90000"/>
            </a:lnSpc>
            <a:spcBef>
              <a:spcPct val="0"/>
            </a:spcBef>
            <a:spcAft>
              <a:spcPct val="35000"/>
            </a:spcAft>
          </a:pPr>
          <a:r>
            <a:rPr lang="en-US" sz="3000" b="1" i="0" kern="1200" baseline="0" smtClean="0"/>
            <a:t>Context </a:t>
          </a:r>
          <a:endParaRPr lang="en-US" sz="3000" kern="1200"/>
        </a:p>
      </dsp:txBody>
      <dsp:txXfrm>
        <a:off x="0" y="800616"/>
        <a:ext cx="13368528" cy="864000"/>
      </dsp:txXfrm>
    </dsp:sp>
    <dsp:sp modelId="{33DA84CE-87C9-4614-A8D9-C3FAE5FE1014}">
      <dsp:nvSpPr>
        <dsp:cNvPr id="0" name=""/>
        <dsp:cNvSpPr/>
      </dsp:nvSpPr>
      <dsp:spPr>
        <a:xfrm>
          <a:off x="0" y="1664616"/>
          <a:ext cx="13368528" cy="77409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rtl="0">
            <a:lnSpc>
              <a:spcPct val="90000"/>
            </a:lnSpc>
            <a:spcBef>
              <a:spcPct val="0"/>
            </a:spcBef>
            <a:spcAft>
              <a:spcPct val="15000"/>
            </a:spcAft>
            <a:buChar char="••"/>
          </a:pPr>
          <a:r>
            <a:rPr lang="en-US" sz="3000" b="1" i="0" kern="1200" baseline="0" dirty="0" smtClean="0"/>
            <a:t>Specific context :  </a:t>
          </a:r>
          <a:r>
            <a:rPr lang="en-US" sz="3000" kern="1200" dirty="0" smtClean="0"/>
            <a:t>Users want better self service as they grow used to the channel and existing self service interfaces</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Problem: </a:t>
          </a:r>
          <a:r>
            <a:rPr lang="en-US" sz="3000" kern="1200" dirty="0" smtClean="0"/>
            <a:t>How to enable customers to chose better methods of self service given the same set of service options meeting the customer objectives?</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Example: </a:t>
          </a:r>
          <a:r>
            <a:rPr lang="en-US" sz="3000" kern="1200" dirty="0" smtClean="0"/>
            <a:t>For example users may want to pay their bills with one click. </a:t>
          </a:r>
          <a:endParaRPr lang="en-US" sz="3000" kern="1200" dirty="0"/>
        </a:p>
        <a:p>
          <a:pPr marL="285750" lvl="1" indent="-285750" algn="l" defTabSz="1333500" rtl="0">
            <a:lnSpc>
              <a:spcPct val="90000"/>
            </a:lnSpc>
            <a:spcBef>
              <a:spcPct val="0"/>
            </a:spcBef>
            <a:spcAft>
              <a:spcPct val="15000"/>
            </a:spcAft>
            <a:buChar char="••"/>
          </a:pPr>
          <a:r>
            <a:rPr lang="en-US" sz="3000" b="1" i="0" kern="1200" baseline="0" dirty="0" smtClean="0"/>
            <a:t>Forces: </a:t>
          </a:r>
          <a:r>
            <a:rPr lang="en-US" sz="3000" kern="1200" dirty="0" smtClean="0"/>
            <a:t>Lack of Time, Complexity, Learning effects, Trust</a:t>
          </a:r>
          <a:r>
            <a:rPr lang="en-US" sz="3000" b="1" i="0" kern="1200" baseline="0" dirty="0" smtClean="0"/>
            <a:t>	</a:t>
          </a:r>
          <a:endParaRPr lang="en-US" sz="3000" kern="1200" dirty="0"/>
        </a:p>
        <a:p>
          <a:pPr marL="285750" lvl="1" indent="-285750" algn="l" defTabSz="1333500" rtl="0">
            <a:lnSpc>
              <a:spcPct val="90000"/>
            </a:lnSpc>
            <a:spcBef>
              <a:spcPct val="0"/>
            </a:spcBef>
            <a:spcAft>
              <a:spcPct val="15000"/>
            </a:spcAft>
            <a:buChar char="••"/>
          </a:pPr>
          <a:r>
            <a:rPr lang="en-US" sz="3000" b="1" i="0" kern="1200" baseline="0" dirty="0" smtClean="0"/>
            <a:t>Solution :</a:t>
          </a:r>
          <a:r>
            <a:rPr lang="en-US" sz="3000" kern="1200" dirty="0" smtClean="0"/>
            <a:t>Create an interface option that allows bypassing some self serve choices.</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Solution example :</a:t>
          </a:r>
          <a:r>
            <a:rPr lang="en-US" sz="3000" kern="1200" dirty="0" smtClean="0"/>
            <a:t>A checkbox for power users that allows bypassing repetitive self serve.</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Resulting Context : </a:t>
          </a:r>
          <a:r>
            <a:rPr lang="en-US" sz="3000" kern="1200" dirty="0" smtClean="0"/>
            <a:t>A faster self service experience for experience users.  </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Related Patterns : </a:t>
          </a:r>
          <a:r>
            <a:rPr lang="en-US" sz="3000" kern="1200" dirty="0" smtClean="0"/>
            <a:t>Tiered Service</a:t>
          </a:r>
          <a:endParaRPr lang="en-US" sz="3000" kern="1200" dirty="0"/>
        </a:p>
        <a:p>
          <a:pPr marL="285750" lvl="1" indent="-285750" algn="l" defTabSz="1333500" rtl="0">
            <a:lnSpc>
              <a:spcPct val="90000"/>
            </a:lnSpc>
            <a:spcBef>
              <a:spcPct val="0"/>
            </a:spcBef>
            <a:spcAft>
              <a:spcPct val="15000"/>
            </a:spcAft>
            <a:buChar char="••"/>
          </a:pPr>
          <a:r>
            <a:rPr lang="en-US" sz="3000" b="1" i="0" kern="1200" baseline="0" dirty="0" smtClean="0"/>
            <a:t>Known Uses </a:t>
          </a:r>
          <a:r>
            <a:rPr lang="en-US" sz="3000" b="1" i="1" kern="1200" baseline="0" dirty="0" smtClean="0"/>
            <a:t>:</a:t>
          </a:r>
          <a:r>
            <a:rPr lang="en-US" sz="3000" kern="1200" dirty="0" smtClean="0"/>
            <a:t>E-commerce often stores credit card information for reuse.</a:t>
          </a:r>
          <a:endParaRPr lang="en-US" sz="3000" kern="1200" dirty="0"/>
        </a:p>
        <a:p>
          <a:pPr marL="285750" lvl="1" indent="-285750" algn="l" defTabSz="1333500" rtl="0">
            <a:lnSpc>
              <a:spcPct val="90000"/>
            </a:lnSpc>
            <a:spcBef>
              <a:spcPct val="0"/>
            </a:spcBef>
            <a:spcAft>
              <a:spcPct val="15000"/>
            </a:spcAft>
            <a:buChar char="••"/>
          </a:pPr>
          <a:r>
            <a:rPr lang="en-US" sz="3000" b="1" i="0" kern="1200" baseline="0" dirty="0" smtClean="0"/>
            <a:t>Negative Consequences: </a:t>
          </a:r>
          <a:r>
            <a:rPr lang="en-US" sz="3000" kern="1200" dirty="0" smtClean="0"/>
            <a:t>The pattern may increase the mistakes that can be made by the unaware, so some caution must be applied for self service tasks that cannot be reverted. For example they may auto-renew services they no longer need or even these journeys may not be childproof.</a:t>
          </a:r>
          <a:endParaRPr lang="en-US" sz="3000" i="1" kern="1200" dirty="0"/>
        </a:p>
      </dsp:txBody>
      <dsp:txXfrm>
        <a:off x="0" y="1664616"/>
        <a:ext cx="13368528" cy="77409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19137"/>
          <a:ext cx="13368528" cy="777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lvl="0" algn="ctr" defTabSz="1200150" rtl="0">
            <a:lnSpc>
              <a:spcPct val="90000"/>
            </a:lnSpc>
            <a:spcBef>
              <a:spcPct val="0"/>
            </a:spcBef>
            <a:spcAft>
              <a:spcPct val="35000"/>
            </a:spcAft>
          </a:pPr>
          <a:r>
            <a:rPr lang="en-US" sz="2700" b="1" i="0" kern="1200" baseline="0" smtClean="0"/>
            <a:t>Context </a:t>
          </a:r>
          <a:endParaRPr lang="en-US" sz="2700" kern="1200"/>
        </a:p>
      </dsp:txBody>
      <dsp:txXfrm>
        <a:off x="0" y="119137"/>
        <a:ext cx="13368528" cy="777600"/>
      </dsp:txXfrm>
    </dsp:sp>
    <dsp:sp modelId="{33DA84CE-87C9-4614-A8D9-C3FAE5FE1014}">
      <dsp:nvSpPr>
        <dsp:cNvPr id="0" name=""/>
        <dsp:cNvSpPr/>
      </dsp:nvSpPr>
      <dsp:spPr>
        <a:xfrm>
          <a:off x="0" y="896737"/>
          <a:ext cx="13368528" cy="919025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rtl="0">
            <a:lnSpc>
              <a:spcPct val="90000"/>
            </a:lnSpc>
            <a:spcBef>
              <a:spcPct val="0"/>
            </a:spcBef>
            <a:spcAft>
              <a:spcPct val="15000"/>
            </a:spcAft>
            <a:buChar char="••"/>
          </a:pPr>
          <a:r>
            <a:rPr lang="en-US" sz="2700" b="1" i="0" kern="1200" baseline="0" dirty="0" smtClean="0"/>
            <a:t>Specific context :  </a:t>
          </a:r>
          <a:r>
            <a:rPr lang="en-US" sz="2700" kern="1200" dirty="0" smtClean="0"/>
            <a:t>Multi-step complex memory based and domain aware behavior needed to satisfy objectives. User has to make informed decisions on a variety of self serve tasks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Problem: </a:t>
          </a:r>
          <a:r>
            <a:rPr lang="en-US" sz="2700" kern="1200" dirty="0" smtClean="0"/>
            <a:t>How to ensure the adequate information is provided the user to make the correct decisions on a variety of self serve tasks?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Example: </a:t>
          </a:r>
          <a:r>
            <a:rPr lang="en-US" sz="2700" kern="1200" dirty="0" smtClean="0"/>
            <a:t>User needs to select a specific energy plan (including green energy, his or her insulation needs) on an energy website.</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Forces: </a:t>
          </a:r>
          <a:r>
            <a:rPr lang="en-US" sz="2700" kern="1200" dirty="0" smtClean="0"/>
            <a:t>Lack of Time, Lack of Knowledge, Cognitive Complexity</a:t>
          </a:r>
          <a:r>
            <a:rPr lang="en-US" sz="2700" b="1" i="0" kern="1200" baseline="0" dirty="0" smtClean="0"/>
            <a:t>	</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Solution : </a:t>
          </a:r>
          <a:r>
            <a:rPr lang="en-US" sz="2700" kern="1200" dirty="0" smtClean="0"/>
            <a:t>Create an intelligent wizard that embodies different decision models and guides the users.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Solution example :</a:t>
          </a:r>
          <a:r>
            <a:rPr lang="en-US" sz="2700" kern="1200" dirty="0" smtClean="0"/>
            <a:t>User has a energy plan wizard which guides them through an optimal path for selecting their energy plan based on cost, their environment and past energy bills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Resulting Context : </a:t>
          </a:r>
          <a:r>
            <a:rPr lang="en-US" sz="2700" kern="1200" dirty="0" smtClean="0"/>
            <a:t>Fast selection among complex decision options. </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Related Patterns : </a:t>
          </a:r>
          <a:r>
            <a:rPr lang="en-US" sz="2700" b="0" i="0" kern="1200" baseline="0" dirty="0" smtClean="0"/>
            <a:t>Staged Journey</a:t>
          </a:r>
          <a:endParaRPr lang="en-US" sz="2700" b="0" kern="1200" dirty="0"/>
        </a:p>
        <a:p>
          <a:pPr marL="228600" lvl="1" indent="-228600" algn="l" defTabSz="1200150" rtl="0">
            <a:lnSpc>
              <a:spcPct val="90000"/>
            </a:lnSpc>
            <a:spcBef>
              <a:spcPct val="0"/>
            </a:spcBef>
            <a:spcAft>
              <a:spcPct val="15000"/>
            </a:spcAft>
            <a:buChar char="••"/>
          </a:pPr>
          <a:r>
            <a:rPr lang="en-US" sz="2700" b="1" i="0" kern="1200" baseline="0" dirty="0" smtClean="0"/>
            <a:t>Known Uses </a:t>
          </a:r>
          <a:r>
            <a:rPr lang="en-US" sz="2700" b="1" i="1" kern="1200" baseline="0" dirty="0" smtClean="0"/>
            <a:t>: </a:t>
          </a:r>
          <a:r>
            <a:rPr lang="en-US" sz="2700" kern="1200" dirty="0" smtClean="0"/>
            <a:t>Configuring cloud instances on Amazon cloud servers often provides wizards. Some sales tools that generate customer proposals like </a:t>
          </a:r>
          <a:r>
            <a:rPr lang="en-US" sz="2700" kern="1200" dirty="0" err="1" smtClean="0"/>
            <a:t>Bigmachines</a:t>
          </a:r>
          <a:r>
            <a:rPr lang="en-US" sz="2700" kern="1200" dirty="0" smtClean="0"/>
            <a:t> will automatically detect sales of conflicting hardware and software.</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Negative Consequences: </a:t>
          </a:r>
          <a:r>
            <a:rPr lang="en-US" sz="2700" kern="1200" dirty="0" smtClean="0"/>
            <a:t>It is often possible that the users click rapidly through all the elements of a wizard like interface unaware of changes that occur. For example, they could select a software configuration which is ill suited for them. To mitigate the same Wizards should include warnings and provide auto-detection functionality. They should also provided standard automated solutions for normal users.</a:t>
          </a:r>
          <a:endParaRPr lang="en-US" sz="2700" i="1" kern="1200" dirty="0"/>
        </a:p>
      </dsp:txBody>
      <dsp:txXfrm>
        <a:off x="0" y="896737"/>
        <a:ext cx="13368528" cy="91902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65127"/>
          <a:ext cx="13368528" cy="806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b="1" i="0" kern="1200" baseline="0" smtClean="0"/>
            <a:t>Context </a:t>
          </a:r>
          <a:endParaRPr lang="en-US" sz="2800" kern="1200"/>
        </a:p>
      </dsp:txBody>
      <dsp:txXfrm>
        <a:off x="0" y="165127"/>
        <a:ext cx="13368528" cy="806400"/>
      </dsp:txXfrm>
    </dsp:sp>
    <dsp:sp modelId="{33DA84CE-87C9-4614-A8D9-C3FAE5FE1014}">
      <dsp:nvSpPr>
        <dsp:cNvPr id="0" name=""/>
        <dsp:cNvSpPr/>
      </dsp:nvSpPr>
      <dsp:spPr>
        <a:xfrm>
          <a:off x="0" y="971527"/>
          <a:ext cx="13368528" cy="90694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b="1" i="0" kern="1200" baseline="0" dirty="0" smtClean="0"/>
            <a:t>Specific context :  </a:t>
          </a:r>
          <a:r>
            <a:rPr lang="en-US" sz="2800" kern="1200" dirty="0" smtClean="0"/>
            <a:t>Multi-step complex memory based behavior needed to satisfy objectives. Customer has to complete lots of tasks in a sequential order. He or she may be interrupted and may need to resume at a certain place</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Problem: </a:t>
          </a:r>
          <a:r>
            <a:rPr lang="en-US" sz="2800" kern="1200" dirty="0" smtClean="0"/>
            <a:t>How to ensure such a complex multiple steps self serve task can be executed?</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Example: </a:t>
          </a:r>
          <a:r>
            <a:rPr lang="en-US" sz="2800" kern="1200" dirty="0" smtClean="0"/>
            <a:t>When we need to register a user a multitude of information may be asked in self serve. Customer may not have some information handy and there will be considerable think times. </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Forces: </a:t>
          </a:r>
          <a:r>
            <a:rPr lang="en-US" sz="2800" kern="1200" dirty="0" smtClean="0"/>
            <a:t>Customers may often lose track of where they are in a long process involving multiple steps. The two forces are cognitive constraints and complexity of steps.</a:t>
          </a:r>
          <a:r>
            <a:rPr lang="en-US" sz="2800" b="1" i="0" kern="1200" baseline="0" dirty="0" smtClean="0"/>
            <a:t>	</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Solution : </a:t>
          </a:r>
          <a:r>
            <a:rPr lang="en-US" sz="2800" kern="1200" dirty="0" smtClean="0"/>
            <a:t>The solution consists of multiple sub solutions. Model the problem as a journey with stops in between. Provide intermediate feedback. Store the state at every stop. </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Solution example :</a:t>
          </a:r>
          <a:r>
            <a:rPr lang="en-US" sz="2800" kern="1200" dirty="0" smtClean="0"/>
            <a:t>A stage wise journey form with collapsible sections on multiple pages.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Resulting Context : </a:t>
          </a:r>
          <a:r>
            <a:rPr lang="en-US" sz="2800" kern="1200" dirty="0" smtClean="0"/>
            <a:t>A progressive solution to the self serve problem </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Related Patterns : </a:t>
          </a:r>
          <a:r>
            <a:rPr lang="en-US" sz="2800" kern="1200" dirty="0" smtClean="0"/>
            <a:t>Wizard</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Known Uses </a:t>
          </a:r>
          <a:r>
            <a:rPr lang="en-US" sz="2800" b="1" i="1" kern="1200" baseline="0" dirty="0" smtClean="0"/>
            <a:t>:</a:t>
          </a:r>
          <a:r>
            <a:rPr lang="en-US" sz="2800" kern="1200" dirty="0" smtClean="0"/>
            <a:t>Many ATM machines use a journey pattern</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Negative Consequences: </a:t>
          </a:r>
          <a:r>
            <a:rPr lang="en-US" sz="2800" kern="1200" dirty="0" smtClean="0"/>
            <a:t>If a journey pattern is used, journeys tend to get longer for complex problems and the user may feel frustration. This can be mitigated by keep journeys small and chaining them.</a:t>
          </a:r>
          <a:endParaRPr lang="en-US" sz="2800" i="1" kern="1200" dirty="0"/>
        </a:p>
      </dsp:txBody>
      <dsp:txXfrm>
        <a:off x="0" y="971527"/>
        <a:ext cx="13368528" cy="90694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65127"/>
          <a:ext cx="13368528" cy="806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b="1" i="0" kern="1200" baseline="0" smtClean="0"/>
            <a:t>Context </a:t>
          </a:r>
          <a:endParaRPr lang="en-US" sz="2800" kern="1200"/>
        </a:p>
      </dsp:txBody>
      <dsp:txXfrm>
        <a:off x="0" y="165127"/>
        <a:ext cx="13368528" cy="806400"/>
      </dsp:txXfrm>
    </dsp:sp>
    <dsp:sp modelId="{33DA84CE-87C9-4614-A8D9-C3FAE5FE1014}">
      <dsp:nvSpPr>
        <dsp:cNvPr id="0" name=""/>
        <dsp:cNvSpPr/>
      </dsp:nvSpPr>
      <dsp:spPr>
        <a:xfrm>
          <a:off x="0" y="971527"/>
          <a:ext cx="13368528" cy="90694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b="1" i="0" kern="1200" baseline="0" dirty="0" smtClean="0"/>
            <a:t>Specific context :  </a:t>
          </a:r>
          <a:r>
            <a:rPr lang="en-US" sz="2800" kern="1200" dirty="0" smtClean="0"/>
            <a:t>Environments where multiple repetitive self serve tasks ranging beyond 5-10 tasks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Problem: </a:t>
          </a:r>
          <a:r>
            <a:rPr lang="en-US" sz="2800" kern="1200" dirty="0" smtClean="0"/>
            <a:t>The customer has to complete lot of self serve tasks but the number  of tasks is too high</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Example: </a:t>
          </a:r>
          <a:r>
            <a:rPr lang="en-US" sz="2800" kern="1200" dirty="0" smtClean="0"/>
            <a:t>A user may need to submit a 100 meter reads to an energy utility for all the businesses he or she owns.</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Forces: </a:t>
          </a:r>
          <a:r>
            <a:rPr lang="en-US" sz="2800" kern="1200" dirty="0" smtClean="0"/>
            <a:t>Lack of Time, Computing Constraints</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Solution : </a:t>
          </a:r>
          <a:r>
            <a:rPr lang="en-US" sz="2800" kern="1200" dirty="0" smtClean="0"/>
            <a:t>Create a template for multiple self serve tasks and allow the template to be filled in offline and submit at a single shot </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Solution example :</a:t>
          </a:r>
          <a:r>
            <a:rPr lang="en-US" sz="2800" kern="1200" dirty="0" smtClean="0"/>
            <a:t>A template is provided to the user with header. This template can be a comma separated value file. The comma separated value file can be uploaded with the meter reads and meter identification numbers is submitted.</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Resulting Context : </a:t>
          </a:r>
          <a:r>
            <a:rPr lang="en-US" sz="2800" kern="1200" dirty="0" smtClean="0"/>
            <a:t>User is able to automate multiple self serve tasks using provided templates. </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Related Patterns : </a:t>
          </a:r>
          <a:r>
            <a:rPr lang="en-US" sz="2800" b="0" i="0" kern="1200" baseline="0" dirty="0" smtClean="0"/>
            <a:t>Power User</a:t>
          </a:r>
          <a:endParaRPr lang="en-US" sz="2800" b="0" kern="1200" dirty="0"/>
        </a:p>
        <a:p>
          <a:pPr marL="285750" lvl="1" indent="-285750" algn="l" defTabSz="1244600" rtl="0">
            <a:lnSpc>
              <a:spcPct val="90000"/>
            </a:lnSpc>
            <a:spcBef>
              <a:spcPct val="0"/>
            </a:spcBef>
            <a:spcAft>
              <a:spcPct val="15000"/>
            </a:spcAft>
            <a:buChar char="••"/>
          </a:pPr>
          <a:r>
            <a:rPr lang="en-US" sz="2800" b="1" i="0" kern="1200" baseline="0" dirty="0" smtClean="0"/>
            <a:t>Known Uses </a:t>
          </a:r>
          <a:r>
            <a:rPr lang="en-US" sz="2800" b="1" i="1" kern="1200" baseline="0" dirty="0" smtClean="0"/>
            <a:t>: </a:t>
          </a:r>
          <a:r>
            <a:rPr lang="en-US" sz="2800" kern="1200" dirty="0" smtClean="0"/>
            <a:t>Money management software has power users who can upload their bills. Social management software also allows import and export of contacts.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Negative Consequences: </a:t>
          </a:r>
          <a:r>
            <a:rPr lang="en-US" sz="2800" kern="1200" dirty="0" smtClean="0"/>
            <a:t>This introduces a complexity with respect to maintaining compatible file interchange formats. The template that users fill in with data need to validated. As mitigation we can consider simple interchange formats.</a:t>
          </a:r>
          <a:endParaRPr lang="en-US" sz="2800" i="1" kern="1200" dirty="0"/>
        </a:p>
      </dsp:txBody>
      <dsp:txXfrm>
        <a:off x="0" y="971527"/>
        <a:ext cx="13368528" cy="90694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546006"/>
          <a:ext cx="13368528" cy="835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rtl="0">
            <a:lnSpc>
              <a:spcPct val="90000"/>
            </a:lnSpc>
            <a:spcBef>
              <a:spcPct val="0"/>
            </a:spcBef>
            <a:spcAft>
              <a:spcPct val="35000"/>
            </a:spcAft>
          </a:pPr>
          <a:r>
            <a:rPr lang="en-US" sz="2900" b="1" i="0" kern="1200" baseline="0" smtClean="0"/>
            <a:t>Context </a:t>
          </a:r>
          <a:endParaRPr lang="en-US" sz="2900" kern="1200"/>
        </a:p>
      </dsp:txBody>
      <dsp:txXfrm>
        <a:off x="0" y="546006"/>
        <a:ext cx="13368528" cy="835200"/>
      </dsp:txXfrm>
    </dsp:sp>
    <dsp:sp modelId="{33DA84CE-87C9-4614-A8D9-C3FAE5FE1014}">
      <dsp:nvSpPr>
        <dsp:cNvPr id="0" name=""/>
        <dsp:cNvSpPr/>
      </dsp:nvSpPr>
      <dsp:spPr>
        <a:xfrm>
          <a:off x="0" y="1381206"/>
          <a:ext cx="13368528" cy="827892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rtl="0">
            <a:lnSpc>
              <a:spcPct val="90000"/>
            </a:lnSpc>
            <a:spcBef>
              <a:spcPct val="0"/>
            </a:spcBef>
            <a:spcAft>
              <a:spcPct val="15000"/>
            </a:spcAft>
            <a:buChar char="••"/>
          </a:pPr>
          <a:r>
            <a:rPr lang="en-US" sz="2900" b="1" i="0" kern="1200" baseline="0" dirty="0" smtClean="0"/>
            <a:t>Specific context :  </a:t>
          </a:r>
          <a:r>
            <a:rPr lang="en-US" sz="2900" kern="1200" dirty="0" smtClean="0"/>
            <a:t>Choice among competing options with weights attached to each attribute of the option.</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Problem: </a:t>
          </a:r>
          <a:r>
            <a:rPr lang="en-US" sz="2900" kern="1200" dirty="0" smtClean="0"/>
            <a:t>Customer has to make choices between various self service options.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Example: </a:t>
          </a:r>
          <a:r>
            <a:rPr lang="en-US" sz="2900" kern="1200" dirty="0" smtClean="0"/>
            <a:t>Customer has to choose between different payments plans like monthly, yearly. Choose insurance policies. Choose types of train tickets at a railroad.</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Forces: </a:t>
          </a:r>
          <a:r>
            <a:rPr lang="en-US" sz="2900" kern="1200" dirty="0" smtClean="0"/>
            <a:t>Lack of time, Lack of  Knowledge</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Solution :</a:t>
          </a:r>
          <a:r>
            <a:rPr lang="en-US" sz="2900" kern="1200" dirty="0" smtClean="0"/>
            <a:t>Create tabular comparison sheets with the overall cost highlighted</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Solution example :</a:t>
          </a:r>
          <a:r>
            <a:rPr lang="en-US" sz="2900" kern="1200" dirty="0" smtClean="0"/>
            <a:t>A table displaying various payment plans. A graph comparing various  options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Resulting Context : </a:t>
          </a:r>
          <a:r>
            <a:rPr lang="en-US" sz="2900" kern="1200" dirty="0" smtClean="0"/>
            <a:t>Reduction in time to make decision. More optimal decisions  </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Related Patterns : </a:t>
          </a:r>
          <a:r>
            <a:rPr lang="en-US" sz="2900" kern="1200" dirty="0" smtClean="0"/>
            <a:t>Journey</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Known Uses </a:t>
          </a:r>
          <a:r>
            <a:rPr lang="en-US" sz="2900" b="1" i="1" kern="1200" baseline="0" dirty="0" smtClean="0"/>
            <a:t>: </a:t>
          </a:r>
          <a:r>
            <a:rPr lang="en-US" sz="2900" kern="1200" dirty="0" smtClean="0"/>
            <a:t>Tables, Graphs, Charts are used in Intuit Money Manager to show split among multiple items</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Negative Consequences: </a:t>
          </a:r>
          <a:r>
            <a:rPr lang="en-US" sz="2900" kern="1200" dirty="0" smtClean="0"/>
            <a:t>The decision aids provided to the user should be easily decipherable across various cultural barrier. It is rare for one decision aid to actually help the user so multiple decision aids should be provided.</a:t>
          </a:r>
          <a:endParaRPr lang="en-US" sz="2900" i="1" kern="1200" dirty="0"/>
        </a:p>
      </dsp:txBody>
      <dsp:txXfrm>
        <a:off x="0" y="1381206"/>
        <a:ext cx="13368528" cy="82789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318847"/>
          <a:ext cx="13368528" cy="806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b="1" i="0" kern="1200" baseline="0" smtClean="0"/>
            <a:t>Context </a:t>
          </a:r>
          <a:endParaRPr lang="en-US" sz="2800" kern="1200"/>
        </a:p>
      </dsp:txBody>
      <dsp:txXfrm>
        <a:off x="0" y="318847"/>
        <a:ext cx="13368528" cy="806400"/>
      </dsp:txXfrm>
    </dsp:sp>
    <dsp:sp modelId="{33DA84CE-87C9-4614-A8D9-C3FAE5FE1014}">
      <dsp:nvSpPr>
        <dsp:cNvPr id="0" name=""/>
        <dsp:cNvSpPr/>
      </dsp:nvSpPr>
      <dsp:spPr>
        <a:xfrm>
          <a:off x="0" y="1125247"/>
          <a:ext cx="13368528" cy="876204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b="1" i="0" kern="1200" baseline="0" dirty="0" smtClean="0"/>
            <a:t>Specific context :  </a:t>
          </a:r>
          <a:r>
            <a:rPr lang="en-US" sz="2800" kern="1200" dirty="0" smtClean="0"/>
            <a:t>Display multiple self serve options to the customer</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Problem: </a:t>
          </a:r>
          <a:r>
            <a:rPr lang="en-US" sz="2800" kern="1200" dirty="0" smtClean="0"/>
            <a:t>How can multiple self serve options   displayed to a customer efficiently?</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Example: </a:t>
          </a:r>
          <a:r>
            <a:rPr lang="en-US" sz="2800" kern="1200" dirty="0" smtClean="0"/>
            <a:t>Customer has a 100 self serve options like pay bill, view energy consumption, move premises etc. How to display them efficiently?</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Forces: </a:t>
          </a:r>
          <a:r>
            <a:rPr lang="en-US" sz="2800" kern="1200" dirty="0" smtClean="0"/>
            <a:t>Lack of time,  Lack of knowledge, Cognitive Constraints</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Solution :</a:t>
          </a:r>
          <a:r>
            <a:rPr lang="en-US" sz="2800" kern="1200" dirty="0" smtClean="0"/>
            <a:t>Create a navigational system that helps the user to navigate between all the self serve options without losing the context and having to load multiple pages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Solution example :</a:t>
          </a:r>
          <a:r>
            <a:rPr lang="en-US" sz="2800" kern="1200" dirty="0" smtClean="0"/>
            <a:t>Create a compact/condensed single page or faceted navigation system. This must go hand in hand with selecting the appropriate layouts which will be in line with the displays the customer may use to access the self serve system.</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Resulting Context : </a:t>
          </a:r>
          <a:r>
            <a:rPr lang="en-US" sz="2800" kern="1200" dirty="0" smtClean="0"/>
            <a:t>One stop self serve place which is easily book-</a:t>
          </a:r>
          <a:r>
            <a:rPr lang="en-US" sz="2800" kern="1200" dirty="0" err="1" smtClean="0"/>
            <a:t>markable</a:t>
          </a:r>
          <a:r>
            <a:rPr lang="en-US" sz="2800" kern="1200" dirty="0" smtClean="0"/>
            <a:t>.</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Related Patterns : </a:t>
          </a:r>
          <a:r>
            <a:rPr lang="en-US" sz="2800" kern="1200" dirty="0" smtClean="0"/>
            <a:t>Wizard</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Known Uses </a:t>
          </a:r>
          <a:r>
            <a:rPr lang="en-US" sz="2800" b="1" i="1" kern="1200" baseline="0" dirty="0" smtClean="0"/>
            <a:t>: </a:t>
          </a:r>
          <a:r>
            <a:rPr lang="en-US" sz="2800" kern="1200" dirty="0" err="1" smtClean="0"/>
            <a:t>MegaMenu</a:t>
          </a:r>
          <a:r>
            <a:rPr lang="en-US" sz="2800" kern="1200" dirty="0" smtClean="0"/>
            <a:t>, Springboard, Faceted Navigation </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Negative Consequences: </a:t>
          </a:r>
          <a:r>
            <a:rPr lang="en-US" sz="2800" kern="1200" dirty="0" smtClean="0"/>
            <a:t>In some cases it is difficult to show all the decision options in a single page so techniques like infinite scrolling and swipe based navigation are used to give feeling that all options are on the same page. However, in such cases the discovery of self service options will take time as the user manually has to navigate to each and every option</a:t>
          </a:r>
          <a:endParaRPr lang="en-US" sz="2800" i="1" kern="1200" dirty="0"/>
        </a:p>
      </dsp:txBody>
      <dsp:txXfrm>
        <a:off x="0" y="1125247"/>
        <a:ext cx="13368528" cy="87620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19137"/>
          <a:ext cx="13368528" cy="777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lvl="0" algn="ctr" defTabSz="1200150" rtl="0">
            <a:lnSpc>
              <a:spcPct val="90000"/>
            </a:lnSpc>
            <a:spcBef>
              <a:spcPct val="0"/>
            </a:spcBef>
            <a:spcAft>
              <a:spcPct val="35000"/>
            </a:spcAft>
          </a:pPr>
          <a:r>
            <a:rPr lang="en-US" sz="2700" b="1" i="0" kern="1200" baseline="0" smtClean="0"/>
            <a:t>Context </a:t>
          </a:r>
          <a:endParaRPr lang="en-US" sz="2700" kern="1200"/>
        </a:p>
      </dsp:txBody>
      <dsp:txXfrm>
        <a:off x="0" y="119137"/>
        <a:ext cx="13368528" cy="777600"/>
      </dsp:txXfrm>
    </dsp:sp>
    <dsp:sp modelId="{33DA84CE-87C9-4614-A8D9-C3FAE5FE1014}">
      <dsp:nvSpPr>
        <dsp:cNvPr id="0" name=""/>
        <dsp:cNvSpPr/>
      </dsp:nvSpPr>
      <dsp:spPr>
        <a:xfrm>
          <a:off x="0" y="896737"/>
          <a:ext cx="13368528" cy="919025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rtl="0">
            <a:lnSpc>
              <a:spcPct val="90000"/>
            </a:lnSpc>
            <a:spcBef>
              <a:spcPct val="0"/>
            </a:spcBef>
            <a:spcAft>
              <a:spcPct val="15000"/>
            </a:spcAft>
            <a:buChar char="••"/>
          </a:pPr>
          <a:r>
            <a:rPr lang="en-US" sz="2700" b="1" i="0" kern="1200" baseline="0" dirty="0" smtClean="0"/>
            <a:t>Specific context :  </a:t>
          </a:r>
          <a:r>
            <a:rPr lang="en-US" sz="2700" kern="1200" dirty="0" smtClean="0"/>
            <a:t>Current technologies cannot support immediate customer needs or the web channel is not optimized to provide the support the customer needs.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Problem: </a:t>
          </a:r>
          <a:r>
            <a:rPr lang="en-US" sz="2700" kern="1200" dirty="0" smtClean="0"/>
            <a:t>Customer may need immediate help while doing self serve. How can you avoid a costly switch to other channels and complete abandonment of the online channel?</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Example: </a:t>
          </a:r>
          <a:r>
            <a:rPr lang="en-US" sz="2700" kern="1200" dirty="0" smtClean="0"/>
            <a:t>Customer has a complex question when accessing a self serve task. Maybe they do not understand the language or they are stuck</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Forces: </a:t>
          </a:r>
          <a:r>
            <a:rPr lang="en-US" sz="2700" kern="1200" dirty="0" smtClean="0"/>
            <a:t>Time, Cognitive, Service Cost</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Solution :</a:t>
          </a:r>
          <a:r>
            <a:rPr lang="en-US" sz="2700" kern="1200" dirty="0" smtClean="0"/>
            <a:t>Introduce human digital assistance</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Solution example :</a:t>
          </a:r>
          <a:r>
            <a:rPr lang="en-US" sz="2700" kern="1200" dirty="0" smtClean="0"/>
            <a:t>Customer and Smart context based digital chats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Resulting Context : </a:t>
          </a:r>
          <a:r>
            <a:rPr lang="en-US" sz="2700" kern="1200" dirty="0" smtClean="0"/>
            <a:t>Human assistance when really needed</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Related Patterns : </a:t>
          </a:r>
          <a:r>
            <a:rPr lang="en-US" sz="2700" kern="1200" dirty="0" smtClean="0"/>
            <a:t>Wizard</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Known Uses </a:t>
          </a:r>
          <a:r>
            <a:rPr lang="en-US" sz="2700" b="1" i="1" kern="1200" baseline="0" dirty="0" smtClean="0"/>
            <a:t>: </a:t>
          </a:r>
          <a:r>
            <a:rPr lang="en-US" sz="2700" kern="1200" dirty="0" smtClean="0"/>
            <a:t>Websites like Samsung have chat line for  their customer service</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Negative Consequences: </a:t>
          </a:r>
          <a:r>
            <a:rPr lang="en-US" sz="2700" kern="1200" dirty="0" smtClean="0"/>
            <a:t>If such functionality exists, users may start using this any time and all the time thereby skipping the online self serve. The mitigation is to only provide the chat window to appear at appropriate complex positions in the online work flow, which is complex. The other negative consequence is that the chat window agent may have no idea of what the user is facing online. Some kind of mirror window could be opened to troubleshoot the customer problems. The third negative consequence is that there will be wait time required to provide the live aid. This can be mitigated by showing to customer how much time he/she has left to get live aid and also allow mechanism for the live aid to activate the channel to customer when customer is free.</a:t>
          </a:r>
          <a:endParaRPr lang="en-US" sz="2700" i="1" kern="1200" dirty="0"/>
        </a:p>
      </dsp:txBody>
      <dsp:txXfrm>
        <a:off x="0" y="896737"/>
        <a:ext cx="13368528" cy="919025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47982"/>
          <a:ext cx="13368528" cy="835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rtl="0">
            <a:lnSpc>
              <a:spcPct val="90000"/>
            </a:lnSpc>
            <a:spcBef>
              <a:spcPct val="0"/>
            </a:spcBef>
            <a:spcAft>
              <a:spcPct val="35000"/>
            </a:spcAft>
          </a:pPr>
          <a:r>
            <a:rPr lang="en-US" sz="2900" b="1" i="0" kern="1200" baseline="0" smtClean="0"/>
            <a:t>Context </a:t>
          </a:r>
          <a:endParaRPr lang="en-US" sz="2900" kern="1200"/>
        </a:p>
      </dsp:txBody>
      <dsp:txXfrm>
        <a:off x="0" y="147982"/>
        <a:ext cx="13368528" cy="835200"/>
      </dsp:txXfrm>
    </dsp:sp>
    <dsp:sp modelId="{33DA84CE-87C9-4614-A8D9-C3FAE5FE1014}">
      <dsp:nvSpPr>
        <dsp:cNvPr id="0" name=""/>
        <dsp:cNvSpPr/>
      </dsp:nvSpPr>
      <dsp:spPr>
        <a:xfrm>
          <a:off x="0" y="983182"/>
          <a:ext cx="13368528" cy="90749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rtl="0">
            <a:lnSpc>
              <a:spcPct val="90000"/>
            </a:lnSpc>
            <a:spcBef>
              <a:spcPct val="0"/>
            </a:spcBef>
            <a:spcAft>
              <a:spcPct val="15000"/>
            </a:spcAft>
            <a:buChar char="••"/>
          </a:pPr>
          <a:r>
            <a:rPr lang="en-US" sz="2900" b="1" i="0" kern="1200" baseline="0" dirty="0" smtClean="0"/>
            <a:t>Specific context :</a:t>
          </a:r>
          <a:r>
            <a:rPr lang="en-US" sz="2900" kern="1200" dirty="0" smtClean="0"/>
            <a:t>Customers  want to do long running transactions over periods of days .</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Problem: </a:t>
          </a:r>
          <a:r>
            <a:rPr lang="en-US" sz="2900" kern="1200" dirty="0" smtClean="0"/>
            <a:t>Customer may need storage of intermediate steps or final steps of their transactions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Example: </a:t>
          </a:r>
          <a:r>
            <a:rPr lang="en-US" sz="2900" kern="1200" dirty="0" smtClean="0"/>
            <a:t>Customer wants to complete a moving premises task for a gas connection that takes a week. Customer wants to submit an appraisal form over a month.</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Forces: </a:t>
          </a:r>
          <a:r>
            <a:rPr lang="en-US" sz="2900" kern="1200" dirty="0" smtClean="0"/>
            <a:t>Cognitive Constraints, Heterogeneity of channels</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Solution : </a:t>
          </a:r>
          <a:r>
            <a:rPr lang="en-US" sz="2900" kern="1200" dirty="0" smtClean="0"/>
            <a:t>After customer completes part of a long running self serve task, send a message with a link to continue over other channels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Solution example : </a:t>
          </a:r>
          <a:r>
            <a:rPr lang="en-US" sz="2900" kern="1200" dirty="0" smtClean="0"/>
            <a:t>For example, customer can be sent an email after 15 minutes for a task of 1 hour with an intermediate state to continue later</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Resulting Context : </a:t>
          </a:r>
          <a:r>
            <a:rPr lang="en-US" sz="2900" kern="1200" dirty="0" smtClean="0"/>
            <a:t>Seamless, long running. self serve access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Related Patterns : </a:t>
          </a:r>
          <a:r>
            <a:rPr lang="en-US" sz="2900" kern="1200" dirty="0" smtClean="0"/>
            <a:t>Staged Journey</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Known Uses </a:t>
          </a:r>
          <a:r>
            <a:rPr lang="en-US" sz="2900" b="1" i="1" kern="1200" baseline="0" dirty="0" smtClean="0"/>
            <a:t>: </a:t>
          </a:r>
          <a:r>
            <a:rPr lang="en-US" sz="2900" kern="1200" dirty="0" smtClean="0"/>
            <a:t>Customer sells shares online and receives messages on SMS after one week that shares are sold.</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Negative Consequences: </a:t>
          </a:r>
          <a:r>
            <a:rPr lang="en-US" sz="2900" kern="1200" dirty="0" smtClean="0"/>
            <a:t>The customer may have changed his or her mind or requirement in the midst of long running self serve tasks. The mitigation is to provide a cancellation mechanism. The customer might have forgotten about the long running self serve task. The mitigation is to provide enough context for him or her on the task status to proceed further.</a:t>
          </a:r>
          <a:endParaRPr lang="en-US" sz="2900" i="1" kern="1200" dirty="0"/>
        </a:p>
      </dsp:txBody>
      <dsp:txXfrm>
        <a:off x="0" y="983182"/>
        <a:ext cx="13368528" cy="90749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231727"/>
          <a:ext cx="13368528" cy="892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0472" tIns="125984" rIns="220472" bIns="125984" numCol="1" spcCol="1270" anchor="ctr" anchorCtr="0">
          <a:noAutofit/>
        </a:bodyPr>
        <a:lstStyle/>
        <a:p>
          <a:pPr lvl="0" algn="ctr" defTabSz="1377950" rtl="0">
            <a:lnSpc>
              <a:spcPct val="90000"/>
            </a:lnSpc>
            <a:spcBef>
              <a:spcPct val="0"/>
            </a:spcBef>
            <a:spcAft>
              <a:spcPct val="35000"/>
            </a:spcAft>
          </a:pPr>
          <a:r>
            <a:rPr lang="en-US" sz="3100" b="1" i="0" kern="1200" baseline="0" smtClean="0"/>
            <a:t>Context </a:t>
          </a:r>
          <a:endParaRPr lang="en-US" sz="3100" kern="1200"/>
        </a:p>
      </dsp:txBody>
      <dsp:txXfrm>
        <a:off x="0" y="231727"/>
        <a:ext cx="13368528" cy="892800"/>
      </dsp:txXfrm>
    </dsp:sp>
    <dsp:sp modelId="{33DA84CE-87C9-4614-A8D9-C3FAE5FE1014}">
      <dsp:nvSpPr>
        <dsp:cNvPr id="0" name=""/>
        <dsp:cNvSpPr/>
      </dsp:nvSpPr>
      <dsp:spPr>
        <a:xfrm>
          <a:off x="0" y="1124527"/>
          <a:ext cx="13368528" cy="8849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354" tIns="165354" rIns="220472" bIns="248031" numCol="1" spcCol="1270" anchor="t" anchorCtr="0">
          <a:noAutofit/>
        </a:bodyPr>
        <a:lstStyle/>
        <a:p>
          <a:pPr marL="285750" lvl="1" indent="-285750" algn="l" defTabSz="1377950" rtl="0">
            <a:lnSpc>
              <a:spcPct val="90000"/>
            </a:lnSpc>
            <a:spcBef>
              <a:spcPct val="0"/>
            </a:spcBef>
            <a:spcAft>
              <a:spcPct val="15000"/>
            </a:spcAft>
            <a:buChar char="••"/>
          </a:pPr>
          <a:r>
            <a:rPr lang="en-US" sz="3100" b="1" i="0" kern="1200" baseline="0" dirty="0" smtClean="0"/>
            <a:t>Specific context :</a:t>
          </a:r>
          <a:r>
            <a:rPr lang="en-US" sz="3100" kern="1200" dirty="0" smtClean="0"/>
            <a:t>Customers are executing self serve tasks in parallel.</a:t>
          </a:r>
          <a:endParaRPr lang="en-US" sz="3100" i="1" kern="1200" dirty="0"/>
        </a:p>
        <a:p>
          <a:pPr marL="285750" lvl="1" indent="-285750" algn="l" defTabSz="1377950" rtl="0">
            <a:lnSpc>
              <a:spcPct val="90000"/>
            </a:lnSpc>
            <a:spcBef>
              <a:spcPct val="0"/>
            </a:spcBef>
            <a:spcAft>
              <a:spcPct val="15000"/>
            </a:spcAft>
            <a:buChar char="••"/>
          </a:pPr>
          <a:r>
            <a:rPr lang="en-US" sz="3100" b="1" i="0" kern="1200" baseline="0" dirty="0" smtClean="0"/>
            <a:t>Problem: </a:t>
          </a:r>
          <a:r>
            <a:rPr lang="en-US" sz="3100" kern="1200" dirty="0" smtClean="0"/>
            <a:t>Customer may have performed or may need to perform many self serve tasks. How to keep the customers informed?</a:t>
          </a:r>
          <a:endParaRPr lang="en-US" sz="3100" i="1" kern="1200" dirty="0"/>
        </a:p>
        <a:p>
          <a:pPr marL="285750" lvl="1" indent="-285750" algn="l" defTabSz="1377950" rtl="0">
            <a:lnSpc>
              <a:spcPct val="90000"/>
            </a:lnSpc>
            <a:spcBef>
              <a:spcPct val="0"/>
            </a:spcBef>
            <a:spcAft>
              <a:spcPct val="15000"/>
            </a:spcAft>
            <a:buChar char="••"/>
          </a:pPr>
          <a:r>
            <a:rPr lang="en-US" sz="3100" b="1" i="0" kern="1200" baseline="0" dirty="0" smtClean="0"/>
            <a:t>Example: </a:t>
          </a:r>
          <a:r>
            <a:rPr lang="en-US" sz="3100" kern="1200" dirty="0" smtClean="0"/>
            <a:t>Customer does a payment which will take 15 minutes to be acknowledged. He also does a change of his password</a:t>
          </a:r>
          <a:endParaRPr lang="en-US" sz="3100" i="1" kern="1200" dirty="0"/>
        </a:p>
        <a:p>
          <a:pPr marL="285750" lvl="1" indent="-285750" algn="l" defTabSz="1377950" rtl="0">
            <a:lnSpc>
              <a:spcPct val="90000"/>
            </a:lnSpc>
            <a:spcBef>
              <a:spcPct val="0"/>
            </a:spcBef>
            <a:spcAft>
              <a:spcPct val="15000"/>
            </a:spcAft>
            <a:buChar char="••"/>
          </a:pPr>
          <a:r>
            <a:rPr lang="en-US" sz="3100" b="1" i="0" kern="1200" baseline="0" dirty="0" smtClean="0"/>
            <a:t>Forces: </a:t>
          </a:r>
          <a:r>
            <a:rPr lang="en-US" sz="3100" kern="1200" dirty="0" smtClean="0"/>
            <a:t>Cognitive Complexity</a:t>
          </a:r>
          <a:endParaRPr lang="en-US" sz="3100" i="1" kern="1200" dirty="0"/>
        </a:p>
        <a:p>
          <a:pPr marL="285750" lvl="1" indent="-285750" algn="l" defTabSz="1377950" rtl="0">
            <a:lnSpc>
              <a:spcPct val="90000"/>
            </a:lnSpc>
            <a:spcBef>
              <a:spcPct val="0"/>
            </a:spcBef>
            <a:spcAft>
              <a:spcPct val="15000"/>
            </a:spcAft>
            <a:buChar char="••"/>
          </a:pPr>
          <a:r>
            <a:rPr lang="en-US" sz="3100" b="1" i="0" kern="1200" baseline="0" dirty="0" smtClean="0"/>
            <a:t>Solution : </a:t>
          </a:r>
          <a:r>
            <a:rPr lang="en-US" sz="3100" kern="1200" dirty="0" smtClean="0"/>
            <a:t>Message Center or Notification Center with task outputs.</a:t>
          </a:r>
          <a:endParaRPr lang="en-US" sz="3100" i="1" kern="1200" dirty="0"/>
        </a:p>
        <a:p>
          <a:pPr marL="285750" lvl="1" indent="-285750" algn="l" defTabSz="1377950" rtl="0">
            <a:lnSpc>
              <a:spcPct val="90000"/>
            </a:lnSpc>
            <a:spcBef>
              <a:spcPct val="0"/>
            </a:spcBef>
            <a:spcAft>
              <a:spcPct val="15000"/>
            </a:spcAft>
            <a:buChar char="••"/>
          </a:pPr>
          <a:r>
            <a:rPr lang="en-US" sz="3100" b="1" i="0" kern="1200" baseline="0" dirty="0" smtClean="0"/>
            <a:t>Solution example : </a:t>
          </a:r>
          <a:r>
            <a:rPr lang="en-US" sz="3100" kern="1200" dirty="0" smtClean="0"/>
            <a:t>Design a notification queue or message center that allows customer to received delayed feedback on self serve tasks.</a:t>
          </a:r>
          <a:endParaRPr lang="en-US" sz="3100" i="1" kern="1200" dirty="0"/>
        </a:p>
        <a:p>
          <a:pPr marL="285750" lvl="1" indent="-285750" algn="l" defTabSz="1377950" rtl="0">
            <a:lnSpc>
              <a:spcPct val="90000"/>
            </a:lnSpc>
            <a:spcBef>
              <a:spcPct val="0"/>
            </a:spcBef>
            <a:spcAft>
              <a:spcPct val="15000"/>
            </a:spcAft>
            <a:buChar char="••"/>
          </a:pPr>
          <a:r>
            <a:rPr lang="en-US" sz="3100" b="1" i="0" kern="1200" baseline="0" dirty="0" smtClean="0"/>
            <a:t>Resulting Context : </a:t>
          </a:r>
          <a:r>
            <a:rPr lang="en-US" sz="3100" kern="1200" dirty="0" smtClean="0"/>
            <a:t>Seamless multi task execution</a:t>
          </a:r>
          <a:endParaRPr lang="en-US" sz="3100" i="1" kern="1200" dirty="0"/>
        </a:p>
        <a:p>
          <a:pPr marL="285750" lvl="1" indent="-285750" algn="l" defTabSz="1377950" rtl="0">
            <a:lnSpc>
              <a:spcPct val="90000"/>
            </a:lnSpc>
            <a:spcBef>
              <a:spcPct val="0"/>
            </a:spcBef>
            <a:spcAft>
              <a:spcPct val="15000"/>
            </a:spcAft>
            <a:buChar char="••"/>
          </a:pPr>
          <a:r>
            <a:rPr lang="en-US" sz="3100" b="1" i="0" kern="1200" baseline="0" dirty="0" smtClean="0"/>
            <a:t>Related Patterns : </a:t>
          </a:r>
          <a:r>
            <a:rPr lang="en-US" sz="3100" kern="1200" dirty="0" smtClean="0"/>
            <a:t>Live Aid</a:t>
          </a:r>
          <a:endParaRPr lang="en-US" sz="3100" kern="1200" dirty="0"/>
        </a:p>
        <a:p>
          <a:pPr marL="285750" lvl="1" indent="-285750" algn="l" defTabSz="1377950" rtl="0">
            <a:lnSpc>
              <a:spcPct val="90000"/>
            </a:lnSpc>
            <a:spcBef>
              <a:spcPct val="0"/>
            </a:spcBef>
            <a:spcAft>
              <a:spcPct val="15000"/>
            </a:spcAft>
            <a:buChar char="••"/>
          </a:pPr>
          <a:r>
            <a:rPr lang="en-US" sz="3100" b="1" i="0" kern="1200" baseline="0" dirty="0" smtClean="0"/>
            <a:t>Known Uses </a:t>
          </a:r>
          <a:r>
            <a:rPr lang="en-US" sz="3100" b="1" i="1" kern="1200" baseline="0" dirty="0" smtClean="0"/>
            <a:t>: </a:t>
          </a:r>
          <a:r>
            <a:rPr lang="en-US" sz="3100" kern="1200" dirty="0" smtClean="0"/>
            <a:t>Facebook application on mobile has icons with cues of pending messages</a:t>
          </a:r>
          <a:endParaRPr lang="en-US" sz="3100" kern="1200" dirty="0"/>
        </a:p>
        <a:p>
          <a:pPr marL="285750" lvl="1" indent="-285750" algn="l" defTabSz="1377950" rtl="0">
            <a:lnSpc>
              <a:spcPct val="90000"/>
            </a:lnSpc>
            <a:spcBef>
              <a:spcPct val="0"/>
            </a:spcBef>
            <a:spcAft>
              <a:spcPct val="15000"/>
            </a:spcAft>
            <a:buChar char="••"/>
          </a:pPr>
          <a:r>
            <a:rPr lang="en-US" sz="3100" b="1" i="0" kern="1200" baseline="0" dirty="0" smtClean="0"/>
            <a:t>Negative Consequences: </a:t>
          </a:r>
          <a:r>
            <a:rPr lang="en-US" sz="3100" kern="1200" dirty="0" smtClean="0"/>
            <a:t>The notification queue or message center or any other solution to the multitasking problem can be overloaded with too many messages/reminders/alerts some of which require urgent attention and some may do with lesser attention. Thus designers must take care to segregate these types of messages and also provide a solution to the user in order to delete unwanted notifications.</a:t>
          </a:r>
          <a:endParaRPr lang="en-US" sz="3100" i="1" kern="1200" dirty="0"/>
        </a:p>
      </dsp:txBody>
      <dsp:txXfrm>
        <a:off x="0" y="1124527"/>
        <a:ext cx="13368528" cy="884988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318847"/>
          <a:ext cx="13368528" cy="806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b="1" i="0" kern="1200" baseline="0" smtClean="0"/>
            <a:t>Context </a:t>
          </a:r>
          <a:endParaRPr lang="en-US" sz="2800" kern="1200"/>
        </a:p>
      </dsp:txBody>
      <dsp:txXfrm>
        <a:off x="0" y="318847"/>
        <a:ext cx="13368528" cy="806400"/>
      </dsp:txXfrm>
    </dsp:sp>
    <dsp:sp modelId="{33DA84CE-87C9-4614-A8D9-C3FAE5FE1014}">
      <dsp:nvSpPr>
        <dsp:cNvPr id="0" name=""/>
        <dsp:cNvSpPr/>
      </dsp:nvSpPr>
      <dsp:spPr>
        <a:xfrm>
          <a:off x="0" y="1125247"/>
          <a:ext cx="13368528" cy="876204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b="1" i="0" kern="1200" baseline="0" dirty="0" smtClean="0"/>
            <a:t>Specific context :</a:t>
          </a:r>
          <a:r>
            <a:rPr lang="en-US" sz="2800" kern="1200" dirty="0" smtClean="0"/>
            <a:t>When customer has to view large volumes of data in multiple renderings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Problem: </a:t>
          </a:r>
          <a:r>
            <a:rPr lang="en-US" sz="2800" kern="1200" dirty="0" smtClean="0"/>
            <a:t>There is a lot of self service data for the customer. How to display it for good comprehension?</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Example: </a:t>
          </a:r>
          <a:r>
            <a:rPr lang="en-US" sz="2800" kern="1200" dirty="0" smtClean="0"/>
            <a:t>Customer wants to see top ten bills. Sometimes they want to see all their bills. Sometimes they want to see bills that they have paid.</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Forces: </a:t>
          </a:r>
          <a:r>
            <a:rPr lang="en-US" sz="2800" kern="1200" dirty="0" smtClean="0"/>
            <a:t>Time Complexity, Cognitive Constraints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Solution : </a:t>
          </a:r>
          <a:r>
            <a:rPr lang="en-US" sz="2800" kern="1200" dirty="0" smtClean="0"/>
            <a:t>Create multiple pagination options or views. Allow the user to switch between these views. Make the most used view as the default view. If the customer makes persistent use of one of the views make that the default view.</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Solution example : </a:t>
          </a:r>
          <a:r>
            <a:rPr lang="en-US" sz="2800" kern="1200" dirty="0" smtClean="0"/>
            <a:t>Pagination by top ten bills, pagination by last 3 months, and pagination by payment status could be provided and it would also allow for sorting.</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Resulting Context : </a:t>
          </a:r>
          <a:r>
            <a:rPr lang="en-US" sz="2800" kern="1200" dirty="0" smtClean="0"/>
            <a:t>Multiple views of large volumes of data allowing for efficient selection.</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Related Patterns : </a:t>
          </a:r>
          <a:r>
            <a:rPr lang="en-US" sz="2800" b="0" i="0" kern="1200" baseline="0" dirty="0" smtClean="0"/>
            <a:t>Wizard</a:t>
          </a:r>
          <a:endParaRPr lang="en-US" sz="2800" b="0" kern="1200" dirty="0"/>
        </a:p>
        <a:p>
          <a:pPr marL="285750" lvl="1" indent="-285750" algn="l" defTabSz="1244600" rtl="0">
            <a:lnSpc>
              <a:spcPct val="90000"/>
            </a:lnSpc>
            <a:spcBef>
              <a:spcPct val="0"/>
            </a:spcBef>
            <a:spcAft>
              <a:spcPct val="15000"/>
            </a:spcAft>
            <a:buChar char="••"/>
          </a:pPr>
          <a:r>
            <a:rPr lang="en-US" sz="2800" b="1" i="0" kern="1200" baseline="0" dirty="0" smtClean="0"/>
            <a:t>Known Uses </a:t>
          </a:r>
          <a:r>
            <a:rPr lang="en-US" sz="2800" b="1" i="1" kern="1200" baseline="0" dirty="0" smtClean="0"/>
            <a:t>: </a:t>
          </a:r>
          <a:r>
            <a:rPr lang="en-US" sz="2800" kern="1200" dirty="0" smtClean="0"/>
            <a:t>HDFC bank allows quick account summary and account summary by period </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Negative Consequences: </a:t>
          </a:r>
          <a:r>
            <a:rPr lang="en-US" sz="2800" kern="1200" dirty="0" smtClean="0"/>
            <a:t>If there are too many pagination options, user confusion may increase, seeing variety of ways they can see the data when they are interested in a few data. A decision aid is the mitigation for such a case.</a:t>
          </a:r>
          <a:endParaRPr lang="en-US" sz="2800" i="1" kern="1200" dirty="0"/>
        </a:p>
      </dsp:txBody>
      <dsp:txXfrm>
        <a:off x="0" y="1125247"/>
        <a:ext cx="13368528" cy="876204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47982"/>
          <a:ext cx="13368528" cy="835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rtl="0">
            <a:lnSpc>
              <a:spcPct val="90000"/>
            </a:lnSpc>
            <a:spcBef>
              <a:spcPct val="0"/>
            </a:spcBef>
            <a:spcAft>
              <a:spcPct val="35000"/>
            </a:spcAft>
          </a:pPr>
          <a:r>
            <a:rPr lang="en-US" sz="2900" b="1" i="0" kern="1200" baseline="0" smtClean="0"/>
            <a:t>Context </a:t>
          </a:r>
          <a:endParaRPr lang="en-US" sz="2900" kern="1200"/>
        </a:p>
      </dsp:txBody>
      <dsp:txXfrm>
        <a:off x="0" y="147982"/>
        <a:ext cx="13368528" cy="835200"/>
      </dsp:txXfrm>
    </dsp:sp>
    <dsp:sp modelId="{33DA84CE-87C9-4614-A8D9-C3FAE5FE1014}">
      <dsp:nvSpPr>
        <dsp:cNvPr id="0" name=""/>
        <dsp:cNvSpPr/>
      </dsp:nvSpPr>
      <dsp:spPr>
        <a:xfrm>
          <a:off x="0" y="983182"/>
          <a:ext cx="13368528" cy="90749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rtl="0">
            <a:lnSpc>
              <a:spcPct val="90000"/>
            </a:lnSpc>
            <a:spcBef>
              <a:spcPct val="0"/>
            </a:spcBef>
            <a:spcAft>
              <a:spcPct val="15000"/>
            </a:spcAft>
            <a:buChar char="••"/>
          </a:pPr>
          <a:r>
            <a:rPr lang="en-US" sz="2900" b="1" i="0" kern="1200" baseline="0" dirty="0" smtClean="0"/>
            <a:t>Specific context :  </a:t>
          </a:r>
          <a:r>
            <a:rPr lang="en-US" sz="2900" kern="1200" dirty="0" smtClean="0"/>
            <a:t>Customer does repetitive self serve tasks on huge volumes of backend data</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Problem: </a:t>
          </a:r>
          <a:r>
            <a:rPr lang="en-US" sz="2900" kern="1200" dirty="0" smtClean="0"/>
            <a:t>The customer may do multiple self serve actions. This results in costly backend calls to the system in terms of time and bandwidth. How do you enable customers to do repetitive self service tasks efficiently when large volumes of data are transferred over the online channel?</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Example: </a:t>
          </a:r>
          <a:r>
            <a:rPr lang="en-US" sz="2900" kern="1200" dirty="0" smtClean="0"/>
            <a:t>Customer may want to view 100s of his bills, then go and buy a plan and view the bills again</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Forces: </a:t>
          </a:r>
          <a:r>
            <a:rPr lang="en-US" sz="2900" kern="1200" dirty="0" smtClean="0"/>
            <a:t>Computing Constraints</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Solution : </a:t>
          </a:r>
          <a:r>
            <a:rPr lang="en-US" sz="2900" kern="1200" dirty="0" smtClean="0"/>
            <a:t>Create a backend cache to store all the frequently used data for the customer right in the frontend making backend calls un-necessary and respond faster.</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Solution example : </a:t>
          </a:r>
          <a:r>
            <a:rPr lang="en-US" sz="2900" kern="1200" dirty="0" smtClean="0"/>
            <a:t>Store data in the browser for his bills till he comes back. </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Resulting Context : </a:t>
          </a:r>
          <a:r>
            <a:rPr lang="en-US" sz="2900" kern="1200" dirty="0" smtClean="0"/>
            <a:t>Faster access to data </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Related Patterns : </a:t>
          </a:r>
          <a:r>
            <a:rPr lang="en-US" sz="2900" kern="1200" dirty="0" smtClean="0"/>
            <a:t>Smart Pagination</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Known Uses </a:t>
          </a:r>
          <a:r>
            <a:rPr lang="en-US" sz="2900" b="1" i="1" kern="1200" baseline="0" dirty="0" smtClean="0"/>
            <a:t>: </a:t>
          </a:r>
          <a:r>
            <a:rPr lang="en-US" sz="2900" kern="1200" dirty="0" smtClean="0"/>
            <a:t>Google docs caches customer data even if offline</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Negative Consequences: </a:t>
          </a:r>
          <a:r>
            <a:rPr lang="en-US" sz="2900" kern="1200" dirty="0" smtClean="0"/>
            <a:t>Caches may quickly increase in size and may need to deleted for other programs to run smoothly especially in resource starved environments. Hence caching strategy should heavily depend on the nature of end device the customer is using and should be optimized. Caches also have to be secure.</a:t>
          </a:r>
          <a:endParaRPr lang="en-US" sz="2900" i="1" kern="1200" dirty="0"/>
        </a:p>
      </dsp:txBody>
      <dsp:txXfrm>
        <a:off x="0" y="983182"/>
        <a:ext cx="13368528" cy="907497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47982"/>
          <a:ext cx="13368528" cy="835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rtl="0">
            <a:lnSpc>
              <a:spcPct val="90000"/>
            </a:lnSpc>
            <a:spcBef>
              <a:spcPct val="0"/>
            </a:spcBef>
            <a:spcAft>
              <a:spcPct val="35000"/>
            </a:spcAft>
          </a:pPr>
          <a:r>
            <a:rPr lang="en-US" sz="2900" b="1" i="0" kern="1200" baseline="0" smtClean="0"/>
            <a:t>Context </a:t>
          </a:r>
          <a:endParaRPr lang="en-US" sz="2900" kern="1200"/>
        </a:p>
      </dsp:txBody>
      <dsp:txXfrm>
        <a:off x="0" y="147982"/>
        <a:ext cx="13368528" cy="835200"/>
      </dsp:txXfrm>
    </dsp:sp>
    <dsp:sp modelId="{33DA84CE-87C9-4614-A8D9-C3FAE5FE1014}">
      <dsp:nvSpPr>
        <dsp:cNvPr id="0" name=""/>
        <dsp:cNvSpPr/>
      </dsp:nvSpPr>
      <dsp:spPr>
        <a:xfrm>
          <a:off x="0" y="983182"/>
          <a:ext cx="13368528" cy="90749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rtl="0">
            <a:lnSpc>
              <a:spcPct val="90000"/>
            </a:lnSpc>
            <a:spcBef>
              <a:spcPct val="0"/>
            </a:spcBef>
            <a:spcAft>
              <a:spcPct val="15000"/>
            </a:spcAft>
            <a:buChar char="••"/>
          </a:pPr>
          <a:r>
            <a:rPr lang="en-US" sz="2900" b="1" i="0" kern="1200" baseline="0" dirty="0" smtClean="0"/>
            <a:t>Specific context :  </a:t>
          </a:r>
          <a:r>
            <a:rPr lang="en-US" sz="2900" kern="1200" dirty="0" smtClean="0"/>
            <a:t>Customer has multiple devices or multiple access channels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Problem: </a:t>
          </a:r>
          <a:r>
            <a:rPr lang="en-US" sz="2900" kern="1200" dirty="0" smtClean="0"/>
            <a:t>The customer may do multiple self serve access like devices on same channel: mobile, tablet, a browser. How to create a unique self serve across multiple customer devices?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Example: </a:t>
          </a:r>
          <a:r>
            <a:rPr lang="en-US" sz="2900" kern="1200" dirty="0" smtClean="0"/>
            <a:t>Customer has a tablet, a smart phone and a PC and wants to use same self serve application.</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Forces: </a:t>
          </a:r>
          <a:r>
            <a:rPr lang="en-US" sz="2900" kern="1200" dirty="0" smtClean="0"/>
            <a:t>Computing constraints, Service Cost</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Solution : </a:t>
          </a:r>
          <a:r>
            <a:rPr lang="en-US" sz="2900" kern="1200" dirty="0" smtClean="0"/>
            <a:t>A hybrid application supporting multiple devices is one which offers a customized online channel experience for various devices. </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Solution example : </a:t>
          </a:r>
          <a:r>
            <a:rPr lang="en-US" sz="2900" kern="1200" dirty="0" smtClean="0"/>
            <a:t>An application store where customer can download a shrink wrapped hybrid app for their device for his specific device. The hybrid app mixes both the best features of a pure online access as well as allows for native feature access.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Resulting Context : </a:t>
          </a:r>
          <a:r>
            <a:rPr lang="en-US" sz="2900" kern="1200" dirty="0" smtClean="0"/>
            <a:t>Multi device access</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Related Patterns : </a:t>
          </a:r>
          <a:r>
            <a:rPr lang="en-US" sz="2900" kern="1200" dirty="0" smtClean="0"/>
            <a:t>Smart Pagination</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Known Uses </a:t>
          </a:r>
          <a:r>
            <a:rPr lang="en-US" sz="2900" b="1" i="1" kern="1200" baseline="0" dirty="0" smtClean="0"/>
            <a:t>: </a:t>
          </a:r>
          <a:r>
            <a:rPr lang="en-US" sz="2900" kern="1200" dirty="0" smtClean="0"/>
            <a:t>HDFC bank has a mobile app for payment across devices</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Negative Consequences: </a:t>
          </a:r>
          <a:r>
            <a:rPr lang="en-US" sz="2900" kern="1200" dirty="0" smtClean="0"/>
            <a:t>Hybrid applications are not as fast and don’t have same look and feel as the native applications which may lead to a bad user experience. Hence look and feel and speed needs to be critically monitored for hybrid apps.</a:t>
          </a:r>
          <a:endParaRPr lang="en-US" sz="2900" i="1" kern="1200" dirty="0"/>
        </a:p>
      </dsp:txBody>
      <dsp:txXfrm>
        <a:off x="0" y="983182"/>
        <a:ext cx="13368528" cy="907497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74586"/>
          <a:ext cx="13368528" cy="921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lvl="0" algn="ctr" defTabSz="1422400" rtl="0">
            <a:lnSpc>
              <a:spcPct val="90000"/>
            </a:lnSpc>
            <a:spcBef>
              <a:spcPct val="0"/>
            </a:spcBef>
            <a:spcAft>
              <a:spcPct val="35000"/>
            </a:spcAft>
          </a:pPr>
          <a:r>
            <a:rPr lang="en-US" sz="3200" b="1" i="0" kern="1200" baseline="0" smtClean="0"/>
            <a:t>Context </a:t>
          </a:r>
          <a:endParaRPr lang="en-US" sz="3200" kern="1200"/>
        </a:p>
      </dsp:txBody>
      <dsp:txXfrm>
        <a:off x="0" y="74586"/>
        <a:ext cx="13368528" cy="921600"/>
      </dsp:txXfrm>
    </dsp:sp>
    <dsp:sp modelId="{33DA84CE-87C9-4614-A8D9-C3FAE5FE1014}">
      <dsp:nvSpPr>
        <dsp:cNvPr id="0" name=""/>
        <dsp:cNvSpPr/>
      </dsp:nvSpPr>
      <dsp:spPr>
        <a:xfrm>
          <a:off x="0" y="996186"/>
          <a:ext cx="13368528" cy="91353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rtl="0">
            <a:lnSpc>
              <a:spcPct val="90000"/>
            </a:lnSpc>
            <a:spcBef>
              <a:spcPct val="0"/>
            </a:spcBef>
            <a:spcAft>
              <a:spcPct val="15000"/>
            </a:spcAft>
            <a:buChar char="••"/>
          </a:pPr>
          <a:r>
            <a:rPr lang="en-US" sz="3200" b="1" i="0" kern="1200" baseline="0" dirty="0" smtClean="0"/>
            <a:t>Specific context :  </a:t>
          </a:r>
          <a:r>
            <a:rPr lang="en-US" sz="3200" kern="1200" dirty="0" smtClean="0"/>
            <a:t>Digital channels are not always available.99.9% is common. </a:t>
          </a:r>
          <a:endParaRPr lang="en-US" sz="3200" i="1" kern="1200" dirty="0"/>
        </a:p>
        <a:p>
          <a:pPr marL="285750" lvl="1" indent="-285750" algn="l" defTabSz="1422400" rtl="0">
            <a:lnSpc>
              <a:spcPct val="90000"/>
            </a:lnSpc>
            <a:spcBef>
              <a:spcPct val="0"/>
            </a:spcBef>
            <a:spcAft>
              <a:spcPct val="15000"/>
            </a:spcAft>
            <a:buChar char="••"/>
          </a:pPr>
          <a:r>
            <a:rPr lang="en-US" sz="3200" b="1" i="0" kern="1200" baseline="0" dirty="0" smtClean="0"/>
            <a:t>Problem: </a:t>
          </a:r>
          <a:r>
            <a:rPr lang="en-US" sz="3200" kern="1200" dirty="0" smtClean="0"/>
            <a:t>Some customer self service operations may be down. How to ensure the completion of self service even when backend systems could be down? </a:t>
          </a:r>
          <a:endParaRPr lang="en-US" sz="3200" i="1" kern="1200" dirty="0"/>
        </a:p>
        <a:p>
          <a:pPr marL="285750" lvl="1" indent="-285750" algn="l" defTabSz="1422400" rtl="0">
            <a:lnSpc>
              <a:spcPct val="90000"/>
            </a:lnSpc>
            <a:spcBef>
              <a:spcPct val="0"/>
            </a:spcBef>
            <a:spcAft>
              <a:spcPct val="15000"/>
            </a:spcAft>
            <a:buChar char="••"/>
          </a:pPr>
          <a:r>
            <a:rPr lang="en-US" sz="3200" b="1" i="0" kern="1200" baseline="0" dirty="0" smtClean="0"/>
            <a:t>Example: </a:t>
          </a:r>
          <a:r>
            <a:rPr lang="en-US" sz="3200" kern="1200" dirty="0" smtClean="0"/>
            <a:t>Some services like payments are down. How to still allow them?</a:t>
          </a:r>
          <a:endParaRPr lang="en-US" sz="3200" kern="1200" dirty="0"/>
        </a:p>
        <a:p>
          <a:pPr marL="285750" lvl="1" indent="-285750" algn="l" defTabSz="1422400" rtl="0">
            <a:lnSpc>
              <a:spcPct val="90000"/>
            </a:lnSpc>
            <a:spcBef>
              <a:spcPct val="0"/>
            </a:spcBef>
            <a:spcAft>
              <a:spcPct val="15000"/>
            </a:spcAft>
            <a:buChar char="••"/>
          </a:pPr>
          <a:r>
            <a:rPr lang="en-US" sz="3200" b="1" i="0" kern="1200" baseline="0" dirty="0" smtClean="0"/>
            <a:t>Forces: </a:t>
          </a:r>
          <a:r>
            <a:rPr lang="en-US" sz="3200" kern="1200" dirty="0" smtClean="0"/>
            <a:t>Service Cost</a:t>
          </a:r>
          <a:endParaRPr lang="en-US" sz="3200" kern="1200" dirty="0"/>
        </a:p>
        <a:p>
          <a:pPr marL="285750" lvl="1" indent="-285750" algn="l" defTabSz="1422400" rtl="0">
            <a:lnSpc>
              <a:spcPct val="90000"/>
            </a:lnSpc>
            <a:spcBef>
              <a:spcPct val="0"/>
            </a:spcBef>
            <a:spcAft>
              <a:spcPct val="15000"/>
            </a:spcAft>
            <a:buChar char="••"/>
          </a:pPr>
          <a:r>
            <a:rPr lang="en-US" sz="3200" b="1" i="0" kern="1200" baseline="0" dirty="0" smtClean="0"/>
            <a:t>Solution : </a:t>
          </a:r>
          <a:r>
            <a:rPr lang="en-US" sz="3200" kern="1200" dirty="0" smtClean="0"/>
            <a:t>Disconnected operation where self service task is queued till operations resume.</a:t>
          </a:r>
          <a:endParaRPr lang="en-US" sz="3200" i="1" kern="1200" dirty="0"/>
        </a:p>
        <a:p>
          <a:pPr marL="285750" lvl="1" indent="-285750" algn="l" defTabSz="1422400" rtl="0">
            <a:lnSpc>
              <a:spcPct val="90000"/>
            </a:lnSpc>
            <a:spcBef>
              <a:spcPct val="0"/>
            </a:spcBef>
            <a:spcAft>
              <a:spcPct val="15000"/>
            </a:spcAft>
            <a:buChar char="••"/>
          </a:pPr>
          <a:r>
            <a:rPr lang="en-US" sz="3200" b="1" i="0" kern="1200" baseline="0" dirty="0" smtClean="0"/>
            <a:t>Solution example : </a:t>
          </a:r>
          <a:r>
            <a:rPr lang="en-US" sz="3200" kern="1200" dirty="0" smtClean="0"/>
            <a:t>Allow self service but commit the payment only when services are up. Customer sees no difference</a:t>
          </a:r>
          <a:endParaRPr lang="en-US" sz="3200" i="1" kern="1200" dirty="0"/>
        </a:p>
        <a:p>
          <a:pPr marL="285750" lvl="1" indent="-285750" algn="l" defTabSz="1422400" rtl="0">
            <a:lnSpc>
              <a:spcPct val="90000"/>
            </a:lnSpc>
            <a:spcBef>
              <a:spcPct val="0"/>
            </a:spcBef>
            <a:spcAft>
              <a:spcPct val="15000"/>
            </a:spcAft>
            <a:buChar char="••"/>
          </a:pPr>
          <a:r>
            <a:rPr lang="en-US" sz="3200" b="1" i="0" kern="1200" baseline="0" dirty="0" smtClean="0"/>
            <a:t>Resulting Context : </a:t>
          </a:r>
          <a:r>
            <a:rPr lang="en-US" sz="3200" kern="1200" dirty="0" smtClean="0"/>
            <a:t>Simulation of always up.</a:t>
          </a:r>
          <a:endParaRPr lang="en-US" sz="3200" i="1" kern="1200" dirty="0"/>
        </a:p>
        <a:p>
          <a:pPr marL="285750" lvl="1" indent="-285750" algn="l" defTabSz="1422400" rtl="0">
            <a:lnSpc>
              <a:spcPct val="90000"/>
            </a:lnSpc>
            <a:spcBef>
              <a:spcPct val="0"/>
            </a:spcBef>
            <a:spcAft>
              <a:spcPct val="15000"/>
            </a:spcAft>
            <a:buChar char="••"/>
          </a:pPr>
          <a:r>
            <a:rPr lang="en-US" sz="3200" b="1" i="0" kern="1200" baseline="0" dirty="0" smtClean="0"/>
            <a:t>Related Patterns : </a:t>
          </a:r>
          <a:r>
            <a:rPr lang="en-US" sz="3200" kern="1200" dirty="0" smtClean="0"/>
            <a:t>Seamless Long Self-Service</a:t>
          </a:r>
          <a:endParaRPr lang="en-US" sz="3200" kern="1200" dirty="0"/>
        </a:p>
        <a:p>
          <a:pPr marL="285750" lvl="1" indent="-285750" algn="l" defTabSz="1422400" rtl="0">
            <a:lnSpc>
              <a:spcPct val="90000"/>
            </a:lnSpc>
            <a:spcBef>
              <a:spcPct val="0"/>
            </a:spcBef>
            <a:spcAft>
              <a:spcPct val="15000"/>
            </a:spcAft>
            <a:buChar char="••"/>
          </a:pPr>
          <a:r>
            <a:rPr lang="en-US" sz="3200" b="1" i="0" kern="1200" baseline="0" dirty="0" smtClean="0"/>
            <a:t>Known Uses </a:t>
          </a:r>
          <a:r>
            <a:rPr lang="en-US" sz="3200" b="1" i="1" kern="1200" baseline="0" dirty="0" smtClean="0"/>
            <a:t>: </a:t>
          </a:r>
          <a:r>
            <a:rPr lang="en-US" sz="3200" kern="1200" dirty="0" smtClean="0"/>
            <a:t>Some mail clients will put mail in outbox and send when connection is available demonstrated in illustration below</a:t>
          </a:r>
          <a:endParaRPr lang="en-US" sz="3200" kern="1200" dirty="0"/>
        </a:p>
        <a:p>
          <a:pPr marL="285750" lvl="1" indent="-285750" algn="l" defTabSz="1422400" rtl="0">
            <a:lnSpc>
              <a:spcPct val="90000"/>
            </a:lnSpc>
            <a:spcBef>
              <a:spcPct val="0"/>
            </a:spcBef>
            <a:spcAft>
              <a:spcPct val="15000"/>
            </a:spcAft>
            <a:buChar char="••"/>
          </a:pPr>
          <a:r>
            <a:rPr lang="en-US" sz="3200" b="1" i="0" kern="1200" baseline="0" dirty="0" smtClean="0"/>
            <a:t>Negative Consequences: </a:t>
          </a:r>
          <a:r>
            <a:rPr lang="en-US" sz="3200" kern="1200" dirty="0" smtClean="0"/>
            <a:t>When multiple customers access the same data and are offline they may make mutually incompatible changes. To mitigate these factors synchronization software needs to be written.</a:t>
          </a:r>
          <a:endParaRPr lang="en-US" sz="3200" i="1" kern="1200" dirty="0"/>
        </a:p>
      </dsp:txBody>
      <dsp:txXfrm>
        <a:off x="0" y="996186"/>
        <a:ext cx="13368528" cy="91353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65127"/>
          <a:ext cx="13368528" cy="806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r>
            <a:rPr lang="en-US" sz="2800" b="1" i="0" kern="1200" baseline="0" smtClean="0"/>
            <a:t>Context </a:t>
          </a:r>
          <a:endParaRPr lang="en-US" sz="2800" kern="1200"/>
        </a:p>
      </dsp:txBody>
      <dsp:txXfrm>
        <a:off x="0" y="165127"/>
        <a:ext cx="13368528" cy="806400"/>
      </dsp:txXfrm>
    </dsp:sp>
    <dsp:sp modelId="{33DA84CE-87C9-4614-A8D9-C3FAE5FE1014}">
      <dsp:nvSpPr>
        <dsp:cNvPr id="0" name=""/>
        <dsp:cNvSpPr/>
      </dsp:nvSpPr>
      <dsp:spPr>
        <a:xfrm>
          <a:off x="0" y="971527"/>
          <a:ext cx="13368528" cy="90694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rtl="0">
            <a:lnSpc>
              <a:spcPct val="90000"/>
            </a:lnSpc>
            <a:spcBef>
              <a:spcPct val="0"/>
            </a:spcBef>
            <a:spcAft>
              <a:spcPct val="15000"/>
            </a:spcAft>
            <a:buChar char="••"/>
          </a:pPr>
          <a:r>
            <a:rPr lang="en-US" sz="2800" b="1" i="0" kern="1200" baseline="0" dirty="0" smtClean="0"/>
            <a:t>Specific context :  </a:t>
          </a:r>
          <a:r>
            <a:rPr lang="en-US" sz="2800" kern="1200" dirty="0" smtClean="0"/>
            <a:t>Customer preferences are lost when executing repetitive self serve tasks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Problem: </a:t>
          </a:r>
          <a:r>
            <a:rPr lang="en-US" sz="2800" kern="1200" dirty="0" smtClean="0"/>
            <a:t>If the customer is always treated as new customer then we lose valuable information about their preference like their cognitive style or decision preferences. How to ensure that the self service customer provides an interface that can learn over time?</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Example: </a:t>
          </a:r>
          <a:r>
            <a:rPr lang="en-US" sz="2800" kern="1200" dirty="0" smtClean="0"/>
            <a:t>Customer wants to pay bill always with their same credit card.</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Forces: </a:t>
          </a:r>
          <a:r>
            <a:rPr lang="en-US" sz="2800" kern="1200" dirty="0" smtClean="0"/>
            <a:t>Service Cost, Lack of Time.</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Solution : </a:t>
          </a:r>
          <a:r>
            <a:rPr lang="en-US" sz="2800" kern="1200" dirty="0" smtClean="0"/>
            <a:t>Stores the likes, dislikes and the customer data and keep it updated. This can be leveraged when the customer executes the self service task repeatedly they execute new self serve tasks.</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Solution example : </a:t>
          </a:r>
          <a:r>
            <a:rPr lang="en-US" sz="2800" kern="1200" dirty="0" smtClean="0"/>
            <a:t>Store customers old credit card information securely and allow to use the same</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Resulting Context : </a:t>
          </a:r>
          <a:r>
            <a:rPr lang="en-US" sz="2800" kern="1200" dirty="0" smtClean="0"/>
            <a:t>Customer feels like a known entity. Personalization occurs.</a:t>
          </a:r>
          <a:endParaRPr lang="en-US" sz="2800" i="1" kern="1200" dirty="0"/>
        </a:p>
        <a:p>
          <a:pPr marL="285750" lvl="1" indent="-285750" algn="l" defTabSz="1244600" rtl="0">
            <a:lnSpc>
              <a:spcPct val="90000"/>
            </a:lnSpc>
            <a:spcBef>
              <a:spcPct val="0"/>
            </a:spcBef>
            <a:spcAft>
              <a:spcPct val="15000"/>
            </a:spcAft>
            <a:buChar char="••"/>
          </a:pPr>
          <a:r>
            <a:rPr lang="en-US" sz="2800" b="1" i="0" kern="1200" baseline="0" dirty="0" smtClean="0"/>
            <a:t>Related Patterns : </a:t>
          </a:r>
          <a:r>
            <a:rPr lang="en-US" sz="2800" kern="1200" dirty="0" smtClean="0"/>
            <a:t>2 way non anonymous channel</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Known Uses </a:t>
          </a:r>
          <a:r>
            <a:rPr lang="en-US" sz="2800" b="1" i="1" kern="1200" baseline="0" dirty="0" smtClean="0"/>
            <a:t>: E-commerce </a:t>
          </a:r>
          <a:r>
            <a:rPr lang="en-US" sz="2800" kern="1200" dirty="0" smtClean="0"/>
            <a:t>stores credit card information and other purchase information for reuse</a:t>
          </a:r>
          <a:endParaRPr lang="en-US" sz="2800" kern="1200" dirty="0"/>
        </a:p>
        <a:p>
          <a:pPr marL="285750" lvl="1" indent="-285750" algn="l" defTabSz="1244600" rtl="0">
            <a:lnSpc>
              <a:spcPct val="90000"/>
            </a:lnSpc>
            <a:spcBef>
              <a:spcPct val="0"/>
            </a:spcBef>
            <a:spcAft>
              <a:spcPct val="15000"/>
            </a:spcAft>
            <a:buChar char="••"/>
          </a:pPr>
          <a:r>
            <a:rPr lang="en-US" sz="2800" b="1" i="0" kern="1200" baseline="0" dirty="0" smtClean="0"/>
            <a:t>Negative Consequences: </a:t>
          </a:r>
          <a:r>
            <a:rPr lang="en-US" sz="2800" kern="1200" dirty="0" smtClean="0"/>
            <a:t>The stored data of the customer must be constantly updated. He could have changed his credit card, moved premises, started to have different culinary taste between the time he expressed his preferences in the site and the time he accesses the site. To mitigate the preferences must allow for change from existing preferences.</a:t>
          </a:r>
          <a:endParaRPr lang="en-US" sz="2800" i="1" kern="1200" dirty="0"/>
        </a:p>
      </dsp:txBody>
      <dsp:txXfrm>
        <a:off x="0" y="971527"/>
        <a:ext cx="13368528" cy="906948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60986"/>
          <a:ext cx="13368528" cy="748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lvl="0" algn="ctr" defTabSz="1155700" rtl="0">
            <a:lnSpc>
              <a:spcPct val="90000"/>
            </a:lnSpc>
            <a:spcBef>
              <a:spcPct val="0"/>
            </a:spcBef>
            <a:spcAft>
              <a:spcPct val="35000"/>
            </a:spcAft>
          </a:pPr>
          <a:r>
            <a:rPr lang="en-US" sz="2600" b="1" i="0" kern="1200" baseline="0" smtClean="0"/>
            <a:t>Context </a:t>
          </a:r>
          <a:endParaRPr lang="en-US" sz="2600" kern="1200"/>
        </a:p>
      </dsp:txBody>
      <dsp:txXfrm>
        <a:off x="0" y="160986"/>
        <a:ext cx="13368528" cy="748800"/>
      </dsp:txXfrm>
    </dsp:sp>
    <dsp:sp modelId="{33DA84CE-87C9-4614-A8D9-C3FAE5FE1014}">
      <dsp:nvSpPr>
        <dsp:cNvPr id="0" name=""/>
        <dsp:cNvSpPr/>
      </dsp:nvSpPr>
      <dsp:spPr>
        <a:xfrm>
          <a:off x="0" y="909786"/>
          <a:ext cx="13368528" cy="91353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US" sz="2600" b="1" i="0" kern="1200" baseline="0" dirty="0" smtClean="0"/>
            <a:t>Specific context :  </a:t>
          </a:r>
          <a:r>
            <a:rPr lang="en-US" sz="2600" kern="1200" dirty="0" smtClean="0"/>
            <a:t>When the service provider needs two way communication but customer is anonymous</a:t>
          </a:r>
          <a:endParaRPr lang="en-US" sz="2600" i="1" kern="1200" dirty="0"/>
        </a:p>
        <a:p>
          <a:pPr marL="228600" lvl="1" indent="-228600" algn="l" defTabSz="1155700" rtl="0">
            <a:lnSpc>
              <a:spcPct val="90000"/>
            </a:lnSpc>
            <a:spcBef>
              <a:spcPct val="0"/>
            </a:spcBef>
            <a:spcAft>
              <a:spcPct val="15000"/>
            </a:spcAft>
            <a:buChar char="••"/>
          </a:pPr>
          <a:r>
            <a:rPr lang="en-US" sz="2600" b="1" i="0" kern="1200" baseline="0" dirty="0" smtClean="0"/>
            <a:t>Problem: </a:t>
          </a:r>
          <a:r>
            <a:rPr lang="en-US" sz="2600" kern="1200" dirty="0" smtClean="0"/>
            <a:t>Anonymous customers cannot be provided optimized self service. How to ensure that end customers are not an anonymous entity in the online channel?</a:t>
          </a:r>
          <a:endParaRPr lang="en-US" sz="2600" i="1" kern="1200" dirty="0"/>
        </a:p>
        <a:p>
          <a:pPr marL="228600" lvl="1" indent="-228600" algn="l" defTabSz="1155700" rtl="0">
            <a:lnSpc>
              <a:spcPct val="90000"/>
            </a:lnSpc>
            <a:spcBef>
              <a:spcPct val="0"/>
            </a:spcBef>
            <a:spcAft>
              <a:spcPct val="15000"/>
            </a:spcAft>
            <a:buChar char="••"/>
          </a:pPr>
          <a:r>
            <a:rPr lang="en-US" sz="2600" b="1" i="0" kern="1200" baseline="0" dirty="0" smtClean="0"/>
            <a:t>Example: </a:t>
          </a:r>
          <a:r>
            <a:rPr lang="en-US" sz="2600" kern="1200" dirty="0" smtClean="0"/>
            <a:t>Site wants to send a feedback on a self serve task but customer is anonymous</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Forces: </a:t>
          </a:r>
          <a:r>
            <a:rPr lang="en-US" sz="2600" kern="1200" dirty="0" smtClean="0"/>
            <a:t>Service Cost, Trust</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Solution : </a:t>
          </a:r>
          <a:r>
            <a:rPr lang="en-US" sz="2600" kern="1200" dirty="0" smtClean="0"/>
            <a:t>Create account management functionality which allows users to provide contact information as well as allows them to be. Thus the users are no longer anonymous.</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Solution example : </a:t>
          </a:r>
          <a:r>
            <a:rPr lang="en-US" sz="2600" kern="1200" dirty="0" smtClean="0"/>
            <a:t>Login functionality capturing email and phone number</a:t>
          </a:r>
          <a:endParaRPr lang="en-US" sz="2600" i="1" kern="1200" dirty="0"/>
        </a:p>
        <a:p>
          <a:pPr marL="228600" lvl="1" indent="-228600" algn="l" defTabSz="1155700" rtl="0">
            <a:lnSpc>
              <a:spcPct val="90000"/>
            </a:lnSpc>
            <a:spcBef>
              <a:spcPct val="0"/>
            </a:spcBef>
            <a:spcAft>
              <a:spcPct val="15000"/>
            </a:spcAft>
            <a:buChar char="••"/>
          </a:pPr>
          <a:r>
            <a:rPr lang="en-US" sz="2600" b="1" i="0" kern="1200" baseline="0" dirty="0" smtClean="0"/>
            <a:t>Resulting Context : </a:t>
          </a:r>
          <a:r>
            <a:rPr lang="en-US" sz="2600" kern="1200" dirty="0" smtClean="0"/>
            <a:t>2 way communication happens</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Related Patterns : </a:t>
          </a:r>
          <a:r>
            <a:rPr lang="en-US" sz="2600" b="0" i="0" kern="1200" baseline="0" dirty="0" smtClean="0"/>
            <a:t>360 degree view</a:t>
          </a:r>
          <a:endParaRPr lang="en-US" sz="2600" b="0" kern="1200" dirty="0"/>
        </a:p>
        <a:p>
          <a:pPr marL="228600" lvl="1" indent="-228600" algn="l" defTabSz="1155700" rtl="0">
            <a:lnSpc>
              <a:spcPct val="90000"/>
            </a:lnSpc>
            <a:spcBef>
              <a:spcPct val="0"/>
            </a:spcBef>
            <a:spcAft>
              <a:spcPct val="15000"/>
            </a:spcAft>
            <a:buChar char="••"/>
          </a:pPr>
          <a:r>
            <a:rPr lang="en-US" sz="2600" b="1" i="0" kern="1200" baseline="0" dirty="0" smtClean="0"/>
            <a:t>Known Uses </a:t>
          </a:r>
          <a:r>
            <a:rPr lang="en-US" sz="2600" b="1" i="1" kern="1200" baseline="0" dirty="0" smtClean="0"/>
            <a:t>: E-commerce </a:t>
          </a:r>
          <a:r>
            <a:rPr lang="en-US" sz="2600" kern="1200" dirty="0" smtClean="0"/>
            <a:t>stores allows anonymous bill pay as well as logged in bill pay. While logged in, users are shown additional usages and other efficient plans.</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Negative Consequences: </a:t>
          </a:r>
          <a:r>
            <a:rPr lang="en-US" sz="2600" kern="1200" dirty="0" smtClean="0"/>
            <a:t>Once customer account management feature resulting in two way non-anonymous channel, the safety and security infrastructure needed at the backend also increases tremendously. To mitigate this strong security measures need to be put in backend including things like automatically changing passwords, CAPTCHAs and creating password reset infrastructure. Further customers start demanding increased service due to non anonymity which can be remedied by providing them with specialized items like coupons or lower bills. Some customers who prefer to be anonymous may need to be served so all critical self serve activities should have an anonymous mode.</a:t>
          </a:r>
          <a:endParaRPr lang="en-US" sz="2600" i="1" kern="1200" dirty="0"/>
        </a:p>
      </dsp:txBody>
      <dsp:txXfrm>
        <a:off x="0" y="909786"/>
        <a:ext cx="13368528" cy="913536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386796"/>
          <a:ext cx="13368528" cy="835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rtl="0">
            <a:lnSpc>
              <a:spcPct val="90000"/>
            </a:lnSpc>
            <a:spcBef>
              <a:spcPct val="0"/>
            </a:spcBef>
            <a:spcAft>
              <a:spcPct val="35000"/>
            </a:spcAft>
          </a:pPr>
          <a:r>
            <a:rPr lang="en-US" sz="2900" b="1" i="0" kern="1200" baseline="0" smtClean="0"/>
            <a:t>Context </a:t>
          </a:r>
          <a:endParaRPr lang="en-US" sz="2900" kern="1200"/>
        </a:p>
      </dsp:txBody>
      <dsp:txXfrm>
        <a:off x="0" y="386796"/>
        <a:ext cx="13368528" cy="835200"/>
      </dsp:txXfrm>
    </dsp:sp>
    <dsp:sp modelId="{33DA84CE-87C9-4614-A8D9-C3FAE5FE1014}">
      <dsp:nvSpPr>
        <dsp:cNvPr id="0" name=""/>
        <dsp:cNvSpPr/>
      </dsp:nvSpPr>
      <dsp:spPr>
        <a:xfrm>
          <a:off x="0" y="1221996"/>
          <a:ext cx="13368528" cy="859734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rtl="0">
            <a:lnSpc>
              <a:spcPct val="90000"/>
            </a:lnSpc>
            <a:spcBef>
              <a:spcPct val="0"/>
            </a:spcBef>
            <a:spcAft>
              <a:spcPct val="15000"/>
            </a:spcAft>
            <a:buChar char="••"/>
          </a:pPr>
          <a:r>
            <a:rPr lang="en-US" sz="2900" b="1" i="0" kern="1200" baseline="0" dirty="0" smtClean="0"/>
            <a:t>Specific context :  </a:t>
          </a:r>
          <a:r>
            <a:rPr lang="en-US" sz="2900" kern="1200" dirty="0" smtClean="0"/>
            <a:t>Customer does self serve and forgets the provider</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Problem: </a:t>
          </a:r>
          <a:r>
            <a:rPr lang="en-US" sz="2900" kern="1200" dirty="0" smtClean="0"/>
            <a:t>Once the customer moves away from self serve, the self serve organization desires to build trust and relations. How to ensure that the self service provider is in the mind of the customer even after customer has finished the self serve task?</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Example: </a:t>
          </a:r>
          <a:r>
            <a:rPr lang="en-US" sz="2900" kern="1200" dirty="0" smtClean="0"/>
            <a:t>Customer is not able to build long term relationship with self serve</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Forces: </a:t>
          </a:r>
          <a:r>
            <a:rPr lang="en-US" sz="2900" kern="1200" dirty="0" smtClean="0"/>
            <a:t>Cognitive Complexity, Trust, Service Cost, Offline versus Online, Heterogeneity</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Solution : </a:t>
          </a:r>
          <a:r>
            <a:rPr lang="en-US" sz="2900" kern="1200" dirty="0" smtClean="0"/>
            <a:t>Create a multichannel feedback allowing for relationships..</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Solution example : </a:t>
          </a:r>
          <a:r>
            <a:rPr lang="en-US" sz="2900" kern="1200" dirty="0" smtClean="0"/>
            <a:t>Email/SMS/Survey/Social/Ratings can be provided</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Resulting Context : </a:t>
          </a:r>
          <a:r>
            <a:rPr lang="en-US" sz="2900" kern="1200" dirty="0" smtClean="0"/>
            <a:t>Customer feels part of 2 way conversation if the communication is personalized, individualized and dialogic </a:t>
          </a:r>
          <a:endParaRPr lang="en-US" sz="2900" i="1" kern="1200" dirty="0"/>
        </a:p>
        <a:p>
          <a:pPr marL="285750" lvl="1" indent="-285750" algn="l" defTabSz="1289050" rtl="0">
            <a:lnSpc>
              <a:spcPct val="90000"/>
            </a:lnSpc>
            <a:spcBef>
              <a:spcPct val="0"/>
            </a:spcBef>
            <a:spcAft>
              <a:spcPct val="15000"/>
            </a:spcAft>
            <a:buChar char="••"/>
          </a:pPr>
          <a:r>
            <a:rPr lang="en-US" sz="2900" b="1" i="0" kern="1200" baseline="0" dirty="0" smtClean="0"/>
            <a:t>Related Patterns : </a:t>
          </a:r>
          <a:r>
            <a:rPr lang="en-US" sz="2900" kern="1200" dirty="0" smtClean="0"/>
            <a:t>360 Degree View </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Known Uses </a:t>
          </a:r>
          <a:r>
            <a:rPr lang="en-US" sz="2900" b="1" i="1" kern="1200" baseline="0" dirty="0" smtClean="0"/>
            <a:t>: </a:t>
          </a:r>
          <a:r>
            <a:rPr lang="en-US" sz="2900" kern="1200" dirty="0" smtClean="0"/>
            <a:t>IRCTC communicates customized rail packages to its known customers</a:t>
          </a:r>
          <a:endParaRPr lang="en-US" sz="2900" kern="1200" dirty="0"/>
        </a:p>
        <a:p>
          <a:pPr marL="285750" lvl="1" indent="-285750" algn="l" defTabSz="1289050" rtl="0">
            <a:lnSpc>
              <a:spcPct val="90000"/>
            </a:lnSpc>
            <a:spcBef>
              <a:spcPct val="0"/>
            </a:spcBef>
            <a:spcAft>
              <a:spcPct val="15000"/>
            </a:spcAft>
            <a:buChar char="••"/>
          </a:pPr>
          <a:r>
            <a:rPr lang="en-US" sz="2900" b="1" i="0" kern="1200" baseline="0" dirty="0" smtClean="0"/>
            <a:t>Negative Consequences: </a:t>
          </a:r>
          <a:r>
            <a:rPr lang="en-US" sz="2900" kern="1200" dirty="0" smtClean="0"/>
            <a:t>The stored data of the customer must be constantly updated. He could have changed his credit card, moved premises, started to have different culinary taste between the time he expressed his preferences in the site and the time he accesses the site. To mitigate the preferences must allow for change from existing preferences.</a:t>
          </a:r>
          <a:endParaRPr lang="en-US" sz="2900" i="1" kern="1200" dirty="0"/>
        </a:p>
      </dsp:txBody>
      <dsp:txXfrm>
        <a:off x="0" y="1221996"/>
        <a:ext cx="13368528" cy="859734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160986"/>
          <a:ext cx="13368528" cy="7488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lvl="0" algn="ctr" defTabSz="1155700" rtl="0">
            <a:lnSpc>
              <a:spcPct val="90000"/>
            </a:lnSpc>
            <a:spcBef>
              <a:spcPct val="0"/>
            </a:spcBef>
            <a:spcAft>
              <a:spcPct val="35000"/>
            </a:spcAft>
          </a:pPr>
          <a:r>
            <a:rPr lang="en-US" sz="2600" b="1" i="0" kern="1200" baseline="0" smtClean="0"/>
            <a:t>Context </a:t>
          </a:r>
          <a:endParaRPr lang="en-US" sz="2600" kern="1200"/>
        </a:p>
      </dsp:txBody>
      <dsp:txXfrm>
        <a:off x="0" y="160986"/>
        <a:ext cx="13368528" cy="748800"/>
      </dsp:txXfrm>
    </dsp:sp>
    <dsp:sp modelId="{33DA84CE-87C9-4614-A8D9-C3FAE5FE1014}">
      <dsp:nvSpPr>
        <dsp:cNvPr id="0" name=""/>
        <dsp:cNvSpPr/>
      </dsp:nvSpPr>
      <dsp:spPr>
        <a:xfrm>
          <a:off x="0" y="909786"/>
          <a:ext cx="13368528" cy="91353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US" sz="2600" b="1" i="0" kern="1200" baseline="0" dirty="0" smtClean="0"/>
            <a:t>Specific context :  </a:t>
          </a:r>
          <a:r>
            <a:rPr lang="en-US" sz="2600" kern="1200" dirty="0" smtClean="0"/>
            <a:t>Some customers may use multiple channels to interact. How to build a relationship?</a:t>
          </a:r>
          <a:endParaRPr lang="en-US" sz="2600" i="1" kern="1200" dirty="0"/>
        </a:p>
        <a:p>
          <a:pPr marL="228600" lvl="1" indent="-228600" algn="l" defTabSz="1155700" rtl="0">
            <a:lnSpc>
              <a:spcPct val="90000"/>
            </a:lnSpc>
            <a:spcBef>
              <a:spcPct val="0"/>
            </a:spcBef>
            <a:spcAft>
              <a:spcPct val="15000"/>
            </a:spcAft>
            <a:buChar char="••"/>
          </a:pPr>
          <a:r>
            <a:rPr lang="en-US" sz="2600" b="1" i="0" kern="1200" baseline="0" dirty="0" smtClean="0"/>
            <a:t>Problem: </a:t>
          </a:r>
          <a:r>
            <a:rPr lang="en-US" sz="2600" kern="1200" dirty="0" smtClean="0"/>
            <a:t>Customers interact with self service providers through various channels that may be transactional, relationship-based or social. Typically data regarding these interactions are in separate silos, thus the company cannot have an integrated view of the customer. We call such an integrated view, a 360 degree view of the customer. How does a system create 360 degree view of customer self serve to serve better?</a:t>
          </a:r>
          <a:endParaRPr lang="en-US" sz="2600" i="1" kern="1200" dirty="0"/>
        </a:p>
        <a:p>
          <a:pPr marL="228600" lvl="1" indent="-228600" algn="l" defTabSz="1155700" rtl="0">
            <a:lnSpc>
              <a:spcPct val="90000"/>
            </a:lnSpc>
            <a:spcBef>
              <a:spcPct val="0"/>
            </a:spcBef>
            <a:spcAft>
              <a:spcPct val="15000"/>
            </a:spcAft>
            <a:buChar char="••"/>
          </a:pPr>
          <a:r>
            <a:rPr lang="en-US" sz="2600" b="1" i="0" kern="1200" baseline="0" dirty="0" smtClean="0"/>
            <a:t>Example: </a:t>
          </a:r>
          <a:r>
            <a:rPr lang="en-US" sz="2600" kern="1200" dirty="0" smtClean="0"/>
            <a:t>Some customers may call and pose a problem. Then they may go to a website and try to self serve and solve the problem. Then call back. They may post something about the self service task to a user forum. How to provide a unified view to service provider?</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Forces: </a:t>
          </a:r>
          <a:r>
            <a:rPr lang="en-US" sz="2600" kern="1200" dirty="0" smtClean="0"/>
            <a:t>Service Cost, Short Term versus Long Term</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Solution : </a:t>
          </a:r>
          <a:r>
            <a:rPr lang="en-US" sz="2600" kern="1200" dirty="0" smtClean="0"/>
            <a:t>Create a backend system with a multi channel 360 degree view.</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Solution example : </a:t>
          </a:r>
          <a:r>
            <a:rPr lang="en-US" sz="2600" kern="1200" dirty="0" smtClean="0"/>
            <a:t>A backend integrated CRM system</a:t>
          </a:r>
          <a:endParaRPr lang="en-US" sz="2600" i="1" kern="1200" dirty="0"/>
        </a:p>
        <a:p>
          <a:pPr marL="228600" lvl="1" indent="-228600" algn="l" defTabSz="1155700" rtl="0">
            <a:lnSpc>
              <a:spcPct val="90000"/>
            </a:lnSpc>
            <a:spcBef>
              <a:spcPct val="0"/>
            </a:spcBef>
            <a:spcAft>
              <a:spcPct val="15000"/>
            </a:spcAft>
            <a:buChar char="••"/>
          </a:pPr>
          <a:r>
            <a:rPr lang="en-US" sz="2600" b="1" i="0" kern="1200" baseline="0" dirty="0" smtClean="0"/>
            <a:t>Resulting Context : </a:t>
          </a:r>
          <a:r>
            <a:rPr lang="en-US" sz="2600" kern="1200" dirty="0" smtClean="0"/>
            <a:t>Seamless access. Full information</a:t>
          </a:r>
          <a:endParaRPr lang="en-US" sz="2600" i="1" kern="1200" dirty="0"/>
        </a:p>
        <a:p>
          <a:pPr marL="228600" lvl="1" indent="-228600" algn="l" defTabSz="1155700" rtl="0">
            <a:lnSpc>
              <a:spcPct val="90000"/>
            </a:lnSpc>
            <a:spcBef>
              <a:spcPct val="0"/>
            </a:spcBef>
            <a:spcAft>
              <a:spcPct val="15000"/>
            </a:spcAft>
            <a:buChar char="••"/>
          </a:pPr>
          <a:r>
            <a:rPr lang="en-US" sz="2600" b="1" i="0" kern="1200" baseline="0" dirty="0" smtClean="0"/>
            <a:t>Related Patterns : </a:t>
          </a:r>
          <a:r>
            <a:rPr lang="en-US" sz="2600" kern="1200" dirty="0" smtClean="0"/>
            <a:t>Trusted Online Brand</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Known Uses </a:t>
          </a:r>
          <a:r>
            <a:rPr lang="en-US" sz="2600" b="1" i="1" kern="1200" baseline="0" dirty="0" smtClean="0"/>
            <a:t>: </a:t>
          </a:r>
          <a:r>
            <a:rPr lang="en-US" sz="2600" kern="1200" dirty="0" smtClean="0"/>
            <a:t>HDFC sends an SMS alert once you shop with debit/credit card, an alert when your salary is deposited and a end of month alert with bank-balances and an alert for third party transactions. They also allow to pay bills through the bank,</a:t>
          </a:r>
          <a:endParaRPr lang="en-US" sz="2600" kern="1200" dirty="0"/>
        </a:p>
        <a:p>
          <a:pPr marL="228600" lvl="1" indent="-228600" algn="l" defTabSz="1155700" rtl="0">
            <a:lnSpc>
              <a:spcPct val="90000"/>
            </a:lnSpc>
            <a:spcBef>
              <a:spcPct val="0"/>
            </a:spcBef>
            <a:spcAft>
              <a:spcPct val="15000"/>
            </a:spcAft>
            <a:buChar char="••"/>
          </a:pPr>
          <a:r>
            <a:rPr lang="en-US" sz="2600" b="1" i="0" kern="1200" baseline="0" dirty="0" smtClean="0"/>
            <a:t>Negative Consequences: </a:t>
          </a:r>
          <a:r>
            <a:rPr lang="en-US" sz="2600" kern="1200" dirty="0" smtClean="0"/>
            <a:t>Building a 360 degree view is challenging and may raise privacy concerns. Further customer data from things like social networks is rich and unstructured and cannot be quantitatively measured. Also significant infrastructure is needed to host a 360 degree view. The mitigation is to gradually build the view from incoming data on cloud based services.</a:t>
          </a:r>
          <a:endParaRPr lang="en-US" sz="2600" i="1" kern="1200" dirty="0"/>
        </a:p>
      </dsp:txBody>
      <dsp:txXfrm>
        <a:off x="0" y="909786"/>
        <a:ext cx="13368528" cy="913536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388866"/>
          <a:ext cx="13368528" cy="864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lvl="0" algn="ctr" defTabSz="1333500" rtl="0">
            <a:lnSpc>
              <a:spcPct val="90000"/>
            </a:lnSpc>
            <a:spcBef>
              <a:spcPct val="0"/>
            </a:spcBef>
            <a:spcAft>
              <a:spcPct val="35000"/>
            </a:spcAft>
          </a:pPr>
          <a:r>
            <a:rPr lang="en-US" sz="3000" b="1" i="0" kern="1200" baseline="0" smtClean="0"/>
            <a:t>Context </a:t>
          </a:r>
          <a:endParaRPr lang="en-US" sz="3000" kern="1200"/>
        </a:p>
      </dsp:txBody>
      <dsp:txXfrm>
        <a:off x="0" y="388866"/>
        <a:ext cx="13368528" cy="864000"/>
      </dsp:txXfrm>
    </dsp:sp>
    <dsp:sp modelId="{33DA84CE-87C9-4614-A8D9-C3FAE5FE1014}">
      <dsp:nvSpPr>
        <dsp:cNvPr id="0" name=""/>
        <dsp:cNvSpPr/>
      </dsp:nvSpPr>
      <dsp:spPr>
        <a:xfrm>
          <a:off x="0" y="1252866"/>
          <a:ext cx="13368528" cy="85644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rtl="0">
            <a:lnSpc>
              <a:spcPct val="90000"/>
            </a:lnSpc>
            <a:spcBef>
              <a:spcPct val="0"/>
            </a:spcBef>
            <a:spcAft>
              <a:spcPct val="15000"/>
            </a:spcAft>
            <a:buChar char="••"/>
          </a:pPr>
          <a:r>
            <a:rPr lang="en-US" sz="3000" b="1" i="0" kern="1200" baseline="0" dirty="0" smtClean="0"/>
            <a:t>Specific context :  </a:t>
          </a:r>
          <a:r>
            <a:rPr lang="en-US" sz="3000" kern="1200" dirty="0" smtClean="0"/>
            <a:t>Customer trust is low in online channels</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Problem: </a:t>
          </a:r>
          <a:r>
            <a:rPr lang="en-US" sz="3000" kern="1200" dirty="0" smtClean="0"/>
            <a:t>Customers feel revealing information to self serve websites may compromise their privacy. How to assure customers that their privacy won’t be compromised?</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Example: </a:t>
          </a:r>
          <a:r>
            <a:rPr lang="en-US" sz="3000" kern="1200" dirty="0" smtClean="0"/>
            <a:t>Customer does not trust a website with credit card information, personal details in fear they will be targeted or discriminated or robbed.</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Forces: </a:t>
          </a:r>
          <a:r>
            <a:rPr lang="en-US" sz="3000" kern="1200" dirty="0" smtClean="0"/>
            <a:t>Short Term versus Long Term, Trust</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Solution : </a:t>
          </a:r>
          <a:r>
            <a:rPr lang="en-US" sz="3000" kern="1200" dirty="0" smtClean="0"/>
            <a:t>Create a well defined working privacy policy</a:t>
          </a:r>
          <a:endParaRPr lang="en-US" sz="3000" kern="1200" dirty="0"/>
        </a:p>
        <a:p>
          <a:pPr marL="285750" lvl="1" indent="-285750" algn="l" defTabSz="1333500" rtl="0">
            <a:lnSpc>
              <a:spcPct val="90000"/>
            </a:lnSpc>
            <a:spcBef>
              <a:spcPct val="0"/>
            </a:spcBef>
            <a:spcAft>
              <a:spcPct val="15000"/>
            </a:spcAft>
            <a:buChar char="••"/>
          </a:pPr>
          <a:r>
            <a:rPr lang="en-US" sz="3000" b="1" i="0" kern="1200" baseline="0" dirty="0" smtClean="0"/>
            <a:t>Solution example : </a:t>
          </a:r>
          <a:r>
            <a:rPr lang="en-US" sz="3000" kern="1200" dirty="0" smtClean="0"/>
            <a:t>A cookie tracking policy</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Resulting Context : </a:t>
          </a:r>
          <a:r>
            <a:rPr lang="en-US" sz="3000" kern="1200" dirty="0" smtClean="0"/>
            <a:t>More trust and cooperation will result if the company crafts a well defined policy and adheres to the same.</a:t>
          </a:r>
          <a:endParaRPr lang="en-US" sz="3000" i="1" kern="1200" dirty="0"/>
        </a:p>
        <a:p>
          <a:pPr marL="285750" lvl="1" indent="-285750" algn="l" defTabSz="1333500" rtl="0">
            <a:lnSpc>
              <a:spcPct val="90000"/>
            </a:lnSpc>
            <a:spcBef>
              <a:spcPct val="0"/>
            </a:spcBef>
            <a:spcAft>
              <a:spcPct val="15000"/>
            </a:spcAft>
            <a:buChar char="••"/>
          </a:pPr>
          <a:r>
            <a:rPr lang="en-US" sz="3000" b="1" i="0" kern="1200" baseline="0" dirty="0" smtClean="0"/>
            <a:t>Related Patterns : </a:t>
          </a:r>
          <a:r>
            <a:rPr lang="en-US" sz="3000" b="0" i="0" kern="1200" baseline="0" dirty="0" smtClean="0"/>
            <a:t>360 degree view</a:t>
          </a:r>
          <a:endParaRPr lang="en-US" sz="3000" b="0" kern="1200" dirty="0"/>
        </a:p>
        <a:p>
          <a:pPr marL="285750" lvl="1" indent="-285750" algn="l" defTabSz="1333500" rtl="0">
            <a:lnSpc>
              <a:spcPct val="90000"/>
            </a:lnSpc>
            <a:spcBef>
              <a:spcPct val="0"/>
            </a:spcBef>
            <a:spcAft>
              <a:spcPct val="15000"/>
            </a:spcAft>
            <a:buChar char="••"/>
          </a:pPr>
          <a:r>
            <a:rPr lang="en-US" sz="3000" b="1" i="0" kern="1200" baseline="0" dirty="0" smtClean="0"/>
            <a:t>Known Uses </a:t>
          </a:r>
          <a:r>
            <a:rPr lang="en-US" sz="3000" b="1" i="1" kern="1200" baseline="0" dirty="0" smtClean="0"/>
            <a:t>:</a:t>
          </a:r>
          <a:r>
            <a:rPr lang="en-US" sz="3000" kern="1200" dirty="0" smtClean="0"/>
            <a:t>All websites have well defined privacy policies in their footer</a:t>
          </a:r>
          <a:endParaRPr lang="en-US" sz="3000" kern="1200" dirty="0"/>
        </a:p>
        <a:p>
          <a:pPr marL="285750" lvl="1" indent="-285750" algn="l" defTabSz="1333500" rtl="0">
            <a:lnSpc>
              <a:spcPct val="90000"/>
            </a:lnSpc>
            <a:spcBef>
              <a:spcPct val="0"/>
            </a:spcBef>
            <a:spcAft>
              <a:spcPct val="15000"/>
            </a:spcAft>
            <a:buChar char="••"/>
          </a:pPr>
          <a:r>
            <a:rPr lang="en-US" sz="3000" b="1" i="0" kern="1200" baseline="0" dirty="0" smtClean="0"/>
            <a:t>Negative Consequences: </a:t>
          </a:r>
          <a:r>
            <a:rPr lang="en-US" sz="3000" kern="1200" dirty="0" smtClean="0"/>
            <a:t>Having no working privacy policy, means you can monetize the clicks the user makes on the site as well as build referral networks at cost of customer privacy. This could be suitable in rare cases. However having a working privacy policy entails you to not sell customer data to third party, not to track the customer unless it is with their explicit permission, which is better in long run.</a:t>
          </a:r>
          <a:endParaRPr lang="en-US" sz="3000" kern="1200" dirty="0"/>
        </a:p>
      </dsp:txBody>
      <dsp:txXfrm>
        <a:off x="0" y="1252866"/>
        <a:ext cx="13368528" cy="856440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5FF89-21C0-4C52-9D60-7882CD44458B}">
      <dsp:nvSpPr>
        <dsp:cNvPr id="0" name=""/>
        <dsp:cNvSpPr/>
      </dsp:nvSpPr>
      <dsp:spPr>
        <a:xfrm>
          <a:off x="0" y="341481"/>
          <a:ext cx="13368528" cy="7776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lvl="0" algn="ctr" defTabSz="1200150" rtl="0">
            <a:lnSpc>
              <a:spcPct val="90000"/>
            </a:lnSpc>
            <a:spcBef>
              <a:spcPct val="0"/>
            </a:spcBef>
            <a:spcAft>
              <a:spcPct val="35000"/>
            </a:spcAft>
          </a:pPr>
          <a:r>
            <a:rPr lang="en-US" sz="2700" b="1" i="0" kern="1200" baseline="0" smtClean="0"/>
            <a:t>Context </a:t>
          </a:r>
          <a:endParaRPr lang="en-US" sz="2700" kern="1200"/>
        </a:p>
      </dsp:txBody>
      <dsp:txXfrm>
        <a:off x="0" y="341481"/>
        <a:ext cx="13368528" cy="777600"/>
      </dsp:txXfrm>
    </dsp:sp>
    <dsp:sp modelId="{33DA84CE-87C9-4614-A8D9-C3FAE5FE1014}">
      <dsp:nvSpPr>
        <dsp:cNvPr id="0" name=""/>
        <dsp:cNvSpPr/>
      </dsp:nvSpPr>
      <dsp:spPr>
        <a:xfrm>
          <a:off x="0" y="1119081"/>
          <a:ext cx="13368528" cy="874557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rtl="0">
            <a:lnSpc>
              <a:spcPct val="90000"/>
            </a:lnSpc>
            <a:spcBef>
              <a:spcPct val="0"/>
            </a:spcBef>
            <a:spcAft>
              <a:spcPct val="15000"/>
            </a:spcAft>
            <a:buChar char="••"/>
          </a:pPr>
          <a:r>
            <a:rPr lang="en-US" sz="2700" b="1" i="0" kern="1200" baseline="0" dirty="0" smtClean="0"/>
            <a:t>Specific context :  </a:t>
          </a:r>
          <a:r>
            <a:rPr lang="en-US" sz="2700" kern="1200" dirty="0" smtClean="0"/>
            <a:t>There are multiple classes of segment-able users for the self service with different demands and differing capacities to pay for services. The resource on service provider side is limited.</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Problem: </a:t>
          </a:r>
          <a:r>
            <a:rPr lang="en-US" sz="2700" kern="1200" dirty="0" smtClean="0"/>
            <a:t>How does the system serve some users at a different service level than others?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Example: </a:t>
          </a:r>
          <a:r>
            <a:rPr lang="en-US" sz="2700" kern="1200" dirty="0" smtClean="0"/>
            <a:t>Some customers are high paying or need a different class of self service and some are low paying for a file download website. How to differentiate?</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Forces: </a:t>
          </a:r>
          <a:r>
            <a:rPr lang="en-US" sz="2700" kern="1200" dirty="0" smtClean="0"/>
            <a:t>Service Cost, Long term versus short term</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Solution : </a:t>
          </a:r>
          <a:r>
            <a:rPr lang="en-US" sz="2700" kern="1200" dirty="0" smtClean="0"/>
            <a:t>Provide various classes of self service differentiated in terms of time, quality or cost. Segment the users and assign each segment to a given class. </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Solution example : </a:t>
          </a:r>
          <a:r>
            <a:rPr lang="en-US" sz="2700" kern="1200" dirty="0" smtClean="0"/>
            <a:t>For example introduce a time delay for low paying customers who can afford to wait. We can also give discounts to customers who have used the online channel considerably more in the past as compared to other customers.</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Resulting Context : </a:t>
          </a:r>
          <a:r>
            <a:rPr lang="en-US" sz="2700" kern="1200" dirty="0" smtClean="0"/>
            <a:t>People are served based on relationship value</a:t>
          </a:r>
          <a:endParaRPr lang="en-US" sz="2700" i="1" kern="1200" dirty="0"/>
        </a:p>
        <a:p>
          <a:pPr marL="228600" lvl="1" indent="-228600" algn="l" defTabSz="1200150" rtl="0">
            <a:lnSpc>
              <a:spcPct val="90000"/>
            </a:lnSpc>
            <a:spcBef>
              <a:spcPct val="0"/>
            </a:spcBef>
            <a:spcAft>
              <a:spcPct val="15000"/>
            </a:spcAft>
            <a:buChar char="••"/>
          </a:pPr>
          <a:r>
            <a:rPr lang="en-US" sz="2700" b="1" i="0" kern="1200" baseline="0" dirty="0" smtClean="0"/>
            <a:t>Related Patterns : </a:t>
          </a:r>
          <a:r>
            <a:rPr lang="en-US" sz="2700" kern="1200" dirty="0" smtClean="0"/>
            <a:t>Trusted online brand : To ensure users don’t feel that some discrimination is happening</a:t>
          </a:r>
          <a:endParaRPr lang="en-US" sz="2700" b="0" kern="1200" dirty="0"/>
        </a:p>
        <a:p>
          <a:pPr marL="228600" lvl="1" indent="-228600" algn="l" defTabSz="1200150" rtl="0">
            <a:lnSpc>
              <a:spcPct val="90000"/>
            </a:lnSpc>
            <a:spcBef>
              <a:spcPct val="0"/>
            </a:spcBef>
            <a:spcAft>
              <a:spcPct val="15000"/>
            </a:spcAft>
            <a:buChar char="••"/>
          </a:pPr>
          <a:r>
            <a:rPr lang="en-US" sz="2700" b="1" i="0" kern="1200" baseline="0" dirty="0" smtClean="0"/>
            <a:t>Known Uses </a:t>
          </a:r>
          <a:r>
            <a:rPr lang="en-US" sz="2700" b="1" i="1" kern="1200" baseline="0" dirty="0" smtClean="0"/>
            <a:t>:</a:t>
          </a:r>
          <a:r>
            <a:rPr lang="en-US" sz="2700" kern="1200" dirty="0" smtClean="0"/>
            <a:t>Some internet download providers like deposit files add a slight delay to free download customers. </a:t>
          </a:r>
          <a:endParaRPr lang="en-US" sz="2700" kern="1200" dirty="0"/>
        </a:p>
        <a:p>
          <a:pPr marL="228600" lvl="1" indent="-228600" algn="l" defTabSz="1200150" rtl="0">
            <a:lnSpc>
              <a:spcPct val="90000"/>
            </a:lnSpc>
            <a:spcBef>
              <a:spcPct val="0"/>
            </a:spcBef>
            <a:spcAft>
              <a:spcPct val="15000"/>
            </a:spcAft>
            <a:buChar char="••"/>
          </a:pPr>
          <a:r>
            <a:rPr lang="en-US" sz="2700" b="1" i="0" kern="1200" baseline="0" dirty="0" smtClean="0"/>
            <a:t>Negative Consequences: </a:t>
          </a:r>
          <a:r>
            <a:rPr lang="en-US" sz="2700" kern="1200" dirty="0" smtClean="0"/>
            <a:t>The drawback of this pattern is customers may not like being segmented to lower classes of service and migrate to other providers and the service provider must ensure that appropriate mechanisms to control for such backlash.</a:t>
          </a:r>
          <a:endParaRPr lang="en-US" sz="2700" kern="1200" dirty="0"/>
        </a:p>
      </dsp:txBody>
      <dsp:txXfrm>
        <a:off x="0" y="1119081"/>
        <a:ext cx="13368528" cy="8745570"/>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457200" y="720725"/>
            <a:ext cx="6400800" cy="3600450"/>
          </a:xfrm>
          <a:prstGeom prst="rect">
            <a:avLst/>
          </a:prstGeom>
        </p:spPr>
        <p:txBody>
          <a:bodyPr lIns="96661" tIns="48331" rIns="96661" bIns="48331"/>
          <a:lstStyle/>
          <a:p>
            <a:endParaRPr dirty="0"/>
          </a:p>
        </p:txBody>
      </p:sp>
      <p:sp>
        <p:nvSpPr>
          <p:cNvPr id="117" name="Shape 117"/>
          <p:cNvSpPr>
            <a:spLocks noGrp="1"/>
          </p:cNvSpPr>
          <p:nvPr>
            <p:ph type="body" sz="quarter" idx="1"/>
          </p:nvPr>
        </p:nvSpPr>
        <p:spPr>
          <a:xfrm>
            <a:off x="975360" y="4560570"/>
            <a:ext cx="5364480" cy="4320540"/>
          </a:xfrm>
          <a:prstGeom prst="rect">
            <a:avLst/>
          </a:prstGeom>
        </p:spPr>
        <p:txBody>
          <a:bodyPr lIns="96661" tIns="48331" rIns="96661" bIns="48331"/>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19713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6571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1553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03922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9329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43189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98639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4105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69427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5136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85049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4888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017156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216985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269821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3425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4097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03056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126676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2588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60118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54997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88401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8578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03956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84296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804984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5861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70733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55968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055445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56794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0409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324623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12339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hyperlink" Target="https://www.linkedin.com/company/blueconch-technologies/?viewAsMember=true" TargetMode="External"/><Relationship Id="rId18" Type="http://schemas.microsoft.com/office/2007/relationships/hdphoto" Target="../media/hdphoto5.wdp"/><Relationship Id="rId3" Type="http://schemas.openxmlformats.org/officeDocument/2006/relationships/image" Target="../media/image7.png"/><Relationship Id="rId21" Type="http://schemas.microsoft.com/office/2007/relationships/hdphoto" Target="../media/hdphoto6.wdp"/><Relationship Id="rId7" Type="http://schemas.openxmlformats.org/officeDocument/2006/relationships/image" Target="../media/image8.png"/><Relationship Id="rId12" Type="http://schemas.openxmlformats.org/officeDocument/2006/relationships/hyperlink" Target="about:blank" TargetMode="External"/><Relationship Id="rId17" Type="http://schemas.openxmlformats.org/officeDocument/2006/relationships/image" Target="../media/image11.png"/><Relationship Id="rId2" Type="http://schemas.openxmlformats.org/officeDocument/2006/relationships/image" Target="../media/image6.png"/><Relationship Id="rId16" Type="http://schemas.openxmlformats.org/officeDocument/2006/relationships/hyperlink" Target="https://www.facebook.com/BlueConchTech/" TargetMode="External"/><Relationship Id="rId20"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hyperlink" Target="https://www.youtube.com/channel/UCs8NTkf0xLU6osPslCEdhVg" TargetMode="External"/><Relationship Id="rId11" Type="http://schemas.microsoft.com/office/2007/relationships/hdphoto" Target="../media/hdphoto3.wdp"/><Relationship Id="rId5" Type="http://schemas.openxmlformats.org/officeDocument/2006/relationships/hyperlink" Target="https://www.youtube.com/channel/UCs8NTkf0xLU6osPslCEdhVg?view_as=subscriber" TargetMode="External"/><Relationship Id="rId15" Type="http://schemas.microsoft.com/office/2007/relationships/hdphoto" Target="../media/hdphoto4.wdp"/><Relationship Id="rId10" Type="http://schemas.openxmlformats.org/officeDocument/2006/relationships/image" Target="../media/image9.png"/><Relationship Id="rId19" Type="http://schemas.openxmlformats.org/officeDocument/2006/relationships/hyperlink" Target="https://www.instagram.com/blueconchtech/" TargetMode="External"/><Relationship Id="rId4" Type="http://schemas.microsoft.com/office/2007/relationships/hdphoto" Target="../media/hdphoto1.wdp"/><Relationship Id="rId9" Type="http://schemas.openxmlformats.org/officeDocument/2006/relationships/hyperlink" Target="https://twitter.com/BlueConchTech" TargetMode="External"/><Relationship Id="rId1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eader without title text">
    <p:spTree>
      <p:nvGrpSpPr>
        <p:cNvPr id="1" name=""/>
        <p:cNvGrpSpPr/>
        <p:nvPr/>
      </p:nvGrpSpPr>
      <p:grpSpPr>
        <a:xfrm>
          <a:off x="0" y="0"/>
          <a:ext cx="0" cy="0"/>
          <a:chOff x="0" y="0"/>
          <a:chExt cx="0" cy="0"/>
        </a:xfrm>
      </p:grpSpPr>
      <p:sp>
        <p:nvSpPr>
          <p:cNvPr id="14" name="BlueConch - An Elevated Engineering Experience">
            <a:extLst>
              <a:ext uri="{FF2B5EF4-FFF2-40B4-BE49-F238E27FC236}">
                <a16:creationId xmlns:a16="http://schemas.microsoft.com/office/drawing/2014/main" id="{787F36ED-3DA2-D048-98F4-4F4CE45EA25E}"/>
              </a:ext>
            </a:extLst>
          </p:cNvPr>
          <p:cNvSpPr txBox="1"/>
          <p:nvPr userDrawn="1"/>
        </p:nvSpPr>
        <p:spPr>
          <a:xfrm>
            <a:off x="705463" y="509360"/>
            <a:ext cx="16605076" cy="836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71437" tIns="71437" rIns="71437" bIns="71437">
            <a:spAutoFit/>
          </a:bodyPr>
          <a:lstStyle/>
          <a:p>
            <a:pPr algn="l" defTabSz="457200">
              <a:defRPr sz="5500">
                <a:solidFill>
                  <a:srgbClr val="080808"/>
                </a:solidFill>
                <a:latin typeface="Montserrat-Bold"/>
                <a:ea typeface="Montserrat-Bold"/>
                <a:cs typeface="Montserrat-Bold"/>
                <a:sym typeface="Montserrat-Bold"/>
              </a:defRPr>
            </a:pPr>
            <a:endParaRPr sz="4400" b="0" dirty="0">
              <a:solidFill>
                <a:srgbClr val="00B8F2"/>
              </a:solidFill>
              <a:latin typeface="Montserrat" panose="00000500000000000000" pitchFamily="2" charset="0"/>
            </a:endParaRPr>
          </a:p>
        </p:txBody>
      </p:sp>
      <p:sp>
        <p:nvSpPr>
          <p:cNvPr id="11" name="Content Placeholder 6"/>
          <p:cNvSpPr>
            <a:spLocks noGrp="1"/>
          </p:cNvSpPr>
          <p:nvPr>
            <p:ph sz="quarter" idx="10"/>
          </p:nvPr>
        </p:nvSpPr>
        <p:spPr>
          <a:xfrm>
            <a:off x="1246908" y="426461"/>
            <a:ext cx="16101291" cy="833437"/>
          </a:xfrm>
          <a:prstGeom prst="rect">
            <a:avLst/>
          </a:prstGeom>
        </p:spPr>
        <p:txBody>
          <a:bodyPr>
            <a:normAutofit/>
          </a:bodyPr>
          <a:lstStyle>
            <a:lvl1pPr marL="0" indent="0">
              <a:buNone/>
              <a:defRPr sz="4000" b="1">
                <a:latin typeface="Segoe UI" panose="020B0502040204020203" pitchFamily="34" charset="0"/>
                <a:cs typeface="Segoe UI" panose="020B0502040204020203" pitchFamily="34" charset="0"/>
              </a:defRPr>
            </a:lvl1pPr>
            <a:lvl2pPr marL="444500" indent="0">
              <a:buNone/>
              <a:defRPr>
                <a:latin typeface="Segoe UI" panose="020B0502040204020203" pitchFamily="34" charset="0"/>
                <a:cs typeface="Segoe UI" panose="020B0502040204020203" pitchFamily="34" charset="0"/>
              </a:defRPr>
            </a:lvl2pPr>
            <a:lvl3pPr marL="889000" indent="0">
              <a:buNone/>
              <a:defRPr>
                <a:latin typeface="Segoe UI" panose="020B0502040204020203" pitchFamily="34" charset="0"/>
                <a:cs typeface="Segoe UI" panose="020B0502040204020203" pitchFamily="34" charset="0"/>
              </a:defRPr>
            </a:lvl3pPr>
            <a:lvl4pPr marL="1333500" indent="0">
              <a:buNone/>
              <a:defRPr>
                <a:latin typeface="Segoe UI" panose="020B0502040204020203" pitchFamily="34" charset="0"/>
                <a:cs typeface="Segoe UI" panose="020B0502040204020203" pitchFamily="34" charset="0"/>
              </a:defRPr>
            </a:lvl4pPr>
            <a:lvl5pPr marL="1778000" indent="0">
              <a:buNone/>
              <a:defRPr>
                <a:latin typeface="Segoe UI" panose="020B0502040204020203" pitchFamily="34" charset="0"/>
                <a:cs typeface="Segoe UI" panose="020B0502040204020203" pitchFamily="34" charset="0"/>
              </a:defRPr>
            </a:lvl5pPr>
          </a:lstStyle>
          <a:p>
            <a:pPr lvl="0"/>
            <a:r>
              <a:rPr lang="en-US" dirty="0"/>
              <a:t>Edit Master text styles</a:t>
            </a:r>
          </a:p>
        </p:txBody>
      </p:sp>
    </p:spTree>
    <p:extLst>
      <p:ext uri="{BB962C8B-B14F-4D97-AF65-F5344CB8AC3E}">
        <p14:creationId xmlns:p14="http://schemas.microsoft.com/office/powerpoint/2010/main" val="325165903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Layout with logo">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1F69DA1-24D8-3B47-A101-9228A57B5709}"/>
              </a:ext>
            </a:extLst>
          </p:cNvPr>
          <p:cNvSpPr/>
          <p:nvPr userDrawn="1"/>
        </p:nvSpPr>
        <p:spPr>
          <a:xfrm>
            <a:off x="14054123" y="10458332"/>
            <a:ext cx="10329877" cy="605934"/>
          </a:xfrm>
          <a:prstGeom prst="rect">
            <a:avLst/>
          </a:prstGeom>
          <a:solidFill>
            <a:schemeClr val="bg1">
              <a:alpha val="8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ontessarat"/>
              <a:ea typeface="+mn-ea"/>
              <a:cs typeface="+mn-cs"/>
              <a:sym typeface="Helvetica Neue Medium"/>
            </a:endParaRPr>
          </a:p>
        </p:txBody>
      </p:sp>
    </p:spTree>
    <p:extLst>
      <p:ext uri="{BB962C8B-B14F-4D97-AF65-F5344CB8AC3E}">
        <p14:creationId xmlns:p14="http://schemas.microsoft.com/office/powerpoint/2010/main" val="213000411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Rectangle 2"/>
          <p:cNvSpPr/>
          <p:nvPr userDrawn="1"/>
        </p:nvSpPr>
        <p:spPr>
          <a:xfrm>
            <a:off x="0" y="221673"/>
            <a:ext cx="1911927" cy="1246909"/>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2" name="Rectangle 1"/>
          <p:cNvSpPr/>
          <p:nvPr userDrawn="1"/>
        </p:nvSpPr>
        <p:spPr>
          <a:xfrm>
            <a:off x="18727615" y="0"/>
            <a:ext cx="5345723" cy="1600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n-lt"/>
              <a:ea typeface="+mn-ea"/>
              <a:cs typeface="+mn-cs"/>
              <a:sym typeface="Helvetica Neue Medium"/>
            </a:endParaRPr>
          </a:p>
        </p:txBody>
      </p:sp>
    </p:spTree>
    <p:extLst>
      <p:ext uri="{BB962C8B-B14F-4D97-AF65-F5344CB8AC3E}">
        <p14:creationId xmlns:p14="http://schemas.microsoft.com/office/powerpoint/2010/main" val="3263001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_Slide">
    <p:spTree>
      <p:nvGrpSpPr>
        <p:cNvPr id="1" name=""/>
        <p:cNvGrpSpPr/>
        <p:nvPr/>
      </p:nvGrpSpPr>
      <p:grpSpPr>
        <a:xfrm>
          <a:off x="0" y="0"/>
          <a:ext cx="0" cy="0"/>
          <a:chOff x="0" y="0"/>
          <a:chExt cx="0" cy="0"/>
        </a:xfrm>
      </p:grpSpPr>
      <p:sp>
        <p:nvSpPr>
          <p:cNvPr id="3" name="Rectangle 2"/>
          <p:cNvSpPr/>
          <p:nvPr userDrawn="1"/>
        </p:nvSpPr>
        <p:spPr>
          <a:xfrm>
            <a:off x="0" y="221673"/>
            <a:ext cx="1911927" cy="1246909"/>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2" name="Rectangle 1"/>
          <p:cNvSpPr/>
          <p:nvPr userDrawn="1"/>
        </p:nvSpPr>
        <p:spPr>
          <a:xfrm>
            <a:off x="18727615" y="0"/>
            <a:ext cx="5345723" cy="1600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4" name="Picture 2" descr="Asian businessmen and businesswomen meeting brainstorming ideas about creative web design planning application and developing template layout for mobile phone project working together in small office. Free Photo"/>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1" y="-1"/>
            <a:ext cx="24369755" cy="1371600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userDrawn="1"/>
        </p:nvSpPr>
        <p:spPr>
          <a:xfrm>
            <a:off x="0" y="0"/>
            <a:ext cx="24384000" cy="13716000"/>
          </a:xfrm>
          <a:prstGeom prst="rect">
            <a:avLst/>
          </a:prstGeom>
          <a:gradFill flip="none" rotWithShape="1">
            <a:gsLst>
              <a:gs pos="0">
                <a:srgbClr val="FFFFFF">
                  <a:alpha val="65098"/>
                </a:srgbClr>
              </a:gs>
              <a:gs pos="37000">
                <a:srgbClr val="FFFFFF">
                  <a:alpha val="69804"/>
                </a:srgbClr>
              </a:gs>
              <a:gs pos="69000">
                <a:srgbClr val="FFFFFF">
                  <a:alpha val="85098"/>
                </a:srgbClr>
              </a:gs>
              <a:gs pos="100000">
                <a:srgbClr val="E6E6E6"/>
              </a:gs>
            </a:gsLst>
            <a:lin ang="10800000" scaled="1"/>
            <a:tileRect/>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no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6" name="Picture 5"/>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183345" y="314030"/>
            <a:ext cx="1290293" cy="2195189"/>
          </a:xfrm>
          <a:prstGeom prst="rect">
            <a:avLst/>
          </a:prstGeom>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7282" y="83332"/>
            <a:ext cx="8358078" cy="2482474"/>
          </a:xfrm>
          <a:prstGeom prst="rect">
            <a:avLst/>
          </a:prstGeom>
        </p:spPr>
      </p:pic>
    </p:spTree>
    <p:extLst>
      <p:ext uri="{BB962C8B-B14F-4D97-AF65-F5344CB8AC3E}">
        <p14:creationId xmlns:p14="http://schemas.microsoft.com/office/powerpoint/2010/main" val="2513235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3" name="Rectangle 2"/>
          <p:cNvSpPr/>
          <p:nvPr userDrawn="1"/>
        </p:nvSpPr>
        <p:spPr>
          <a:xfrm>
            <a:off x="0" y="221673"/>
            <a:ext cx="1911927" cy="1246909"/>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n-lt"/>
              <a:ea typeface="+mn-ea"/>
              <a:cs typeface="+mn-cs"/>
              <a:sym typeface="Helvetica Neue Medium"/>
            </a:endParaRPr>
          </a:p>
        </p:txBody>
      </p:sp>
      <p:sp>
        <p:nvSpPr>
          <p:cNvPr id="2" name="Rectangle 1"/>
          <p:cNvSpPr/>
          <p:nvPr userDrawn="1"/>
        </p:nvSpPr>
        <p:spPr>
          <a:xfrm>
            <a:off x="18727615" y="0"/>
            <a:ext cx="5345723" cy="1600200"/>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FFFFFF"/>
              </a:solidFill>
              <a:effectLst/>
              <a:uFillTx/>
              <a:latin typeface="+mn-lt"/>
              <a:ea typeface="+mn-ea"/>
              <a:cs typeface="+mn-cs"/>
              <a:sym typeface="Helvetica Neue Medium"/>
            </a:endParaRPr>
          </a:p>
        </p:txBody>
      </p:sp>
      <p:pic>
        <p:nvPicPr>
          <p:cNvPr id="4" name="Picture 3"/>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24384000" cy="13715999"/>
          </a:xfrm>
          <a:prstGeom prst="rect">
            <a:avLst/>
          </a:prstGeom>
        </p:spPr>
      </p:pic>
      <p:sp>
        <p:nvSpPr>
          <p:cNvPr id="5" name="Rectangle 4">
            <a:extLst>
              <a:ext uri="{FF2B5EF4-FFF2-40B4-BE49-F238E27FC236}">
                <a16:creationId xmlns:a16="http://schemas.microsoft.com/office/drawing/2014/main" id="{7FBF04ED-9347-421E-8C95-0438DBA7684D}"/>
              </a:ext>
            </a:extLst>
          </p:cNvPr>
          <p:cNvSpPr/>
          <p:nvPr userDrawn="1"/>
        </p:nvSpPr>
        <p:spPr>
          <a:xfrm>
            <a:off x="693837" y="6134725"/>
            <a:ext cx="22495347" cy="1446550"/>
          </a:xfrm>
          <a:prstGeom prst="rect">
            <a:avLst/>
          </a:prstGeom>
        </p:spPr>
        <p:txBody>
          <a:bodyPr wrap="square" anchor="ctr">
            <a:spAutoFit/>
          </a:bodyPr>
          <a:lstStyle/>
          <a:p>
            <a:pPr algn="r"/>
            <a:r>
              <a:rPr lang="en-US" sz="8800" dirty="0">
                <a:solidFill>
                  <a:schemeClr val="bg1"/>
                </a:solidFill>
                <a:latin typeface="Segoe UI" panose="020B0502040204020203" pitchFamily="34" charset="0"/>
                <a:ea typeface="Segoe UI Emoji" panose="020B0502040204020203" pitchFamily="34" charset="0"/>
                <a:cs typeface="Segoe UI" panose="020B0502040204020203" pitchFamily="34" charset="0"/>
              </a:rPr>
              <a:t>Together, let’s build for boundless impact</a:t>
            </a:r>
          </a:p>
        </p:txBody>
      </p:sp>
      <p:grpSp>
        <p:nvGrpSpPr>
          <p:cNvPr id="6" name="Group 5"/>
          <p:cNvGrpSpPr/>
          <p:nvPr userDrawn="1"/>
        </p:nvGrpSpPr>
        <p:grpSpPr>
          <a:xfrm>
            <a:off x="8411056" y="8696898"/>
            <a:ext cx="7561888" cy="4526760"/>
            <a:chOff x="8411056" y="8696898"/>
            <a:chExt cx="7561888" cy="4526760"/>
          </a:xfrm>
        </p:grpSpPr>
        <p:pic>
          <p:nvPicPr>
            <p:cNvPr id="7" name="Picture 6"/>
            <p:cNvPicPr>
              <a:picLocks noChangeAspect="1"/>
            </p:cNvPicPr>
            <p:nvPr/>
          </p:nvPicPr>
          <p:blipFill rotWithShape="1">
            <a:blip r:embed="rId3" cstate="email">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a:ext>
              </a:extLst>
            </a:blip>
            <a:srcRect/>
            <a:stretch/>
          </p:blipFill>
          <p:spPr>
            <a:xfrm>
              <a:off x="8411056" y="8696898"/>
              <a:ext cx="7561888" cy="2296280"/>
            </a:xfrm>
            <a:prstGeom prst="rect">
              <a:avLst/>
            </a:prstGeom>
          </p:spPr>
        </p:pic>
        <p:grpSp>
          <p:nvGrpSpPr>
            <p:cNvPr id="8" name="Group 7"/>
            <p:cNvGrpSpPr/>
            <p:nvPr/>
          </p:nvGrpSpPr>
          <p:grpSpPr>
            <a:xfrm>
              <a:off x="10034839" y="11113785"/>
              <a:ext cx="4314322" cy="581892"/>
              <a:chOff x="11208834" y="8688352"/>
              <a:chExt cx="4745754" cy="640081"/>
            </a:xfrm>
          </p:grpSpPr>
          <p:sp>
            <p:nvSpPr>
              <p:cNvPr id="10" name="Oval 9">
                <a:hlinkClick r:id="rId5"/>
                <a:extLst>
                  <a:ext uri="{FF2B5EF4-FFF2-40B4-BE49-F238E27FC236}">
                    <a16:creationId xmlns:a16="http://schemas.microsoft.com/office/drawing/2014/main" id="{C37D83A3-4EDF-404E-B735-647762303251}"/>
                  </a:ext>
                </a:extLst>
              </p:cNvPr>
              <p:cNvSpPr/>
              <p:nvPr userDrawn="1"/>
            </p:nvSpPr>
            <p:spPr>
              <a:xfrm>
                <a:off x="14288669" y="8688352"/>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11" name="Graphic 39">
                <a:hlinkClick r:id="rId6"/>
                <a:extLst>
                  <a:ext uri="{FF2B5EF4-FFF2-40B4-BE49-F238E27FC236}">
                    <a16:creationId xmlns:a16="http://schemas.microsoft.com/office/drawing/2014/main" id="{7DD0809F-F17D-344F-AADE-0C17DB8AA005}"/>
                  </a:ext>
                </a:extLst>
              </p:cNvPr>
              <p:cNvPicPr>
                <a:picLocks noChangeAspect="1"/>
              </p:cNvPicPr>
              <p:nvPr userDrawn="1"/>
            </p:nvPicPr>
            <p:blipFill>
              <a:blip r:embed="rId7" cstate="email">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tretch>
                <a:fillRect/>
              </a:stretch>
            </p:blipFill>
            <p:spPr>
              <a:xfrm>
                <a:off x="14411355" y="8866575"/>
                <a:ext cx="394712" cy="283696"/>
              </a:xfrm>
              <a:prstGeom prst="rect">
                <a:avLst/>
              </a:prstGeom>
            </p:spPr>
          </p:pic>
          <p:sp>
            <p:nvSpPr>
              <p:cNvPr id="12" name="Oval 11">
                <a:hlinkClick r:id="rId9"/>
                <a:extLst>
                  <a:ext uri="{FF2B5EF4-FFF2-40B4-BE49-F238E27FC236}">
                    <a16:creationId xmlns:a16="http://schemas.microsoft.com/office/drawing/2014/main" id="{65F88F67-8A74-D04C-9727-EFD42D87E992}"/>
                  </a:ext>
                </a:extLst>
              </p:cNvPr>
              <p:cNvSpPr/>
              <p:nvPr userDrawn="1"/>
            </p:nvSpPr>
            <p:spPr>
              <a:xfrm>
                <a:off x="13262830"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13" name="Graphic 42">
                <a:hlinkClick r:id="rId9"/>
                <a:extLst>
                  <a:ext uri="{FF2B5EF4-FFF2-40B4-BE49-F238E27FC236}">
                    <a16:creationId xmlns:a16="http://schemas.microsoft.com/office/drawing/2014/main" id="{434788A1-B0B9-F342-A977-2184839BB001}"/>
                  </a:ext>
                </a:extLst>
              </p:cNvPr>
              <p:cNvPicPr>
                <a:picLocks noChangeAspect="1"/>
              </p:cNvPicPr>
              <p:nvPr userDrawn="1"/>
            </p:nvPicPr>
            <p:blipFill>
              <a:blip r:embed="rId10" cstate="email">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tretch>
                <a:fillRect/>
              </a:stretch>
            </p:blipFill>
            <p:spPr>
              <a:xfrm>
                <a:off x="13386863" y="8849140"/>
                <a:ext cx="392013" cy="318509"/>
              </a:xfrm>
              <a:prstGeom prst="rect">
                <a:avLst/>
              </a:prstGeom>
            </p:spPr>
          </p:pic>
          <p:grpSp>
            <p:nvGrpSpPr>
              <p:cNvPr id="14" name="Group 13"/>
              <p:cNvGrpSpPr/>
              <p:nvPr/>
            </p:nvGrpSpPr>
            <p:grpSpPr>
              <a:xfrm>
                <a:off x="11208834" y="8688353"/>
                <a:ext cx="640080" cy="640080"/>
                <a:chOff x="11208834" y="8688353"/>
                <a:chExt cx="640080" cy="640080"/>
              </a:xfrm>
            </p:grpSpPr>
            <p:sp>
              <p:nvSpPr>
                <p:cNvPr id="19" name="Oval 18">
                  <a:hlinkClick r:id="rId12"/>
                  <a:extLst>
                    <a:ext uri="{FF2B5EF4-FFF2-40B4-BE49-F238E27FC236}">
                      <a16:creationId xmlns:a16="http://schemas.microsoft.com/office/drawing/2014/main" id="{AB69D9F6-9C35-AC44-BBEB-BD80A888C7A7}"/>
                    </a:ext>
                  </a:extLst>
                </p:cNvPr>
                <p:cNvSpPr/>
                <p:nvPr userDrawn="1"/>
              </p:nvSpPr>
              <p:spPr>
                <a:xfrm>
                  <a:off x="11208834"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20" name="Graphic 45">
                  <a:hlinkClick r:id="rId13"/>
                  <a:extLst>
                    <a:ext uri="{FF2B5EF4-FFF2-40B4-BE49-F238E27FC236}">
                      <a16:creationId xmlns:a16="http://schemas.microsoft.com/office/drawing/2014/main" id="{BEB0610A-0324-074D-87D4-6B6D27FC9599}"/>
                    </a:ext>
                  </a:extLst>
                </p:cNvPr>
                <p:cNvPicPr>
                  <a:picLocks noChangeAspect="1"/>
                </p:cNvPicPr>
                <p:nvPr userDrawn="1"/>
              </p:nvPicPr>
              <p:blipFill>
                <a:blip r:embed="rId14" cstate="email">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tretch>
                  <a:fillRect/>
                </a:stretch>
              </p:blipFill>
              <p:spPr>
                <a:xfrm>
                  <a:off x="11356466" y="8841932"/>
                  <a:ext cx="344816" cy="332924"/>
                </a:xfrm>
                <a:prstGeom prst="rect">
                  <a:avLst/>
                </a:prstGeom>
              </p:spPr>
            </p:pic>
          </p:grpSp>
          <p:sp>
            <p:nvSpPr>
              <p:cNvPr id="15" name="Oval 14">
                <a:hlinkClick r:id="rId16"/>
                <a:extLst>
                  <a:ext uri="{FF2B5EF4-FFF2-40B4-BE49-F238E27FC236}">
                    <a16:creationId xmlns:a16="http://schemas.microsoft.com/office/drawing/2014/main" id="{B265B408-21D4-F34A-8C83-C037A557E543}"/>
                  </a:ext>
                </a:extLst>
              </p:cNvPr>
              <p:cNvSpPr/>
              <p:nvPr userDrawn="1"/>
            </p:nvSpPr>
            <p:spPr>
              <a:xfrm>
                <a:off x="12235832"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16" name="Graphic 48">
                <a:hlinkClick r:id="rId16"/>
                <a:extLst>
                  <a:ext uri="{FF2B5EF4-FFF2-40B4-BE49-F238E27FC236}">
                    <a16:creationId xmlns:a16="http://schemas.microsoft.com/office/drawing/2014/main" id="{79BFE031-E174-9741-96C8-ACB4296F29A3}"/>
                  </a:ext>
                </a:extLst>
              </p:cNvPr>
              <p:cNvPicPr>
                <a:picLocks noChangeAspect="1"/>
              </p:cNvPicPr>
              <p:nvPr userDrawn="1"/>
            </p:nvPicPr>
            <p:blipFill>
              <a:blip r:embed="rId17" cstate="email">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a:ext>
                </a:extLst>
              </a:blip>
              <a:stretch>
                <a:fillRect/>
              </a:stretch>
            </p:blipFill>
            <p:spPr>
              <a:xfrm>
                <a:off x="12454382" y="8785118"/>
                <a:ext cx="202981" cy="446551"/>
              </a:xfrm>
              <a:prstGeom prst="rect">
                <a:avLst/>
              </a:prstGeom>
            </p:spPr>
          </p:pic>
          <p:sp>
            <p:nvSpPr>
              <p:cNvPr id="17" name="Oval 16">
                <a:extLst>
                  <a:ext uri="{FF2B5EF4-FFF2-40B4-BE49-F238E27FC236}">
                    <a16:creationId xmlns:a16="http://schemas.microsoft.com/office/drawing/2014/main" id="{159F8EB2-5730-CB4E-B73F-F98682FA25B7}"/>
                  </a:ext>
                </a:extLst>
              </p:cNvPr>
              <p:cNvSpPr/>
              <p:nvPr userDrawn="1"/>
            </p:nvSpPr>
            <p:spPr>
              <a:xfrm>
                <a:off x="15314508"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18" name="Graphic 51">
                <a:hlinkClick r:id="rId19"/>
                <a:extLst>
                  <a:ext uri="{FF2B5EF4-FFF2-40B4-BE49-F238E27FC236}">
                    <a16:creationId xmlns:a16="http://schemas.microsoft.com/office/drawing/2014/main" id="{9B4E1DD5-323B-064D-BBFB-D3345180FE41}"/>
                  </a:ext>
                </a:extLst>
              </p:cNvPr>
              <p:cNvPicPr>
                <a:picLocks noChangeAspect="1"/>
              </p:cNvPicPr>
              <p:nvPr userDrawn="1"/>
            </p:nvPicPr>
            <p:blipFill>
              <a:blip r:embed="rId20" cstate="email">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a:ext>
                </a:extLst>
              </a:blip>
              <a:stretch>
                <a:fillRect/>
              </a:stretch>
            </p:blipFill>
            <p:spPr>
              <a:xfrm>
                <a:off x="15454799" y="8828644"/>
                <a:ext cx="359498" cy="359498"/>
              </a:xfrm>
              <a:prstGeom prst="rect">
                <a:avLst/>
              </a:prstGeom>
            </p:spPr>
          </p:pic>
        </p:grpSp>
        <p:sp>
          <p:nvSpPr>
            <p:cNvPr id="9" name="Rectangle 8"/>
            <p:cNvSpPr/>
            <p:nvPr/>
          </p:nvSpPr>
          <p:spPr>
            <a:xfrm>
              <a:off x="8440202" y="11998707"/>
              <a:ext cx="7503597" cy="1224951"/>
            </a:xfrm>
            <a:prstGeom prst="rect">
              <a:avLst/>
            </a:prstGeom>
          </p:spPr>
          <p:txBody>
            <a:bodyPr wrap="square">
              <a:spAutoFit/>
            </a:bodyPr>
            <a:lstStyle/>
            <a:p>
              <a:pPr>
                <a:lnSpc>
                  <a:spcPct val="115000"/>
                </a:lnSpc>
              </a:pPr>
              <a:r>
                <a:rPr lang="en-US" b="0" dirty="0">
                  <a:solidFill>
                    <a:schemeClr val="bg1"/>
                  </a:solidFill>
                  <a:latin typeface="Segoe UI" panose="020B0502040204020203" pitchFamily="34" charset="0"/>
                  <a:ea typeface="Times New Roman" panose="02020603050405020304" pitchFamily="18" charset="0"/>
                  <a:cs typeface="Segoe UI" panose="020B0502040204020203" pitchFamily="34" charset="0"/>
                </a:rPr>
                <a:t>www.ust.com I www.blueconchtech.com </a:t>
              </a:r>
            </a:p>
            <a:p>
              <a:pPr>
                <a:lnSpc>
                  <a:spcPct val="115000"/>
                </a:lnSpc>
              </a:pPr>
              <a:endParaRPr lang="en-US" b="0"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grpSp>
    </p:spTree>
    <p:extLst>
      <p:ext uri="{BB962C8B-B14F-4D97-AF65-F5344CB8AC3E}">
        <p14:creationId xmlns:p14="http://schemas.microsoft.com/office/powerpoint/2010/main" val="2680402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46909" y="357188"/>
            <a:ext cx="22240142" cy="10005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ctr">
            <a:normAutofit/>
          </a:bodyPr>
          <a:lstStyle/>
          <a:p>
            <a:r>
              <a:rPr dirty="0"/>
              <a:t>Title Text</a:t>
            </a:r>
          </a:p>
        </p:txBody>
      </p:sp>
      <p:sp>
        <p:nvSpPr>
          <p:cNvPr id="3" name="Body Level One…"/>
          <p:cNvSpPr txBox="1">
            <a:spLocks noGrp="1"/>
          </p:cNvSpPr>
          <p:nvPr>
            <p:ph type="body" idx="1"/>
          </p:nvPr>
        </p:nvSpPr>
        <p:spPr>
          <a:xfrm>
            <a:off x="803564" y="1939636"/>
            <a:ext cx="22683488" cy="105440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71437" tIns="71437" rIns="71437" bIns="71437" anchor="t">
            <a:normAutofit/>
          </a:bodyPr>
          <a:lstStyle/>
          <a:p>
            <a:r>
              <a:t>Body Level One</a:t>
            </a:r>
          </a:p>
          <a:p>
            <a:pPr lvl="1"/>
            <a:r>
              <a:t>Body Level Two</a:t>
            </a:r>
          </a:p>
          <a:p>
            <a:pPr lvl="2"/>
            <a:r>
              <a:t>Body Level Three</a:t>
            </a:r>
          </a:p>
          <a:p>
            <a:pPr lvl="3"/>
            <a:r>
              <a:t>Body Level Four</a:t>
            </a:r>
          </a:p>
          <a:p>
            <a:pPr lvl="4"/>
            <a:r>
              <a:t>Body Level Five</a:t>
            </a:r>
          </a:p>
        </p:txBody>
      </p:sp>
      <p:pic>
        <p:nvPicPr>
          <p:cNvPr id="6" name="Picture 5"/>
          <p:cNvPicPr>
            <a:picLocks noChangeAspect="1"/>
          </p:cNvPicPr>
          <p:nvPr userDrawn="1"/>
        </p:nvPicPr>
        <p:blipFill rotWithShape="1">
          <a:blip r:embed="rId7" cstate="email">
            <a:extLst>
              <a:ext uri="{28A0092B-C50C-407E-A947-70E740481C1C}">
                <a14:useLocalDpi xmlns:a14="http://schemas.microsoft.com/office/drawing/2010/main"/>
              </a:ext>
            </a:extLst>
          </a:blip>
          <a:srcRect l="17712"/>
          <a:stretch/>
        </p:blipFill>
        <p:spPr>
          <a:xfrm>
            <a:off x="16085" y="537427"/>
            <a:ext cx="979584" cy="640080"/>
          </a:xfrm>
          <a:prstGeom prst="rect">
            <a:avLst/>
          </a:prstGeom>
        </p:spPr>
      </p:pic>
      <p:sp>
        <p:nvSpPr>
          <p:cNvPr id="7" name="Rectangle 6"/>
          <p:cNvSpPr/>
          <p:nvPr userDrawn="1"/>
        </p:nvSpPr>
        <p:spPr>
          <a:xfrm>
            <a:off x="16085" y="509718"/>
            <a:ext cx="995669" cy="69678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p:cNvPicPr>
            <a:picLocks noChangeAspect="1"/>
          </p:cNvPicPr>
          <p:nvPr userDrawn="1"/>
        </p:nvPicPr>
        <p:blipFill>
          <a:blip r:embed="rId8">
            <a:extLst>
              <a:ext uri="{28A0092B-C50C-407E-A947-70E740481C1C}">
                <a14:useLocalDpi xmlns:a14="http://schemas.microsoft.com/office/drawing/2010/main"/>
              </a:ext>
            </a:extLst>
          </a:blip>
          <a:stretch>
            <a:fillRect/>
          </a:stretch>
        </p:blipFill>
        <p:spPr>
          <a:xfrm>
            <a:off x="19906474" y="357188"/>
            <a:ext cx="4090332" cy="927311"/>
          </a:xfrm>
          <a:prstGeom prst="rect">
            <a:avLst/>
          </a:prstGeom>
        </p:spPr>
      </p:pic>
      <p:sp>
        <p:nvSpPr>
          <p:cNvPr id="8" name="Rectangle 7">
            <a:extLst>
              <a:ext uri="{FF2B5EF4-FFF2-40B4-BE49-F238E27FC236}">
                <a16:creationId xmlns:a16="http://schemas.microsoft.com/office/drawing/2014/main" id="{524F2171-4BE1-3E45-B0E7-6D5C983F1E18}"/>
              </a:ext>
            </a:extLst>
          </p:cNvPr>
          <p:cNvSpPr/>
          <p:nvPr userDrawn="1"/>
        </p:nvSpPr>
        <p:spPr>
          <a:xfrm>
            <a:off x="-1182077" y="13106378"/>
            <a:ext cx="4638668" cy="29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lumMod val="65000"/>
                    <a:lumOff val="35000"/>
                  </a:schemeClr>
                </a:solidFill>
                <a:latin typeface="Segoe UI" panose="020B0502040204020203" pitchFamily="34" charset="0"/>
                <a:cs typeface="Segoe UI" panose="020B0502040204020203" pitchFamily="34" charset="0"/>
              </a:rPr>
              <a:t> 010721</a:t>
            </a:r>
          </a:p>
        </p:txBody>
      </p:sp>
      <p:sp>
        <p:nvSpPr>
          <p:cNvPr id="9" name="TextBox 8"/>
          <p:cNvSpPr txBox="1"/>
          <p:nvPr userDrawn="1"/>
        </p:nvSpPr>
        <p:spPr>
          <a:xfrm>
            <a:off x="23170127" y="13026319"/>
            <a:ext cx="424795" cy="42126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fld id="{76D69CB9-E611-479D-A1EF-A92832DE3539}" type="slidenum">
              <a:rPr kumimoji="0" lang="en-US" sz="1800" b="0" i="0" u="none" strike="noStrike" cap="none" spc="0" normalizeH="0" baseline="0" smtClean="0">
                <a:ln>
                  <a:noFill/>
                </a:ln>
                <a:solidFill>
                  <a:schemeClr val="tx1">
                    <a:lumMod val="65000"/>
                    <a:lumOff val="35000"/>
                  </a:schemeClr>
                </a:solidFill>
                <a:effectLst/>
                <a:uFillTx/>
                <a:latin typeface="Segoe UI" panose="020B0502040204020203" pitchFamily="34" charset="0"/>
                <a:ea typeface="Helvetica Neue"/>
                <a:cs typeface="Segoe UI" panose="020B0502040204020203" pitchFamily="34" charset="0"/>
                <a:sym typeface="Helvetica Neue"/>
              </a:rPr>
              <a:t>‹#›</a:t>
            </a:fld>
            <a:endParaRPr kumimoji="0" lang="en-US" sz="1800" b="0" i="0" u="none" strike="noStrike" cap="none" spc="0" normalizeH="0" baseline="0" dirty="0">
              <a:ln>
                <a:noFill/>
              </a:ln>
              <a:solidFill>
                <a:schemeClr val="tx1">
                  <a:lumMod val="65000"/>
                  <a:lumOff val="35000"/>
                </a:schemeClr>
              </a:solidFill>
              <a:effectLst/>
              <a:uFillTx/>
              <a:latin typeface="Segoe UI" panose="020B0502040204020203" pitchFamily="34" charset="0"/>
              <a:ea typeface="Helvetica Neue"/>
              <a:cs typeface="Segoe UI" panose="020B0502040204020203" pitchFamily="34" charset="0"/>
              <a:sym typeface="Helvetica Neue"/>
            </a:endParaRPr>
          </a:p>
        </p:txBody>
      </p:sp>
      <p:sp>
        <p:nvSpPr>
          <p:cNvPr id="10" name="Rectangle 9">
            <a:extLst>
              <a:ext uri="{FF2B5EF4-FFF2-40B4-BE49-F238E27FC236}">
                <a16:creationId xmlns:a16="http://schemas.microsoft.com/office/drawing/2014/main" id="{524F2171-4BE1-3E45-B0E7-6D5C983F1E18}"/>
              </a:ext>
            </a:extLst>
          </p:cNvPr>
          <p:cNvSpPr/>
          <p:nvPr userDrawn="1"/>
        </p:nvSpPr>
        <p:spPr>
          <a:xfrm>
            <a:off x="10431347" y="13119804"/>
            <a:ext cx="4638668" cy="297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solidFill>
                  <a:schemeClr val="tx1">
                    <a:lumMod val="65000"/>
                    <a:lumOff val="35000"/>
                  </a:schemeClr>
                </a:solidFill>
                <a:latin typeface="Segoe UI" panose="020B0502040204020203" pitchFamily="34" charset="0"/>
                <a:cs typeface="Segoe UI" panose="020B0502040204020203" pitchFamily="34" charset="0"/>
              </a:rPr>
              <a:t> Confidential | UST BlueConch Technologies</a:t>
            </a:r>
          </a:p>
        </p:txBody>
      </p:sp>
    </p:spTree>
  </p:cSld>
  <p:clrMap bg1="lt1" tx1="dk1" bg2="lt2" tx2="dk2" accent1="accent1" accent2="accent2" accent3="accent3" accent4="accent4" accent5="accent5" accent6="accent6" hlink="hlink" folHlink="folHlink"/>
  <p:sldLayoutIdLst>
    <p:sldLayoutId id="2147483662" r:id="rId1"/>
    <p:sldLayoutId id="2147483661" r:id="rId2"/>
    <p:sldLayoutId id="2147483667" r:id="rId3"/>
    <p:sldLayoutId id="2147483669" r:id="rId4"/>
    <p:sldLayoutId id="2147483668" r:id="rId5"/>
  </p:sldLayoutIdLst>
  <p:transition spd="med"/>
  <p:hf hdr="0" ftr="0" dt="0"/>
  <p:txStyles>
    <p:titleStyle>
      <a:lvl1pPr marL="0" marR="0" indent="0" algn="l" defTabSz="821531" rtl="0" latinLnBrk="0">
        <a:lnSpc>
          <a:spcPct val="100000"/>
        </a:lnSpc>
        <a:spcBef>
          <a:spcPts val="0"/>
        </a:spcBef>
        <a:spcAft>
          <a:spcPts val="0"/>
        </a:spcAft>
        <a:buClrTx/>
        <a:buSzTx/>
        <a:buFontTx/>
        <a:buNone/>
        <a:tabLst/>
        <a:defRPr sz="4000" b="1" i="0" u="none" strike="noStrike" cap="none" spc="0" baseline="0">
          <a:solidFill>
            <a:srgbClr val="000000"/>
          </a:solidFill>
          <a:uFillTx/>
          <a:latin typeface="Segoe UI" panose="020B0502040204020203" pitchFamily="34" charset="0"/>
          <a:ea typeface="+mn-ea"/>
          <a:cs typeface="Segoe UI" panose="020B0502040204020203" pitchFamily="34" charset="0"/>
          <a:sym typeface="Helvetica Neue Medium"/>
        </a:defRPr>
      </a:lvl1pPr>
      <a:lvl2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2pPr>
      <a:lvl3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3pPr>
      <a:lvl4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4pPr>
      <a:lvl5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5pPr>
      <a:lvl6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6pPr>
      <a:lvl7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7pPr>
      <a:lvl8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8pPr>
      <a:lvl9pPr marL="0" marR="0" indent="0" algn="ctr" defTabSz="821531" rtl="0" latinLnBrk="0">
        <a:lnSpc>
          <a:spcPct val="100000"/>
        </a:lnSpc>
        <a:spcBef>
          <a:spcPts val="0"/>
        </a:spcBef>
        <a:spcAft>
          <a:spcPts val="0"/>
        </a:spcAft>
        <a:buClrTx/>
        <a:buSzTx/>
        <a:buFontTx/>
        <a:buNone/>
        <a:tabLst/>
        <a:defRPr sz="11200" b="0" i="0" u="none" strike="noStrike" cap="none" spc="0" baseline="0">
          <a:solidFill>
            <a:srgbClr val="000000"/>
          </a:solidFill>
          <a:uFillTx/>
          <a:latin typeface="+mn-lt"/>
          <a:ea typeface="+mn-ea"/>
          <a:cs typeface="+mn-cs"/>
          <a:sym typeface="Helvetica Neue Medium"/>
        </a:defRPr>
      </a:lvl9pPr>
    </p:titleStyle>
    <p:bodyStyle>
      <a:lvl1pPr marL="611187" marR="0" indent="-611187" algn="l" defTabSz="821531" rtl="0" latinLnBrk="0">
        <a:lnSpc>
          <a:spcPct val="100000"/>
        </a:lnSpc>
        <a:spcBef>
          <a:spcPts val="5900"/>
        </a:spcBef>
        <a:spcAft>
          <a:spcPts val="0"/>
        </a:spcAft>
        <a:buClr>
          <a:srgbClr val="00B8F2"/>
        </a:buClr>
        <a:buSzPct val="100000"/>
        <a:buFontTx/>
        <a:buChar char="•"/>
        <a:tabLst/>
        <a:defRPr sz="3600" b="0" i="0" u="none" strike="noStrike" cap="none" spc="0" baseline="0">
          <a:solidFill>
            <a:srgbClr val="000000"/>
          </a:solidFill>
          <a:uFillTx/>
          <a:latin typeface="Segoe UI" panose="020B0502040204020203" pitchFamily="34" charset="0"/>
          <a:ea typeface="Roboto"/>
          <a:cs typeface="Segoe UI" panose="020B0502040204020203" pitchFamily="34" charset="0"/>
          <a:sym typeface="Helvetica Neue"/>
        </a:defRPr>
      </a:lvl1pPr>
      <a:lvl2pPr marL="1055687" marR="0" indent="-611187" algn="l" defTabSz="821531" rtl="0" latinLnBrk="0">
        <a:lnSpc>
          <a:spcPct val="100000"/>
        </a:lnSpc>
        <a:spcBef>
          <a:spcPts val="5900"/>
        </a:spcBef>
        <a:spcAft>
          <a:spcPts val="0"/>
        </a:spcAft>
        <a:buClr>
          <a:srgbClr val="00B8F2"/>
        </a:buClr>
        <a:buSzPct val="100000"/>
        <a:buFontTx/>
        <a:buChar char="•"/>
        <a:tabLst/>
        <a:defRPr sz="3600" b="0" i="0" u="none" strike="noStrike" cap="none" spc="0" baseline="0">
          <a:solidFill>
            <a:srgbClr val="000000"/>
          </a:solidFill>
          <a:uFillTx/>
          <a:latin typeface="Segoe UI" panose="020B0502040204020203" pitchFamily="34" charset="0"/>
          <a:ea typeface="Roboto"/>
          <a:cs typeface="Segoe UI" panose="020B0502040204020203" pitchFamily="34" charset="0"/>
          <a:sym typeface="Helvetica Neue"/>
        </a:defRPr>
      </a:lvl2pPr>
      <a:lvl3pPr marL="1500187" marR="0" indent="-611187" algn="l" defTabSz="821531" rtl="0" latinLnBrk="0">
        <a:lnSpc>
          <a:spcPct val="100000"/>
        </a:lnSpc>
        <a:spcBef>
          <a:spcPts val="5900"/>
        </a:spcBef>
        <a:spcAft>
          <a:spcPts val="0"/>
        </a:spcAft>
        <a:buClr>
          <a:srgbClr val="00B8F2"/>
        </a:buClr>
        <a:buSzPct val="100000"/>
        <a:buFontTx/>
        <a:buChar char="•"/>
        <a:tabLst/>
        <a:defRPr sz="3600" b="0" i="0" u="none" strike="noStrike" cap="none" spc="0" baseline="0">
          <a:solidFill>
            <a:srgbClr val="000000"/>
          </a:solidFill>
          <a:uFillTx/>
          <a:latin typeface="Segoe UI" panose="020B0502040204020203" pitchFamily="34" charset="0"/>
          <a:ea typeface="Roboto"/>
          <a:cs typeface="Segoe UI" panose="020B0502040204020203" pitchFamily="34" charset="0"/>
          <a:sym typeface="Helvetica Neue"/>
        </a:defRPr>
      </a:lvl3pPr>
      <a:lvl4pPr marL="1944687" marR="0" indent="-611187" algn="l" defTabSz="821531" rtl="0" latinLnBrk="0">
        <a:lnSpc>
          <a:spcPct val="100000"/>
        </a:lnSpc>
        <a:spcBef>
          <a:spcPts val="5900"/>
        </a:spcBef>
        <a:spcAft>
          <a:spcPts val="0"/>
        </a:spcAft>
        <a:buClr>
          <a:srgbClr val="00B8F2"/>
        </a:buClr>
        <a:buSzPct val="100000"/>
        <a:buFontTx/>
        <a:buChar char="•"/>
        <a:tabLst/>
        <a:defRPr sz="3600" b="0" i="0" u="none" strike="noStrike" cap="none" spc="0" baseline="0">
          <a:solidFill>
            <a:srgbClr val="000000"/>
          </a:solidFill>
          <a:uFillTx/>
          <a:latin typeface="Segoe UI" panose="020B0502040204020203" pitchFamily="34" charset="0"/>
          <a:ea typeface="Roboto"/>
          <a:cs typeface="Segoe UI" panose="020B0502040204020203" pitchFamily="34" charset="0"/>
          <a:sym typeface="Helvetica Neue"/>
        </a:defRPr>
      </a:lvl4pPr>
      <a:lvl5pPr marL="2389187" marR="0" indent="-611187" algn="l" defTabSz="821531" rtl="0" latinLnBrk="0">
        <a:lnSpc>
          <a:spcPct val="100000"/>
        </a:lnSpc>
        <a:spcBef>
          <a:spcPts val="5900"/>
        </a:spcBef>
        <a:spcAft>
          <a:spcPts val="0"/>
        </a:spcAft>
        <a:buClr>
          <a:srgbClr val="00B8F2"/>
        </a:buClr>
        <a:buSzPct val="100000"/>
        <a:buFontTx/>
        <a:buChar char="•"/>
        <a:tabLst/>
        <a:defRPr sz="3600" b="0" i="0" u="none" strike="noStrike" cap="none" spc="0" baseline="0">
          <a:solidFill>
            <a:srgbClr val="000000"/>
          </a:solidFill>
          <a:uFillTx/>
          <a:latin typeface="Segoe UI" panose="020B0502040204020203" pitchFamily="34" charset="0"/>
          <a:ea typeface="Roboto"/>
          <a:cs typeface="Segoe UI" panose="020B0502040204020203" pitchFamily="34" charset="0"/>
          <a:sym typeface="Helvetica Neue"/>
        </a:defRPr>
      </a:lvl5pPr>
      <a:lvl6pPr marL="2833687" marR="0" indent="-611187" algn="l" defTabSz="821531" rtl="0" latinLnBrk="0">
        <a:lnSpc>
          <a:spcPct val="100000"/>
        </a:lnSpc>
        <a:spcBef>
          <a:spcPts val="5900"/>
        </a:spcBef>
        <a:spcAft>
          <a:spcPts val="0"/>
        </a:spcAft>
        <a:buClrTx/>
        <a:buSzPct val="145000"/>
        <a:buFontTx/>
        <a:buChar char="•"/>
        <a:tabLst/>
        <a:defRPr sz="4400" b="0" i="0" u="none" strike="noStrike" cap="none" spc="0" baseline="0">
          <a:solidFill>
            <a:srgbClr val="000000"/>
          </a:solidFill>
          <a:uFillTx/>
          <a:latin typeface="Helvetica Neue"/>
          <a:ea typeface="Helvetica Neue"/>
          <a:cs typeface="Helvetica Neue"/>
          <a:sym typeface="Helvetica Neue"/>
        </a:defRPr>
      </a:lvl6pPr>
      <a:lvl7pPr marL="3278187" marR="0" indent="-611187" algn="l" defTabSz="821531" rtl="0" latinLnBrk="0">
        <a:lnSpc>
          <a:spcPct val="100000"/>
        </a:lnSpc>
        <a:spcBef>
          <a:spcPts val="5900"/>
        </a:spcBef>
        <a:spcAft>
          <a:spcPts val="0"/>
        </a:spcAft>
        <a:buClrTx/>
        <a:buSzPct val="145000"/>
        <a:buFontTx/>
        <a:buChar char="•"/>
        <a:tabLst/>
        <a:defRPr sz="4400" b="0" i="0" u="none" strike="noStrike" cap="none" spc="0" baseline="0">
          <a:solidFill>
            <a:srgbClr val="000000"/>
          </a:solidFill>
          <a:uFillTx/>
          <a:latin typeface="Helvetica Neue"/>
          <a:ea typeface="Helvetica Neue"/>
          <a:cs typeface="Helvetica Neue"/>
          <a:sym typeface="Helvetica Neue"/>
        </a:defRPr>
      </a:lvl7pPr>
      <a:lvl8pPr marL="3722687" marR="0" indent="-611187" algn="l" defTabSz="821531" rtl="0" latinLnBrk="0">
        <a:lnSpc>
          <a:spcPct val="100000"/>
        </a:lnSpc>
        <a:spcBef>
          <a:spcPts val="5900"/>
        </a:spcBef>
        <a:spcAft>
          <a:spcPts val="0"/>
        </a:spcAft>
        <a:buClrTx/>
        <a:buSzPct val="145000"/>
        <a:buFontTx/>
        <a:buChar char="•"/>
        <a:tabLst/>
        <a:defRPr sz="4400" b="0" i="0" u="none" strike="noStrike" cap="none" spc="0" baseline="0">
          <a:solidFill>
            <a:srgbClr val="000000"/>
          </a:solidFill>
          <a:uFillTx/>
          <a:latin typeface="Helvetica Neue"/>
          <a:ea typeface="Helvetica Neue"/>
          <a:cs typeface="Helvetica Neue"/>
          <a:sym typeface="Helvetica Neue"/>
        </a:defRPr>
      </a:lvl8pPr>
      <a:lvl9pPr marL="4167187" marR="0" indent="-611187" algn="l" defTabSz="821531" rtl="0" latinLnBrk="0">
        <a:lnSpc>
          <a:spcPct val="100000"/>
        </a:lnSpc>
        <a:spcBef>
          <a:spcPts val="5900"/>
        </a:spcBef>
        <a:spcAft>
          <a:spcPts val="0"/>
        </a:spcAft>
        <a:buClrTx/>
        <a:buSzPct val="145000"/>
        <a:buFontTx/>
        <a:buChar char="•"/>
        <a:tabLst/>
        <a:defRPr sz="4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1pPr>
      <a:lvl2pPr marL="0" marR="0" indent="2286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2pPr>
      <a:lvl3pPr marL="0" marR="0" indent="4572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3pPr>
      <a:lvl4pPr marL="0" marR="0" indent="6858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4pPr>
      <a:lvl5pPr marL="0" marR="0" indent="9144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5pPr>
      <a:lvl6pPr marL="0" marR="0" indent="11430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6pPr>
      <a:lvl7pPr marL="0" marR="0" indent="13716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7pPr>
      <a:lvl8pPr marL="0" marR="0" indent="16002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8pPr>
      <a:lvl9pPr marL="0" marR="0" indent="1828800" algn="ctr" defTabSz="821531" latinLnBrk="0">
        <a:lnSpc>
          <a:spcPct val="100000"/>
        </a:lnSpc>
        <a:spcBef>
          <a:spcPts val="0"/>
        </a:spcBef>
        <a:spcAft>
          <a:spcPts val="0"/>
        </a:spcAft>
        <a:buClrTx/>
        <a:buSzTx/>
        <a:buFontTx/>
        <a:buNone/>
        <a:tabLst/>
        <a:defRPr sz="2200" b="0" i="0" u="none" strike="noStrike" cap="none" spc="0" baseline="0">
          <a:solidFill>
            <a:schemeClr val="tx1"/>
          </a:solidFill>
          <a:uFillTx/>
          <a:latin typeface="+mn-lt"/>
          <a:ea typeface="+mn-ea"/>
          <a:cs typeface="+mn-cs"/>
          <a:sym typeface="Helvetica Neue Light"/>
        </a:defRPr>
      </a:lvl9pPr>
    </p:otherStyle>
  </p:txStyles>
  <p:extLst>
    <p:ext uri="{27BBF7A9-308A-43DC-89C8-2F10F3537804}">
      <p15:sldGuideLst xmlns:p15="http://schemas.microsoft.com/office/powerpoint/2012/main">
        <p15:guide id="1" orient="horz" pos="840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20.jp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2.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4.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 Id="rId9" Type="http://schemas.openxmlformats.org/officeDocument/2006/relationships/image" Target="../media/image30.png"/></Relationships>
</file>

<file path=ppt/slides/_rels/slide30.xml.rels><?xml version="1.0" encoding="UTF-8" standalone="yes"?>
<Relationships xmlns="http://schemas.openxmlformats.org/package/2006/relationships"><Relationship Id="rId8" Type="http://schemas.openxmlformats.org/officeDocument/2006/relationships/image" Target="../media/image31.jpg"/><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3.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37.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38.xml.rels><?xml version="1.0" encoding="UTF-8" standalone="yes"?>
<Relationships xmlns="http://schemas.openxmlformats.org/package/2006/relationships"><Relationship Id="rId8" Type="http://schemas.openxmlformats.org/officeDocument/2006/relationships/image" Target="../media/image37.jpg"/><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hyperlink" Target="https://www.linkedin.com/company/blueconch-technologies/?viewAsMember=true" TargetMode="External"/><Relationship Id="rId18" Type="http://schemas.microsoft.com/office/2007/relationships/hdphoto" Target="../media/hdphoto5.wdp"/><Relationship Id="rId3" Type="http://schemas.openxmlformats.org/officeDocument/2006/relationships/image" Target="../media/image7.png"/><Relationship Id="rId21" Type="http://schemas.microsoft.com/office/2007/relationships/hdphoto" Target="../media/hdphoto6.wdp"/><Relationship Id="rId7" Type="http://schemas.openxmlformats.org/officeDocument/2006/relationships/image" Target="../media/image8.png"/><Relationship Id="rId12" Type="http://schemas.openxmlformats.org/officeDocument/2006/relationships/hyperlink" Target="about:blank" TargetMode="External"/><Relationship Id="rId17" Type="http://schemas.openxmlformats.org/officeDocument/2006/relationships/image" Target="../media/image11.png"/><Relationship Id="rId2" Type="http://schemas.openxmlformats.org/officeDocument/2006/relationships/image" Target="../media/image6.png"/><Relationship Id="rId16" Type="http://schemas.openxmlformats.org/officeDocument/2006/relationships/hyperlink" Target="https://www.facebook.com/BlueConchTech/" TargetMode="External"/><Relationship Id="rId20"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hyperlink" Target="https://www.youtube.com/channel/UCs8NTkf0xLU6osPslCEdhVg" TargetMode="External"/><Relationship Id="rId11" Type="http://schemas.microsoft.com/office/2007/relationships/hdphoto" Target="../media/hdphoto3.wdp"/><Relationship Id="rId5" Type="http://schemas.openxmlformats.org/officeDocument/2006/relationships/hyperlink" Target="https://www.youtube.com/channel/UCs8NTkf0xLU6osPslCEdhVg?view_as=subscriber" TargetMode="External"/><Relationship Id="rId15" Type="http://schemas.microsoft.com/office/2007/relationships/hdphoto" Target="../media/hdphoto4.wdp"/><Relationship Id="rId10" Type="http://schemas.openxmlformats.org/officeDocument/2006/relationships/image" Target="../media/image9.png"/><Relationship Id="rId19" Type="http://schemas.openxmlformats.org/officeDocument/2006/relationships/hyperlink" Target="https://www.instagram.com/blueconchtech/" TargetMode="External"/><Relationship Id="rId4" Type="http://schemas.microsoft.com/office/2007/relationships/hdphoto" Target="../media/hdphoto1.wdp"/><Relationship Id="rId9" Type="http://schemas.openxmlformats.org/officeDocument/2006/relationships/hyperlink" Target="https://twitter.com/BlueConchTech" TargetMode="External"/><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BF04ED-9347-421E-8C95-0438DBA7684D}"/>
              </a:ext>
            </a:extLst>
          </p:cNvPr>
          <p:cNvSpPr/>
          <p:nvPr/>
        </p:nvSpPr>
        <p:spPr>
          <a:xfrm>
            <a:off x="676677" y="6027662"/>
            <a:ext cx="23920683" cy="1569660"/>
          </a:xfrm>
          <a:prstGeom prst="rect">
            <a:avLst/>
          </a:prstGeom>
        </p:spPr>
        <p:txBody>
          <a:bodyPr wrap="square">
            <a:spAutoFit/>
          </a:bodyPr>
          <a:lstStyle/>
          <a:p>
            <a:pPr algn="l" defTabSz="914400" hangingPunct="1">
              <a:spcAft>
                <a:spcPts val="600"/>
              </a:spcAft>
              <a:defRPr/>
            </a:pPr>
            <a:r>
              <a:rPr lang="en-US" sz="9600" kern="1200" smtClean="0">
                <a:solidFill>
                  <a:schemeClr val="accent1"/>
                </a:solidFill>
                <a:latin typeface="Segoe UI" panose="020B0502040204020203" pitchFamily="34" charset="0"/>
                <a:ea typeface="Segoe UI Emoji" panose="020B0502040204020203" pitchFamily="34" charset="0"/>
                <a:cs typeface="Segoe UI" panose="020B0502040204020203" pitchFamily="34" charset="0"/>
              </a:rPr>
              <a:t>Self Service Patterns in Digital Channels</a:t>
            </a:r>
            <a:endParaRPr lang="en-US" sz="9600" kern="1200" dirty="0">
              <a:solidFill>
                <a:schemeClr val="accent1"/>
              </a:solidFill>
              <a:latin typeface="Segoe UI" panose="020B0502040204020203" pitchFamily="34" charset="0"/>
              <a:ea typeface="Segoe UI Emoji" panose="020B0502040204020203" pitchFamily="34" charset="0"/>
              <a:cs typeface="Segoe UI" panose="020B0502040204020203" pitchFamily="34" charset="0"/>
            </a:endParaRPr>
          </a:p>
        </p:txBody>
      </p:sp>
      <p:sp>
        <p:nvSpPr>
          <p:cNvPr id="15" name="TextBox 14"/>
          <p:cNvSpPr txBox="1"/>
          <p:nvPr/>
        </p:nvSpPr>
        <p:spPr>
          <a:xfrm>
            <a:off x="803031" y="11910508"/>
            <a:ext cx="11413772" cy="954107"/>
          </a:xfrm>
          <a:prstGeom prst="rect">
            <a:avLst/>
          </a:prstGeom>
          <a:noFill/>
        </p:spPr>
        <p:txBody>
          <a:bodyPr wrap="square" rtlCol="0">
            <a:spAutoFit/>
          </a:bodyPr>
          <a:lstStyle/>
          <a:p>
            <a:pPr algn="l" defTabSz="1828800" hangingPunct="1"/>
            <a:r>
              <a:rPr lang="en-US" sz="2800" b="0" kern="1200" dirty="0" smtClean="0">
                <a:solidFill>
                  <a:schemeClr val="tx1"/>
                </a:solidFill>
                <a:latin typeface="Segoe UI" panose="020B0502040204020203" pitchFamily="34" charset="0"/>
                <a:ea typeface="+mn-ea"/>
                <a:cs typeface="Segoe UI" panose="020B0502040204020203" pitchFamily="34" charset="0"/>
              </a:rPr>
              <a:t>24</a:t>
            </a:r>
            <a:r>
              <a:rPr lang="en-US" sz="2800" b="0" kern="1200" baseline="30000" dirty="0" smtClean="0">
                <a:solidFill>
                  <a:schemeClr val="tx1"/>
                </a:solidFill>
                <a:latin typeface="Segoe UI" panose="020B0502040204020203" pitchFamily="34" charset="0"/>
                <a:ea typeface="+mn-ea"/>
                <a:cs typeface="Segoe UI" panose="020B0502040204020203" pitchFamily="34" charset="0"/>
              </a:rPr>
              <a:t>th</a:t>
            </a:r>
            <a:r>
              <a:rPr lang="en-US" sz="2800" b="0" kern="1200" dirty="0" smtClean="0">
                <a:solidFill>
                  <a:schemeClr val="tx1"/>
                </a:solidFill>
                <a:latin typeface="Segoe UI" panose="020B0502040204020203" pitchFamily="34" charset="0"/>
                <a:ea typeface="+mn-ea"/>
                <a:cs typeface="Segoe UI" panose="020B0502040204020203" pitchFamily="34" charset="0"/>
              </a:rPr>
              <a:t> November 2021</a:t>
            </a:r>
            <a:endParaRPr lang="en-US" sz="2800" b="0" kern="1200" dirty="0">
              <a:solidFill>
                <a:schemeClr val="tx1"/>
              </a:solidFill>
              <a:latin typeface="Segoe UI" panose="020B0502040204020203" pitchFamily="34" charset="0"/>
              <a:ea typeface="+mn-ea"/>
              <a:cs typeface="Segoe UI" panose="020B0502040204020203" pitchFamily="34" charset="0"/>
            </a:endParaRPr>
          </a:p>
          <a:p>
            <a:pPr algn="l" defTabSz="1828800" hangingPunct="1"/>
            <a:endParaRPr lang="en-US" sz="2800" b="0" kern="1200" dirty="0">
              <a:solidFill>
                <a:schemeClr val="tx1"/>
              </a:solidFill>
              <a:latin typeface="Segoe UI" panose="020B0502040204020203" pitchFamily="34" charset="0"/>
              <a:ea typeface="+mn-ea"/>
              <a:cs typeface="Segoe UI" panose="020B0502040204020203" pitchFamily="34" charset="0"/>
            </a:endParaRPr>
          </a:p>
        </p:txBody>
      </p:sp>
      <p:sp>
        <p:nvSpPr>
          <p:cNvPr id="2" name="TextBox 1"/>
          <p:cNvSpPr txBox="1"/>
          <p:nvPr/>
        </p:nvSpPr>
        <p:spPr>
          <a:xfrm>
            <a:off x="933673" y="7597322"/>
            <a:ext cx="6627583" cy="17754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algn="l" defTabSz="914400" hangingPunct="1">
              <a:spcAft>
                <a:spcPts val="600"/>
              </a:spcAft>
              <a:defRPr/>
            </a:pPr>
            <a:r>
              <a:rPr lang="en-US" kern="1200" dirty="0">
                <a:solidFill>
                  <a:schemeClr val="accent1"/>
                </a:solidFill>
                <a:latin typeface="Segoe UI" panose="020B0502040204020203" pitchFamily="34" charset="0"/>
                <a:ea typeface="Segoe UI Emoji" panose="020B0502040204020203" pitchFamily="34" charset="0"/>
                <a:cs typeface="Segoe UI" panose="020B0502040204020203" pitchFamily="34" charset="0"/>
              </a:rPr>
              <a:t>Ramkumar R</a:t>
            </a:r>
          </a:p>
          <a:p>
            <a:pPr algn="l" defTabSz="914400" hangingPunct="1">
              <a:spcAft>
                <a:spcPts val="600"/>
              </a:spcAft>
              <a:defRPr/>
            </a:pPr>
            <a:r>
              <a:rPr lang="en-US" kern="1200" dirty="0">
                <a:solidFill>
                  <a:schemeClr val="accent1"/>
                </a:solidFill>
                <a:latin typeface="Segoe UI" panose="020B0502040204020203" pitchFamily="34" charset="0"/>
                <a:ea typeface="Segoe UI Emoji" panose="020B0502040204020203" pitchFamily="34" charset="0"/>
                <a:cs typeface="Segoe UI" panose="020B0502040204020203" pitchFamily="34" charset="0"/>
              </a:rPr>
              <a:t>Ramkumar.r@blueconchtech.com</a:t>
            </a:r>
          </a:p>
          <a:p>
            <a:pPr marL="0" marR="0" indent="0" algn="ctr" defTabSz="821531" rtl="0" fontAlgn="auto" latinLnBrk="0" hangingPunct="0">
              <a:lnSpc>
                <a:spcPct val="100000"/>
              </a:lnSpc>
              <a:spcBef>
                <a:spcPts val="0"/>
              </a:spcBef>
              <a:spcAft>
                <a:spcPts val="0"/>
              </a:spcAft>
              <a:buClrTx/>
              <a:buSzTx/>
              <a:buFontTx/>
              <a:buNone/>
              <a:tabLst/>
            </a:pPr>
            <a:endParaRPr kumimoji="0" lang="en-US" sz="32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32985600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a:t>Presentation Flow</a:t>
            </a:r>
          </a:p>
        </p:txBody>
      </p:sp>
      <p:sp>
        <p:nvSpPr>
          <p:cNvPr id="2" name="Rectangle 1"/>
          <p:cNvSpPr/>
          <p:nvPr/>
        </p:nvSpPr>
        <p:spPr>
          <a:xfrm>
            <a:off x="1246908" y="1213389"/>
            <a:ext cx="15136368" cy="15847928"/>
          </a:xfrm>
          <a:prstGeom prst="rect">
            <a:avLst/>
          </a:prstGeom>
        </p:spPr>
        <p:txBody>
          <a:bodyPr wrap="square">
            <a:spAutoFit/>
          </a:bodyPr>
          <a:lstStyle/>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Self Service Rationale for Users &amp; Customers</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Self Service Rationale for Businesses</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What are Software Patterns</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Gang of Four Design Patterns</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What is a Pattern Language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a:latin typeface="Segoe UI Semibold" panose="020B0702040204020203" pitchFamily="34" charset="0"/>
                <a:cs typeface="Segoe UI Semibold" panose="020B0702040204020203" pitchFamily="34" charset="0"/>
              </a:rPr>
              <a:t>Pattern Language for Information Security : An </a:t>
            </a:r>
            <a:r>
              <a:rPr lang="en-US" sz="2400" b="0" spc="-5" dirty="0" smtClean="0">
                <a:latin typeface="Segoe UI Semibold" panose="020B0702040204020203" pitchFamily="34" charset="0"/>
                <a:cs typeface="Segoe UI Semibold" panose="020B0702040204020203" pitchFamily="34" charset="0"/>
              </a:rPr>
              <a:t>example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a:latin typeface="Segoe UI Semibold" panose="020B0702040204020203" pitchFamily="34" charset="0"/>
                <a:cs typeface="Segoe UI Semibold" panose="020B0702040204020203" pitchFamily="34" charset="0"/>
              </a:rPr>
              <a:t>Self Service Pattern </a:t>
            </a:r>
            <a:r>
              <a:rPr lang="en-US" sz="2400" b="0" spc="-5" dirty="0" smtClean="0">
                <a:latin typeface="Segoe UI Semibold" panose="020B0702040204020203" pitchFamily="34" charset="0"/>
                <a:cs typeface="Segoe UI Semibold" panose="020B0702040204020203" pitchFamily="34" charset="0"/>
              </a:rPr>
              <a:t>Language : Focus of this presentation</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Problem Statement for Digital Customer Self Service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Forces that result in Self Service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Pattern Template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Types of Digital Self Service Patterns</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Behavior Patterns – Deep Dive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Aid Patterns – Deep Dive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Channel Patterns – Deep Dive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Customer Patterns – Deep Dive</a:t>
            </a:r>
          </a:p>
          <a:p>
            <a:pPr marL="469265" indent="-457200" algn="l">
              <a:lnSpc>
                <a:spcPct val="200000"/>
              </a:lnSpc>
              <a:spcBef>
                <a:spcPts val="100"/>
              </a:spcBef>
              <a:buFont typeface="Arial" panose="020B0604020202020204" pitchFamily="34" charset="0"/>
              <a:buChar char="•"/>
              <a:tabLst>
                <a:tab pos="398780" algn="l"/>
                <a:tab pos="399415" algn="l"/>
              </a:tabLst>
            </a:pPr>
            <a:r>
              <a:rPr lang="en-US" sz="2400" b="0" spc="-5" dirty="0" smtClean="0">
                <a:latin typeface="Segoe UI Semibold" panose="020B0702040204020203" pitchFamily="34" charset="0"/>
                <a:cs typeface="Segoe UI Semibold" panose="020B0702040204020203" pitchFamily="34" charset="0"/>
              </a:rPr>
              <a:t>Relationship Patterns – Deep Dive</a:t>
            </a:r>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4071689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Some Humor to lighten Self Service</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4808" y="4060526"/>
            <a:ext cx="18746638" cy="5540673"/>
          </a:xfrm>
          <a:prstGeom prst="rect">
            <a:avLst/>
          </a:prstGeom>
        </p:spPr>
      </p:pic>
    </p:spTree>
    <p:extLst>
      <p:ext uri="{BB962C8B-B14F-4D97-AF65-F5344CB8AC3E}">
        <p14:creationId xmlns:p14="http://schemas.microsoft.com/office/powerpoint/2010/main" val="21751474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Self Service Rationale for Customers</a:t>
            </a:r>
            <a:endParaRPr lang="en-US" dirty="0"/>
          </a:p>
        </p:txBody>
      </p:sp>
      <p:graphicFrame>
        <p:nvGraphicFramePr>
          <p:cNvPr id="5" name="Diagram 4"/>
          <p:cNvGraphicFramePr/>
          <p:nvPr>
            <p:extLst>
              <p:ext uri="{D42A27DB-BD31-4B8C-83A1-F6EECF244321}">
                <p14:modId xmlns:p14="http://schemas.microsoft.com/office/powerpoint/2010/main" val="2578868622"/>
              </p:ext>
            </p:extLst>
          </p:nvPr>
        </p:nvGraphicFramePr>
        <p:xfrm>
          <a:off x="1555465" y="2999773"/>
          <a:ext cx="16446489" cy="6546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954510" y="10721093"/>
            <a:ext cx="23429490" cy="11291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r>
              <a:rPr lang="en-US" dirty="0"/>
              <a:t>67% of customers said that they prefer to use self-service options rather than speaking with a company representative. </a:t>
            </a:r>
            <a:endParaRPr lang="en-US" dirty="0" smtClean="0"/>
          </a:p>
          <a:p>
            <a:r>
              <a:rPr lang="en-US" dirty="0" smtClean="0"/>
              <a:t>Additionally</a:t>
            </a:r>
            <a:r>
              <a:rPr lang="en-US" dirty="0"/>
              <a:t>, around 85% of customers say that they’ll choose the self-service route above any other option. </a:t>
            </a:r>
            <a:endParaRPr kumimoji="0" lang="en-US" sz="32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3315318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Self Service Rationale for Businesses</a:t>
            </a:r>
            <a:endParaRPr lang="en-US" dirty="0"/>
          </a:p>
        </p:txBody>
      </p:sp>
      <p:graphicFrame>
        <p:nvGraphicFramePr>
          <p:cNvPr id="5" name="Diagram 4"/>
          <p:cNvGraphicFramePr/>
          <p:nvPr>
            <p:extLst>
              <p:ext uri="{D42A27DB-BD31-4B8C-83A1-F6EECF244321}">
                <p14:modId xmlns:p14="http://schemas.microsoft.com/office/powerpoint/2010/main" val="225852256"/>
              </p:ext>
            </p:extLst>
          </p:nvPr>
        </p:nvGraphicFramePr>
        <p:xfrm>
          <a:off x="1555465" y="2999772"/>
          <a:ext cx="18323591" cy="86313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6512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What are Software Patterns</a:t>
            </a:r>
            <a:endParaRPr lang="en-US" dirty="0"/>
          </a:p>
        </p:txBody>
      </p:sp>
      <p:sp>
        <p:nvSpPr>
          <p:cNvPr id="2" name="Rectangle 1"/>
          <p:cNvSpPr/>
          <p:nvPr/>
        </p:nvSpPr>
        <p:spPr>
          <a:xfrm>
            <a:off x="1246908" y="1213389"/>
            <a:ext cx="15136368" cy="7360926"/>
          </a:xfrm>
          <a:prstGeom prst="rect">
            <a:avLst/>
          </a:prstGeom>
        </p:spPr>
        <p:txBody>
          <a:bodyPr wrap="square">
            <a:spAutoFit/>
          </a:bodyPr>
          <a:lstStyle/>
          <a:p>
            <a:pPr marL="469265" indent="-457200" algn="l">
              <a:lnSpc>
                <a:spcPct val="200000"/>
              </a:lnSpc>
              <a:spcBef>
                <a:spcPts val="100"/>
              </a:spcBef>
              <a:buFont typeface="Arial" panose="020B0604020202020204" pitchFamily="34" charset="0"/>
              <a:buChar char="•"/>
              <a:tabLst>
                <a:tab pos="398780" algn="l"/>
                <a:tab pos="399415" algn="l"/>
              </a:tabLst>
            </a:pPr>
            <a:r>
              <a:rPr lang="en-US" sz="3000" b="0" spc="-5" dirty="0">
                <a:latin typeface="Segoe UI Semibold" panose="020B0702040204020203" pitchFamily="34" charset="0"/>
                <a:cs typeface="Segoe UI Semibold" panose="020B0702040204020203" pitchFamily="34" charset="0"/>
              </a:rPr>
              <a:t>In software engineering, a software design pattern is a </a:t>
            </a:r>
            <a:r>
              <a:rPr lang="en-US" sz="3000" b="0" u="sng" spc="-5" dirty="0">
                <a:latin typeface="Segoe UI Semibold" panose="020B0702040204020203" pitchFamily="34" charset="0"/>
                <a:cs typeface="Segoe UI Semibold" panose="020B0702040204020203" pitchFamily="34" charset="0"/>
              </a:rPr>
              <a:t>general, reusable solution </a:t>
            </a:r>
            <a:r>
              <a:rPr lang="en-US" sz="3000" b="0" spc="-5" dirty="0">
                <a:latin typeface="Segoe UI Semibold" panose="020B0702040204020203" pitchFamily="34" charset="0"/>
                <a:cs typeface="Segoe UI Semibold" panose="020B0702040204020203" pitchFamily="34" charset="0"/>
              </a:rPr>
              <a:t>to a commonly occurring problem within </a:t>
            </a:r>
            <a:r>
              <a:rPr lang="en-US" sz="3000" b="0" u="sng" spc="-5" dirty="0">
                <a:latin typeface="Segoe UI Semibold" panose="020B0702040204020203" pitchFamily="34" charset="0"/>
                <a:cs typeface="Segoe UI Semibold" panose="020B0702040204020203" pitchFamily="34" charset="0"/>
              </a:rPr>
              <a:t>a given context in software design</a:t>
            </a:r>
            <a:r>
              <a:rPr lang="en-US" sz="3000" b="0" spc="-5" dirty="0" smtClean="0">
                <a:latin typeface="Segoe UI Semibold" panose="020B0702040204020203" pitchFamily="34" charset="0"/>
                <a:cs typeface="Segoe UI Semibold" panose="020B0702040204020203" pitchFamily="34" charset="0"/>
              </a:rPr>
              <a:t>.</a:t>
            </a:r>
          </a:p>
          <a:p>
            <a:pPr marL="469265" indent="-457200" algn="l">
              <a:lnSpc>
                <a:spcPct val="200000"/>
              </a:lnSpc>
              <a:spcBef>
                <a:spcPts val="100"/>
              </a:spcBef>
              <a:buFont typeface="Arial" panose="020B0604020202020204" pitchFamily="34" charset="0"/>
              <a:buChar char="•"/>
              <a:tabLst>
                <a:tab pos="398780" algn="l"/>
                <a:tab pos="399415" algn="l"/>
              </a:tabLst>
            </a:pPr>
            <a:r>
              <a:rPr lang="en-US" sz="3000" b="0" spc="-5" dirty="0" smtClean="0">
                <a:latin typeface="Segoe UI Semibold" panose="020B0702040204020203" pitchFamily="34" charset="0"/>
                <a:cs typeface="Segoe UI Semibold" panose="020B0702040204020203" pitchFamily="34" charset="0"/>
              </a:rPr>
              <a:t> </a:t>
            </a:r>
            <a:r>
              <a:rPr lang="en-US" sz="3000" b="0" spc="-5" dirty="0">
                <a:latin typeface="Segoe UI Semibold" panose="020B0702040204020203" pitchFamily="34" charset="0"/>
                <a:cs typeface="Segoe UI Semibold" panose="020B0702040204020203" pitchFamily="34" charset="0"/>
              </a:rPr>
              <a:t>It is not a finished design that can be transformed directly into source or machine code. </a:t>
            </a:r>
            <a:endParaRPr lang="en-US" sz="3000" b="0" spc="-5" dirty="0" smtClean="0">
              <a:latin typeface="Segoe UI Semibold" panose="020B0702040204020203" pitchFamily="34" charset="0"/>
              <a:cs typeface="Segoe UI Semibold" panose="020B0702040204020203" pitchFamily="34" charset="0"/>
            </a:endParaRPr>
          </a:p>
          <a:p>
            <a:pPr marL="469265" indent="-457200" algn="l">
              <a:lnSpc>
                <a:spcPct val="200000"/>
              </a:lnSpc>
              <a:spcBef>
                <a:spcPts val="100"/>
              </a:spcBef>
              <a:buFont typeface="Arial" panose="020B0604020202020204" pitchFamily="34" charset="0"/>
              <a:buChar char="•"/>
              <a:tabLst>
                <a:tab pos="398780" algn="l"/>
                <a:tab pos="399415" algn="l"/>
              </a:tabLst>
            </a:pPr>
            <a:r>
              <a:rPr lang="en-US" sz="3000" b="0" spc="-5" dirty="0" smtClean="0">
                <a:latin typeface="Segoe UI Semibold" panose="020B0702040204020203" pitchFamily="34" charset="0"/>
                <a:cs typeface="Segoe UI Semibold" panose="020B0702040204020203" pitchFamily="34" charset="0"/>
              </a:rPr>
              <a:t>Rather</a:t>
            </a:r>
            <a:r>
              <a:rPr lang="en-US" sz="3000" b="0" spc="-5" dirty="0">
                <a:latin typeface="Segoe UI Semibold" panose="020B0702040204020203" pitchFamily="34" charset="0"/>
                <a:cs typeface="Segoe UI Semibold" panose="020B0702040204020203" pitchFamily="34" charset="0"/>
              </a:rPr>
              <a:t>, it is a description or template for how to solve a problem that can be used in many different situations. Design patterns are formalized best practices that the programmer can use to solve common problems when designing an application or system.</a:t>
            </a:r>
            <a:endParaRPr lang="en-US" sz="3000" b="0" spc="-5" dirty="0" smtClean="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847818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Software Engineering Example :  Gang of Four Design Patterns</a:t>
            </a:r>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8972" y="2085359"/>
            <a:ext cx="17918916" cy="10573775"/>
          </a:xfrm>
          <a:prstGeom prst="rect">
            <a:avLst/>
          </a:prstGeom>
        </p:spPr>
      </p:pic>
    </p:spTree>
    <p:extLst>
      <p:ext uri="{BB962C8B-B14F-4D97-AF65-F5344CB8AC3E}">
        <p14:creationId xmlns:p14="http://schemas.microsoft.com/office/powerpoint/2010/main" val="2952129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What is a Pattern Language</a:t>
            </a:r>
            <a:endParaRPr lang="en-US" dirty="0"/>
          </a:p>
        </p:txBody>
      </p:sp>
      <p:sp>
        <p:nvSpPr>
          <p:cNvPr id="2" name="Rectangle 1"/>
          <p:cNvSpPr/>
          <p:nvPr/>
        </p:nvSpPr>
        <p:spPr>
          <a:xfrm>
            <a:off x="1246908" y="1213389"/>
            <a:ext cx="15136368" cy="6581289"/>
          </a:xfrm>
          <a:prstGeom prst="rect">
            <a:avLst/>
          </a:prstGeom>
        </p:spPr>
        <p:txBody>
          <a:bodyPr wrap="square">
            <a:spAutoFit/>
          </a:bodyPr>
          <a:lstStyle/>
          <a:p>
            <a:pPr marL="469265" indent="-457200" algn="l">
              <a:lnSpc>
                <a:spcPct val="200000"/>
              </a:lnSpc>
              <a:spcBef>
                <a:spcPts val="100"/>
              </a:spcBef>
              <a:buFont typeface="Arial" panose="020B0604020202020204" pitchFamily="34" charset="0"/>
              <a:buChar char="•"/>
              <a:tabLst>
                <a:tab pos="398780" algn="l"/>
                <a:tab pos="399415" algn="l"/>
              </a:tabLst>
            </a:pPr>
            <a:r>
              <a:rPr lang="en-US" sz="3000" b="0" spc="-5" dirty="0">
                <a:latin typeface="Segoe UI Semibold" panose="020B0702040204020203" pitchFamily="34" charset="0"/>
                <a:cs typeface="Segoe UI Semibold" panose="020B0702040204020203" pitchFamily="34" charset="0"/>
              </a:rPr>
              <a:t>A pattern language is an </a:t>
            </a:r>
            <a:r>
              <a:rPr lang="en-US" sz="3000" b="0" u="sng" spc="-5" dirty="0">
                <a:latin typeface="Segoe UI Semibold" panose="020B0702040204020203" pitchFamily="34" charset="0"/>
                <a:cs typeface="Segoe UI Semibold" panose="020B0702040204020203" pitchFamily="34" charset="0"/>
              </a:rPr>
              <a:t>organized and coherent set of patterns</a:t>
            </a:r>
            <a:r>
              <a:rPr lang="en-US" sz="3000" b="0" spc="-5" dirty="0">
                <a:latin typeface="Segoe UI Semibold" panose="020B0702040204020203" pitchFamily="34" charset="0"/>
                <a:cs typeface="Segoe UI Semibold" panose="020B0702040204020203" pitchFamily="34" charset="0"/>
              </a:rPr>
              <a:t>, each of which describes a problem and the core of a solution that can be used in many ways within a specific field of expertise. The term was </a:t>
            </a:r>
            <a:r>
              <a:rPr lang="en-US" sz="3000" b="0" u="sng" spc="-5" dirty="0">
                <a:latin typeface="Segoe UI Semibold" panose="020B0702040204020203" pitchFamily="34" charset="0"/>
                <a:cs typeface="Segoe UI Semibold" panose="020B0702040204020203" pitchFamily="34" charset="0"/>
              </a:rPr>
              <a:t>coined by </a:t>
            </a:r>
            <a:r>
              <a:rPr lang="en-US" sz="3000" b="0" u="sng" spc="-5" dirty="0" smtClean="0">
                <a:latin typeface="Segoe UI Semibold" panose="020B0702040204020203" pitchFamily="34" charset="0"/>
                <a:cs typeface="Segoe UI Semibold" panose="020B0702040204020203" pitchFamily="34" charset="0"/>
              </a:rPr>
              <a:t>civil architect </a:t>
            </a:r>
            <a:r>
              <a:rPr lang="en-US" sz="3000" b="0" u="sng" spc="-5" dirty="0">
                <a:latin typeface="Segoe UI Semibold" panose="020B0702040204020203" pitchFamily="34" charset="0"/>
                <a:cs typeface="Segoe UI Semibold" panose="020B0702040204020203" pitchFamily="34" charset="0"/>
              </a:rPr>
              <a:t>Christopher Alexander </a:t>
            </a:r>
            <a:r>
              <a:rPr lang="en-US" sz="3000" b="0" spc="-5" dirty="0">
                <a:latin typeface="Segoe UI Semibold" panose="020B0702040204020203" pitchFamily="34" charset="0"/>
                <a:cs typeface="Segoe UI Semibold" panose="020B0702040204020203" pitchFamily="34" charset="0"/>
              </a:rPr>
              <a:t>and popularized by his </a:t>
            </a:r>
            <a:r>
              <a:rPr lang="en-US" sz="3000" b="0" spc="-5" dirty="0" smtClean="0">
                <a:latin typeface="Segoe UI Semibold" panose="020B0702040204020203" pitchFamily="34" charset="0"/>
                <a:cs typeface="Segoe UI Semibold" panose="020B0702040204020203" pitchFamily="34" charset="0"/>
              </a:rPr>
              <a:t> </a:t>
            </a:r>
            <a:r>
              <a:rPr lang="en-US" sz="3000" b="0" spc="-5" dirty="0">
                <a:latin typeface="Segoe UI Semibold" panose="020B0702040204020203" pitchFamily="34" charset="0"/>
                <a:cs typeface="Segoe UI Semibold" panose="020B0702040204020203" pitchFamily="34" charset="0"/>
              </a:rPr>
              <a:t>book A Pattern </a:t>
            </a:r>
            <a:r>
              <a:rPr lang="en-US" sz="3000" b="0" spc="-5" dirty="0" smtClean="0">
                <a:latin typeface="Segoe UI Semibold" panose="020B0702040204020203" pitchFamily="34" charset="0"/>
                <a:cs typeface="Segoe UI Semibold" panose="020B0702040204020203" pitchFamily="34" charset="0"/>
              </a:rPr>
              <a:t>Language as reproduced below</a:t>
            </a:r>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a:latin typeface="Segoe UI Semibold" panose="020B0702040204020203" pitchFamily="34" charset="0"/>
              <a:cs typeface="Segoe UI Semibold" panose="020B0702040204020203" pitchFamily="34" charset="0"/>
            </a:endParaRPr>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792" y="6608478"/>
            <a:ext cx="12329160" cy="6392799"/>
          </a:xfrm>
          <a:prstGeom prst="rect">
            <a:avLst/>
          </a:prstGeom>
          <a:effectLst>
            <a:softEdge rad="0"/>
          </a:effectLst>
        </p:spPr>
      </p:pic>
      <p:sp>
        <p:nvSpPr>
          <p:cNvPr id="5" name="TextBox 4"/>
          <p:cNvSpPr txBox="1"/>
          <p:nvPr/>
        </p:nvSpPr>
        <p:spPr>
          <a:xfrm>
            <a:off x="7178547" y="5834408"/>
            <a:ext cx="8614538" cy="6367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smtClean="0">
                <a:ln>
                  <a:noFill/>
                </a:ln>
                <a:solidFill>
                  <a:srgbClr val="92D050"/>
                </a:solidFill>
                <a:effectLst/>
                <a:uFillTx/>
                <a:latin typeface="Helvetica Neue"/>
                <a:ea typeface="Helvetica Neue"/>
                <a:cs typeface="Helvetica Neue"/>
                <a:sym typeface="Helvetica Neue"/>
              </a:rPr>
              <a:t>Civil</a:t>
            </a:r>
            <a:r>
              <a:rPr kumimoji="0" lang="en-US" sz="3200" b="1" i="0" u="none" strike="noStrike" cap="none" spc="0" normalizeH="0" dirty="0" smtClean="0">
                <a:ln>
                  <a:noFill/>
                </a:ln>
                <a:solidFill>
                  <a:srgbClr val="92D050"/>
                </a:solidFill>
                <a:effectLst/>
                <a:uFillTx/>
                <a:latin typeface="Helvetica Neue"/>
                <a:ea typeface="Helvetica Neue"/>
                <a:cs typeface="Helvetica Neue"/>
                <a:sym typeface="Helvetica Neue"/>
              </a:rPr>
              <a:t> Engineering and Architecture Patterns</a:t>
            </a:r>
            <a:endParaRPr kumimoji="0" lang="en-US" sz="3200" b="1" i="0" u="none" strike="noStrike" cap="none" spc="0" normalizeH="0" baseline="0" dirty="0">
              <a:ln>
                <a:noFill/>
              </a:ln>
              <a:solidFill>
                <a:srgbClr val="92D05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3016898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Pattern Language for Information Security : An example</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907" y="2944682"/>
            <a:ext cx="19719823" cy="8699922"/>
          </a:xfrm>
          <a:prstGeom prst="rect">
            <a:avLst/>
          </a:prstGeom>
        </p:spPr>
      </p:pic>
    </p:spTree>
    <p:extLst>
      <p:ext uri="{BB962C8B-B14F-4D97-AF65-F5344CB8AC3E}">
        <p14:creationId xmlns:p14="http://schemas.microsoft.com/office/powerpoint/2010/main" val="419575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Self Service Pattern Language : Focus of this presentation</a:t>
            </a:r>
            <a:endParaRPr lang="en-US" dirty="0"/>
          </a:p>
        </p:txBody>
      </p:sp>
      <p:pic>
        <p:nvPicPr>
          <p:cNvPr id="9" name="Picture 8" descr="diaforce.png"/>
          <p:cNvPicPr/>
          <p:nvPr/>
        </p:nvPicPr>
        <p:blipFill>
          <a:blip r:embed="rId3"/>
          <a:stretch>
            <a:fillRect/>
          </a:stretch>
        </p:blipFill>
        <p:spPr bwMode="auto">
          <a:xfrm>
            <a:off x="2157984" y="2157984"/>
            <a:ext cx="18434304" cy="10844784"/>
          </a:xfrm>
          <a:prstGeom prst="rect">
            <a:avLst/>
          </a:prstGeom>
        </p:spPr>
      </p:pic>
    </p:spTree>
    <p:extLst>
      <p:ext uri="{BB962C8B-B14F-4D97-AF65-F5344CB8AC3E}">
        <p14:creationId xmlns:p14="http://schemas.microsoft.com/office/powerpoint/2010/main" val="2071797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Defining the problem statement for Digital Self Service</a:t>
            </a:r>
            <a:endParaRPr lang="en-US" dirty="0"/>
          </a:p>
        </p:txBody>
      </p:sp>
      <p:sp>
        <p:nvSpPr>
          <p:cNvPr id="2" name="Rectangle 1"/>
          <p:cNvSpPr/>
          <p:nvPr/>
        </p:nvSpPr>
        <p:spPr>
          <a:xfrm>
            <a:off x="1246908" y="1213389"/>
            <a:ext cx="15136368" cy="3995966"/>
          </a:xfrm>
          <a:prstGeom prst="rect">
            <a:avLst/>
          </a:prstGeom>
        </p:spPr>
        <p:txBody>
          <a:bodyPr wrap="square">
            <a:spAutoFit/>
          </a:bodyPr>
          <a:lstStyle/>
          <a:p>
            <a:pPr marL="469265" indent="-457200" algn="l">
              <a:lnSpc>
                <a:spcPct val="200000"/>
              </a:lnSpc>
              <a:spcBef>
                <a:spcPts val="100"/>
              </a:spcBef>
              <a:buFont typeface="Arial" panose="020B0604020202020204" pitchFamily="34" charset="0"/>
              <a:buChar char="•"/>
              <a:tabLst>
                <a:tab pos="398780" algn="l"/>
                <a:tab pos="399415" algn="l"/>
              </a:tabLst>
            </a:pPr>
            <a:r>
              <a:rPr lang="en-US" dirty="0">
                <a:solidFill>
                  <a:srgbClr val="00B050"/>
                </a:solidFill>
              </a:rPr>
              <a:t>Customers</a:t>
            </a:r>
            <a:r>
              <a:rPr lang="en-US" dirty="0"/>
              <a:t> engage in </a:t>
            </a:r>
            <a:r>
              <a:rPr lang="en-US" dirty="0">
                <a:solidFill>
                  <a:srgbClr val="00B050"/>
                </a:solidFill>
              </a:rPr>
              <a:t>Behaviors</a:t>
            </a:r>
            <a:r>
              <a:rPr lang="en-US" dirty="0"/>
              <a:t> to satisfy Objectives with </a:t>
            </a:r>
            <a:r>
              <a:rPr lang="en-US" dirty="0">
                <a:solidFill>
                  <a:srgbClr val="00B050"/>
                </a:solidFill>
              </a:rPr>
              <a:t>Aids</a:t>
            </a:r>
            <a:r>
              <a:rPr lang="en-US" dirty="0"/>
              <a:t> on the </a:t>
            </a:r>
            <a:r>
              <a:rPr lang="en-US" dirty="0">
                <a:solidFill>
                  <a:srgbClr val="00B050"/>
                </a:solidFill>
              </a:rPr>
              <a:t>Channel t</a:t>
            </a:r>
            <a:r>
              <a:rPr lang="en-US" dirty="0"/>
              <a:t>o build </a:t>
            </a:r>
            <a:r>
              <a:rPr lang="en-US" dirty="0" smtClean="0">
                <a:solidFill>
                  <a:srgbClr val="00B050"/>
                </a:solidFill>
              </a:rPr>
              <a:t>Relationships on </a:t>
            </a:r>
            <a:r>
              <a:rPr lang="en-US" dirty="0"/>
              <a:t>Digital Channels (CBOACR</a:t>
            </a:r>
            <a:r>
              <a:rPr lang="en-US" dirty="0" smtClean="0"/>
              <a:t>)</a:t>
            </a:r>
          </a:p>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4242928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Forces that result in Self Service</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sp>
        <p:nvSpPr>
          <p:cNvPr id="5" name="Rectangle 4"/>
          <p:cNvSpPr/>
          <p:nvPr/>
        </p:nvSpPr>
        <p:spPr>
          <a:xfrm>
            <a:off x="609600" y="1997752"/>
            <a:ext cx="12192000" cy="4031873"/>
          </a:xfrm>
          <a:prstGeom prst="rect">
            <a:avLst/>
          </a:prstGeom>
        </p:spPr>
        <p:txBody>
          <a:bodyPr wrap="square">
            <a:spAutoFit/>
          </a:bodyPr>
          <a:lstStyle/>
          <a:p>
            <a:pPr marL="457200" indent="-457200" algn="just">
              <a:buFont typeface="Arial" panose="020B0604020202020204" pitchFamily="34" charset="0"/>
              <a:buChar char="•"/>
            </a:pPr>
            <a:r>
              <a:rPr lang="en-US" dirty="0"/>
              <a:t>Lack of Time</a:t>
            </a:r>
          </a:p>
          <a:p>
            <a:pPr marL="457200" indent="-457200" algn="just">
              <a:buFont typeface="Arial" panose="020B0604020202020204" pitchFamily="34" charset="0"/>
              <a:buChar char="•"/>
            </a:pPr>
            <a:r>
              <a:rPr lang="en-US" dirty="0"/>
              <a:t>Lack of Knowledge</a:t>
            </a:r>
          </a:p>
          <a:p>
            <a:pPr marL="457200" indent="-457200" algn="just">
              <a:buFont typeface="Arial" panose="020B0604020202020204" pitchFamily="34" charset="0"/>
              <a:buChar char="•"/>
            </a:pPr>
            <a:r>
              <a:rPr lang="en-US" dirty="0"/>
              <a:t>Computing Constraints</a:t>
            </a:r>
          </a:p>
          <a:p>
            <a:pPr marL="457200" indent="-457200" algn="just">
              <a:buFont typeface="Arial" panose="020B0604020202020204" pitchFamily="34" charset="0"/>
              <a:buChar char="•"/>
            </a:pPr>
            <a:r>
              <a:rPr lang="en-US" dirty="0"/>
              <a:t>Complexity of Steps or Interactions</a:t>
            </a:r>
          </a:p>
          <a:p>
            <a:pPr marL="457200" indent="-457200" algn="just">
              <a:buFont typeface="Arial" panose="020B0604020202020204" pitchFamily="34" charset="0"/>
              <a:buChar char="•"/>
            </a:pPr>
            <a:r>
              <a:rPr lang="en-US" dirty="0"/>
              <a:t>Cognitive Constraints</a:t>
            </a:r>
          </a:p>
          <a:p>
            <a:pPr marL="457200" indent="-457200" algn="just">
              <a:buFont typeface="Arial" panose="020B0604020202020204" pitchFamily="34" charset="0"/>
              <a:buChar char="•"/>
            </a:pPr>
            <a:r>
              <a:rPr lang="en-US" dirty="0"/>
              <a:t>Complexity of Self Service Objectives</a:t>
            </a:r>
          </a:p>
          <a:p>
            <a:pPr marL="457200" indent="-457200" algn="just">
              <a:buFont typeface="Arial" panose="020B0604020202020204" pitchFamily="34" charset="0"/>
              <a:buChar char="•"/>
            </a:pPr>
            <a:r>
              <a:rPr lang="en-US" dirty="0"/>
              <a:t>Timing of Self Service Objectives</a:t>
            </a:r>
          </a:p>
          <a:p>
            <a:pPr marL="457200" indent="-457200" algn="just">
              <a:buFont typeface="Arial" panose="020B0604020202020204" pitchFamily="34" charset="0"/>
              <a:buChar char="•"/>
            </a:pPr>
            <a:r>
              <a:rPr lang="en-US" dirty="0"/>
              <a:t>Cognition, Perception and Deciphering  of Aids</a:t>
            </a:r>
          </a:p>
        </p:txBody>
      </p:sp>
      <p:sp>
        <p:nvSpPr>
          <p:cNvPr id="6" name="Rectangle 5"/>
          <p:cNvSpPr/>
          <p:nvPr/>
        </p:nvSpPr>
        <p:spPr>
          <a:xfrm>
            <a:off x="609600" y="6010143"/>
            <a:ext cx="12192000" cy="3539430"/>
          </a:xfrm>
          <a:prstGeom prst="rect">
            <a:avLst/>
          </a:prstGeom>
        </p:spPr>
        <p:txBody>
          <a:bodyPr>
            <a:spAutoFit/>
          </a:bodyPr>
          <a:lstStyle/>
          <a:p>
            <a:pPr marL="457200" indent="-457200" algn="just">
              <a:buFont typeface="Arial" panose="020B0604020202020204" pitchFamily="34" charset="0"/>
              <a:buChar char="•"/>
            </a:pPr>
            <a:r>
              <a:rPr lang="en-US" dirty="0"/>
              <a:t>Learning Effects</a:t>
            </a:r>
          </a:p>
          <a:p>
            <a:pPr marL="457200" indent="-457200" algn="just">
              <a:buFont typeface="Arial" panose="020B0604020202020204" pitchFamily="34" charset="0"/>
              <a:buChar char="•"/>
            </a:pPr>
            <a:r>
              <a:rPr lang="en-US" dirty="0"/>
              <a:t>Channel Capacity</a:t>
            </a:r>
          </a:p>
          <a:p>
            <a:pPr marL="457200" indent="-457200" algn="just">
              <a:buFont typeface="Arial" panose="020B0604020202020204" pitchFamily="34" charset="0"/>
              <a:buChar char="•"/>
            </a:pPr>
            <a:r>
              <a:rPr lang="en-US" dirty="0"/>
              <a:t>Channel Heterogeneity</a:t>
            </a:r>
          </a:p>
          <a:p>
            <a:pPr marL="457200" indent="-457200" algn="just">
              <a:buFont typeface="Arial" panose="020B0604020202020204" pitchFamily="34" charset="0"/>
              <a:buChar char="•"/>
            </a:pPr>
            <a:r>
              <a:rPr lang="en-US" dirty="0"/>
              <a:t>Service Cost</a:t>
            </a:r>
          </a:p>
          <a:p>
            <a:pPr marL="457200" indent="-457200" algn="just">
              <a:buFont typeface="Arial" panose="020B0604020202020204" pitchFamily="34" charset="0"/>
              <a:buChar char="•"/>
            </a:pPr>
            <a:r>
              <a:rPr lang="en-US" dirty="0"/>
              <a:t>Short Term versus Long Term</a:t>
            </a:r>
          </a:p>
          <a:p>
            <a:pPr marL="457200" indent="-457200" algn="just">
              <a:buFont typeface="Arial" panose="020B0604020202020204" pitchFamily="34" charset="0"/>
              <a:buChar char="•"/>
            </a:pPr>
            <a:r>
              <a:rPr lang="en-US" dirty="0"/>
              <a:t>Offline attitude versus online experience</a:t>
            </a:r>
          </a:p>
          <a:p>
            <a:pPr marL="457200" indent="-457200" algn="just">
              <a:buFont typeface="Arial" panose="020B0604020202020204" pitchFamily="34" charset="0"/>
              <a:buChar char="•"/>
            </a:pPr>
            <a:r>
              <a:rPr lang="en-US" dirty="0"/>
              <a:t>Trust</a:t>
            </a:r>
          </a:p>
        </p:txBody>
      </p:sp>
    </p:spTree>
    <p:extLst>
      <p:ext uri="{BB962C8B-B14F-4D97-AF65-F5344CB8AC3E}">
        <p14:creationId xmlns:p14="http://schemas.microsoft.com/office/powerpoint/2010/main" val="115269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fontScale="92500"/>
          </a:bodyPr>
          <a:lstStyle/>
          <a:p>
            <a:r>
              <a:rPr lang="en-US" dirty="0" smtClean="0"/>
              <a:t>Pattern Template  : How to identify a design pattern in the context?</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3147884121"/>
              </p:ext>
            </p:extLst>
          </p:nvPr>
        </p:nvGraphicFramePr>
        <p:xfrm>
          <a:off x="2505456" y="2046826"/>
          <a:ext cx="19751040"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10"/>
          <p:cNvSpPr/>
          <p:nvPr/>
        </p:nvSpPr>
        <p:spPr>
          <a:xfrm>
            <a:off x="14655901" y="3949375"/>
            <a:ext cx="412292" cy="584775"/>
          </a:xfrm>
          <a:prstGeom prst="rect">
            <a:avLst/>
          </a:prstGeom>
        </p:spPr>
        <p:txBody>
          <a:bodyPr wrap="none">
            <a:spAutoFit/>
          </a:bodyPr>
          <a:lstStyle/>
          <a:p>
            <a:r>
              <a:rPr lang="en-US" dirty="0" smtClean="0"/>
              <a:t>x</a:t>
            </a:r>
            <a:endParaRPr lang="en-US" dirty="0"/>
          </a:p>
        </p:txBody>
      </p:sp>
    </p:spTree>
    <p:extLst>
      <p:ext uri="{BB962C8B-B14F-4D97-AF65-F5344CB8AC3E}">
        <p14:creationId xmlns:p14="http://schemas.microsoft.com/office/powerpoint/2010/main" val="25019989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Types of Digital Self Service Patterns</a:t>
            </a:r>
            <a:endParaRPr lang="en-US" dirty="0"/>
          </a:p>
        </p:txBody>
      </p:sp>
      <p:sp>
        <p:nvSpPr>
          <p:cNvPr id="4" name="TextBox 3"/>
          <p:cNvSpPr txBox="1"/>
          <p:nvPr/>
        </p:nvSpPr>
        <p:spPr>
          <a:xfrm>
            <a:off x="11198583" y="6911129"/>
            <a:ext cx="4566955" cy="35913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lang="en-US" dirty="0" smtClean="0">
                <a:solidFill>
                  <a:srgbClr val="00B050"/>
                </a:solidFill>
              </a:rPr>
              <a:t>Channel </a:t>
            </a:r>
            <a:r>
              <a:rPr kumimoji="0" lang="en-US" sz="3200" b="1" i="0" u="none" strike="noStrike" cap="none" spc="0" normalizeH="0" dirty="0" smtClean="0">
                <a:ln>
                  <a:noFill/>
                </a:ln>
                <a:solidFill>
                  <a:srgbClr val="00B050"/>
                </a:solidFill>
                <a:effectLst/>
                <a:uFillTx/>
                <a:latin typeface="Helvetica Neue"/>
                <a:ea typeface="Helvetica Neue"/>
                <a:cs typeface="Helvetica Neue"/>
                <a:sym typeface="Helvetica Neue"/>
              </a:rPr>
              <a:t>Patterns</a:t>
            </a:r>
            <a:endParaRPr kumimoji="0" lang="en-US" sz="3200" b="1" i="0" u="none" strike="noStrike" cap="none" spc="0" normalizeH="0" baseline="0" dirty="0" smtClean="0">
              <a:ln>
                <a:noFill/>
              </a:ln>
              <a:solidFill>
                <a:srgbClr val="00B050"/>
              </a:solidFill>
              <a:effectLst/>
              <a:uFillTx/>
              <a:latin typeface="Helvetica Neue"/>
              <a:ea typeface="Helvetica Neue"/>
              <a:cs typeface="Helvetica Neue"/>
              <a:sym typeface="Helvetica Neue"/>
            </a:endParaRP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Fast Access to Data</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Multi-Device Access</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rPr>
              <a:t>Always Up Service</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endParaRP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endParaRPr>
          </a:p>
          <a:p>
            <a:pPr marL="457200" marR="0" indent="-457200" algn="ctr"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5" name="TextBox 4"/>
          <p:cNvSpPr txBox="1"/>
          <p:nvPr/>
        </p:nvSpPr>
        <p:spPr>
          <a:xfrm>
            <a:off x="1399308" y="2077659"/>
            <a:ext cx="6389569" cy="3098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smtClean="0">
                <a:ln>
                  <a:noFill/>
                </a:ln>
                <a:solidFill>
                  <a:srgbClr val="00B050"/>
                </a:solidFill>
                <a:effectLst/>
                <a:uFillTx/>
                <a:latin typeface="Helvetica Neue"/>
                <a:ea typeface="Helvetica Neue"/>
                <a:cs typeface="Helvetica Neue"/>
                <a:sym typeface="Helvetica Neue"/>
              </a:rPr>
              <a:t>Behavior Patterns</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Bulk Offline Template Service</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1" i="0" u="none" strike="noStrike" cap="none" spc="0" normalizeH="0" baseline="0" dirty="0" smtClean="0">
                <a:ln>
                  <a:noFill/>
                </a:ln>
                <a:solidFill>
                  <a:srgbClr val="000000"/>
                </a:solidFill>
                <a:effectLst/>
                <a:uFillTx/>
                <a:latin typeface="Helvetica Neue"/>
                <a:ea typeface="Helvetica Neue"/>
                <a:cs typeface="Helvetica Neue"/>
                <a:sym typeface="Helvetica Neue"/>
              </a:rPr>
              <a:t>Staged</a:t>
            </a:r>
            <a:r>
              <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rPr>
              <a:t> Journey</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Wizard</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1" i="0" u="none" strike="noStrike" cap="none" spc="0" normalizeH="0" baseline="0" dirty="0" smtClean="0">
                <a:ln>
                  <a:noFill/>
                </a:ln>
                <a:solidFill>
                  <a:srgbClr val="000000"/>
                </a:solidFill>
                <a:effectLst/>
                <a:uFillTx/>
                <a:latin typeface="Helvetica Neue"/>
                <a:ea typeface="Helvetica Neue"/>
                <a:cs typeface="Helvetica Neue"/>
                <a:sym typeface="Helvetica Neue"/>
              </a:rPr>
              <a:t>Power</a:t>
            </a:r>
            <a:r>
              <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rPr>
              <a:t> Users</a:t>
            </a:r>
          </a:p>
          <a:p>
            <a:pPr marL="457200" marR="0" indent="-457200" algn="ctr"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6" name="TextBox 5"/>
          <p:cNvSpPr txBox="1"/>
          <p:nvPr/>
        </p:nvSpPr>
        <p:spPr>
          <a:xfrm>
            <a:off x="9780541" y="2066801"/>
            <a:ext cx="6049732" cy="4083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smtClean="0">
                <a:ln>
                  <a:noFill/>
                </a:ln>
                <a:solidFill>
                  <a:srgbClr val="00B050"/>
                </a:solidFill>
                <a:effectLst/>
                <a:uFillTx/>
                <a:latin typeface="Helvetica Neue"/>
                <a:ea typeface="Helvetica Neue"/>
                <a:cs typeface="Helvetica Neue"/>
                <a:sym typeface="Helvetica Neue"/>
              </a:rPr>
              <a:t>Aid</a:t>
            </a:r>
            <a:r>
              <a:rPr kumimoji="0" lang="en-US" sz="3200" b="1" i="0" u="none" strike="noStrike" cap="none" spc="0" normalizeH="0" dirty="0" smtClean="0">
                <a:ln>
                  <a:noFill/>
                </a:ln>
                <a:solidFill>
                  <a:srgbClr val="00B050"/>
                </a:solidFill>
                <a:effectLst/>
                <a:uFillTx/>
                <a:latin typeface="Helvetica Neue"/>
                <a:ea typeface="Helvetica Neue"/>
                <a:cs typeface="Helvetica Neue"/>
                <a:sym typeface="Helvetica Neue"/>
              </a:rPr>
              <a:t> Patterns</a:t>
            </a:r>
            <a:endParaRPr kumimoji="0" lang="en-US" sz="3200" b="1" i="0" u="none" strike="noStrike" cap="none" spc="0" normalizeH="0" baseline="0" dirty="0" smtClean="0">
              <a:ln>
                <a:noFill/>
              </a:ln>
              <a:solidFill>
                <a:srgbClr val="00B050"/>
              </a:solidFill>
              <a:effectLst/>
              <a:uFillTx/>
              <a:latin typeface="Helvetica Neue"/>
              <a:ea typeface="Helvetica Neue"/>
              <a:cs typeface="Helvetica Neue"/>
              <a:sym typeface="Helvetica Neue"/>
            </a:endParaRP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Decision Helper</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1" i="0" u="none" strike="noStrike" cap="none" spc="0" normalizeH="0" baseline="0" dirty="0" smtClean="0">
                <a:ln>
                  <a:noFill/>
                </a:ln>
                <a:solidFill>
                  <a:srgbClr val="000000"/>
                </a:solidFill>
                <a:effectLst/>
                <a:uFillTx/>
                <a:latin typeface="Helvetica Neue"/>
                <a:ea typeface="Helvetica Neue"/>
                <a:cs typeface="Helvetica Neue"/>
                <a:sym typeface="Helvetica Neue"/>
              </a:rPr>
              <a:t>Single Window</a:t>
            </a:r>
            <a:r>
              <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rPr>
              <a:t> Service</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Live Aid</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Seamless Long Self Service</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rPr>
              <a:t>Seamless Multitasking</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endParaRPr>
          </a:p>
          <a:p>
            <a:pPr marL="457200" marR="0" indent="-457200" algn="ctr"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7" name="TextBox 6"/>
          <p:cNvSpPr txBox="1"/>
          <p:nvPr/>
        </p:nvSpPr>
        <p:spPr>
          <a:xfrm>
            <a:off x="1417056" y="7090698"/>
            <a:ext cx="6658873" cy="26064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lang="en-US" dirty="0" smtClean="0">
                <a:solidFill>
                  <a:srgbClr val="00B050"/>
                </a:solidFill>
              </a:rPr>
              <a:t>Customer</a:t>
            </a:r>
            <a:r>
              <a:rPr kumimoji="0" lang="en-US" sz="3200" b="1" i="0" u="none" strike="noStrike" cap="none" spc="0" normalizeH="0" dirty="0" smtClean="0">
                <a:ln>
                  <a:noFill/>
                </a:ln>
                <a:solidFill>
                  <a:srgbClr val="00B050"/>
                </a:solidFill>
                <a:effectLst/>
                <a:uFillTx/>
                <a:latin typeface="Helvetica Neue"/>
                <a:ea typeface="Helvetica Neue"/>
                <a:cs typeface="Helvetica Neue"/>
                <a:sym typeface="Helvetica Neue"/>
              </a:rPr>
              <a:t> Patterns</a:t>
            </a:r>
            <a:endParaRPr kumimoji="0" lang="en-US" sz="3200" b="1" i="0" u="none" strike="noStrike" cap="none" spc="0" normalizeH="0" baseline="0" dirty="0" smtClean="0">
              <a:ln>
                <a:noFill/>
              </a:ln>
              <a:solidFill>
                <a:srgbClr val="00B050"/>
              </a:solidFill>
              <a:effectLst/>
              <a:uFillTx/>
              <a:latin typeface="Helvetica Neue"/>
              <a:ea typeface="Helvetica Neue"/>
              <a:cs typeface="Helvetica Neue"/>
              <a:sym typeface="Helvetica Neue"/>
            </a:endParaRP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2 way non anonymous channel</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Remember Me</a:t>
            </a:r>
            <a:endPar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endParaRP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endParaRPr>
          </a:p>
          <a:p>
            <a:pPr marL="457200" marR="0" indent="-457200" algn="ctr"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8" name="TextBox 7"/>
          <p:cNvSpPr txBox="1"/>
          <p:nvPr/>
        </p:nvSpPr>
        <p:spPr>
          <a:xfrm>
            <a:off x="5877101" y="9450959"/>
            <a:ext cx="8821325" cy="408380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71437" tIns="71437" rIns="71437" bIns="71437" numCol="1" spcCol="38100" rtlCol="0" anchor="ctr">
            <a:spAutoFit/>
          </a:bodyPr>
          <a:lstStyle/>
          <a:p>
            <a:pPr marL="0" marR="0" indent="0" algn="just" defTabSz="821531" rtl="0" fontAlgn="auto" latinLnBrk="0" hangingPunct="0">
              <a:lnSpc>
                <a:spcPct val="100000"/>
              </a:lnSpc>
              <a:spcBef>
                <a:spcPts val="0"/>
              </a:spcBef>
              <a:spcAft>
                <a:spcPts val="0"/>
              </a:spcAft>
              <a:buClrTx/>
              <a:buSzTx/>
              <a:buFontTx/>
              <a:buNone/>
              <a:tabLst/>
            </a:pPr>
            <a:r>
              <a:rPr lang="en-US" dirty="0" smtClean="0">
                <a:solidFill>
                  <a:srgbClr val="00B050"/>
                </a:solidFill>
              </a:rPr>
              <a:t>Relationship </a:t>
            </a:r>
            <a:r>
              <a:rPr kumimoji="0" lang="en-US" sz="3200" b="1" i="0" u="none" strike="noStrike" cap="none" spc="0" normalizeH="0" dirty="0" smtClean="0">
                <a:ln>
                  <a:noFill/>
                </a:ln>
                <a:solidFill>
                  <a:srgbClr val="00B050"/>
                </a:solidFill>
                <a:effectLst/>
                <a:uFillTx/>
                <a:latin typeface="Helvetica Neue"/>
                <a:ea typeface="Helvetica Neue"/>
                <a:cs typeface="Helvetica Neue"/>
                <a:sym typeface="Helvetica Neue"/>
              </a:rPr>
              <a:t>Patterns</a:t>
            </a:r>
            <a:endParaRPr kumimoji="0" lang="en-US" sz="3200" b="1" i="0" u="none" strike="noStrike" cap="none" spc="0" normalizeH="0" baseline="0" dirty="0" smtClean="0">
              <a:ln>
                <a:noFill/>
              </a:ln>
              <a:solidFill>
                <a:srgbClr val="00B050"/>
              </a:solidFill>
              <a:effectLst/>
              <a:uFillTx/>
              <a:latin typeface="Helvetica Neue"/>
              <a:ea typeface="Helvetica Neue"/>
              <a:cs typeface="Helvetica Neue"/>
              <a:sym typeface="Helvetica Neue"/>
            </a:endParaRP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Multi-Channel Conversational Interactions</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360 Degree View</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lang="en-US" dirty="0" smtClean="0"/>
              <a:t>Trusted Digital Brand</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r>
              <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rPr>
              <a:t>Tiered Service</a:t>
            </a: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endParaRPr>
          </a:p>
          <a:p>
            <a:pPr marL="457200" marR="0" indent="-457200" algn="just"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dirty="0" smtClean="0">
              <a:ln>
                <a:noFill/>
              </a:ln>
              <a:solidFill>
                <a:srgbClr val="000000"/>
              </a:solidFill>
              <a:effectLst/>
              <a:uFillTx/>
              <a:latin typeface="Helvetica Neue"/>
              <a:ea typeface="Helvetica Neue"/>
              <a:cs typeface="Helvetica Neue"/>
              <a:sym typeface="Helvetica Neue"/>
            </a:endParaRPr>
          </a:p>
          <a:p>
            <a:pPr marL="457200" marR="0" indent="-457200" algn="ctr" defTabSz="821531"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32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Tree>
    <p:extLst>
      <p:ext uri="{BB962C8B-B14F-4D97-AF65-F5344CB8AC3E}">
        <p14:creationId xmlns:p14="http://schemas.microsoft.com/office/powerpoint/2010/main" val="3106496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471436" y="6059165"/>
            <a:ext cx="16101291" cy="833437"/>
          </a:xfrm>
        </p:spPr>
        <p:txBody>
          <a:bodyPr/>
          <a:lstStyle/>
          <a:p>
            <a:r>
              <a:rPr lang="en-US" dirty="0" smtClean="0"/>
              <a:t>Behavior Patterns  : Deep Dive</a:t>
            </a:r>
            <a:endParaRPr lang="en-US" dirty="0"/>
          </a:p>
        </p:txBody>
      </p:sp>
    </p:spTree>
    <p:extLst>
      <p:ext uri="{BB962C8B-B14F-4D97-AF65-F5344CB8AC3E}">
        <p14:creationId xmlns:p14="http://schemas.microsoft.com/office/powerpoint/2010/main" val="315135471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Behavior Pattern : Power Users</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3195098196"/>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55091" y="3059766"/>
            <a:ext cx="8533905" cy="5005242"/>
          </a:xfrm>
          <a:prstGeom prst="rect">
            <a:avLst/>
          </a:prstGeom>
        </p:spPr>
      </p:pic>
    </p:spTree>
    <p:extLst>
      <p:ext uri="{BB962C8B-B14F-4D97-AF65-F5344CB8AC3E}">
        <p14:creationId xmlns:p14="http://schemas.microsoft.com/office/powerpoint/2010/main" val="1878067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Behavior Pattern : Wizard</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1992729110"/>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325600" y="1941226"/>
            <a:ext cx="10058400" cy="7663542"/>
          </a:xfrm>
          <a:prstGeom prst="rect">
            <a:avLst/>
          </a:prstGeom>
        </p:spPr>
      </p:pic>
    </p:spTree>
    <p:extLst>
      <p:ext uri="{BB962C8B-B14F-4D97-AF65-F5344CB8AC3E}">
        <p14:creationId xmlns:p14="http://schemas.microsoft.com/office/powerpoint/2010/main" val="1950920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Behavior Pattern : Staged Journey</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2531972038"/>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209776" y="2426256"/>
            <a:ext cx="10058400" cy="5492448"/>
          </a:xfrm>
          <a:prstGeom prst="rect">
            <a:avLst/>
          </a:prstGeom>
        </p:spPr>
      </p:pic>
    </p:spTree>
    <p:extLst>
      <p:ext uri="{BB962C8B-B14F-4D97-AF65-F5344CB8AC3E}">
        <p14:creationId xmlns:p14="http://schemas.microsoft.com/office/powerpoint/2010/main" val="2598535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Behavior Pattern : Bulk offline template service</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223872510"/>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090252" y="2465315"/>
            <a:ext cx="7013634" cy="4684578"/>
          </a:xfrm>
          <a:prstGeom prst="rect">
            <a:avLst/>
          </a:prstGeom>
        </p:spPr>
      </p:pic>
    </p:spTree>
    <p:extLst>
      <p:ext uri="{BB962C8B-B14F-4D97-AF65-F5344CB8AC3E}">
        <p14:creationId xmlns:p14="http://schemas.microsoft.com/office/powerpoint/2010/main" val="341856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471436" y="6059165"/>
            <a:ext cx="16101291" cy="833437"/>
          </a:xfrm>
        </p:spPr>
        <p:txBody>
          <a:bodyPr/>
          <a:lstStyle/>
          <a:p>
            <a:r>
              <a:rPr lang="en-US" dirty="0" smtClean="0"/>
              <a:t>Aid Patterns  : Deep Dive</a:t>
            </a:r>
            <a:endParaRPr lang="en-US" dirty="0"/>
          </a:p>
        </p:txBody>
      </p:sp>
    </p:spTree>
    <p:extLst>
      <p:ext uri="{BB962C8B-B14F-4D97-AF65-F5344CB8AC3E}">
        <p14:creationId xmlns:p14="http://schemas.microsoft.com/office/powerpoint/2010/main" val="780526102"/>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Aid Pattern : Decision Helper</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600796472"/>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15436" y="2699744"/>
            <a:ext cx="9796600" cy="5438416"/>
          </a:xfrm>
          <a:prstGeom prst="rect">
            <a:avLst/>
          </a:prstGeom>
        </p:spPr>
      </p:pic>
    </p:spTree>
    <p:extLst>
      <p:ext uri="{BB962C8B-B14F-4D97-AF65-F5344CB8AC3E}">
        <p14:creationId xmlns:p14="http://schemas.microsoft.com/office/powerpoint/2010/main" val="3952968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Aid Pattern : Single Window Service</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2387427342"/>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788936" y="2602992"/>
            <a:ext cx="5860288" cy="8790432"/>
          </a:xfrm>
          <a:prstGeom prst="rect">
            <a:avLst/>
          </a:prstGeom>
        </p:spPr>
      </p:pic>
    </p:spTree>
    <p:extLst>
      <p:ext uri="{BB962C8B-B14F-4D97-AF65-F5344CB8AC3E}">
        <p14:creationId xmlns:p14="http://schemas.microsoft.com/office/powerpoint/2010/main" val="23833655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Aid Pattern : Live Aid</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1824172489"/>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823233" y="2220075"/>
            <a:ext cx="7315200" cy="5562600"/>
          </a:xfrm>
          <a:prstGeom prst="rect">
            <a:avLst/>
          </a:prstGeom>
        </p:spPr>
      </p:pic>
    </p:spTree>
    <p:extLst>
      <p:ext uri="{BB962C8B-B14F-4D97-AF65-F5344CB8AC3E}">
        <p14:creationId xmlns:p14="http://schemas.microsoft.com/office/powerpoint/2010/main" val="4016549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Aid Pattern : Seamless Long Self Service</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1597867411"/>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69312" y="2414629"/>
            <a:ext cx="7101078" cy="4735264"/>
          </a:xfrm>
          <a:prstGeom prst="rect">
            <a:avLst/>
          </a:prstGeom>
        </p:spPr>
      </p:pic>
    </p:spTree>
    <p:extLst>
      <p:ext uri="{BB962C8B-B14F-4D97-AF65-F5344CB8AC3E}">
        <p14:creationId xmlns:p14="http://schemas.microsoft.com/office/powerpoint/2010/main" val="38435907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Aid Pattern : Seamless Multitasking</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3856197044"/>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788936" y="2425639"/>
            <a:ext cx="5001420" cy="7502131"/>
          </a:xfrm>
          <a:prstGeom prst="rect">
            <a:avLst/>
          </a:prstGeom>
        </p:spPr>
      </p:pic>
    </p:spTree>
    <p:extLst>
      <p:ext uri="{BB962C8B-B14F-4D97-AF65-F5344CB8AC3E}">
        <p14:creationId xmlns:p14="http://schemas.microsoft.com/office/powerpoint/2010/main" val="21265459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Aid Pattern : Smart Pagination</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4039106429"/>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9720" y="2534497"/>
            <a:ext cx="7697152" cy="4575430"/>
          </a:xfrm>
          <a:prstGeom prst="rect">
            <a:avLst/>
          </a:prstGeom>
        </p:spPr>
      </p:pic>
    </p:spTree>
    <p:extLst>
      <p:ext uri="{BB962C8B-B14F-4D97-AF65-F5344CB8AC3E}">
        <p14:creationId xmlns:p14="http://schemas.microsoft.com/office/powerpoint/2010/main" val="31805347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471436" y="6059165"/>
            <a:ext cx="16101291" cy="833437"/>
          </a:xfrm>
        </p:spPr>
        <p:txBody>
          <a:bodyPr/>
          <a:lstStyle/>
          <a:p>
            <a:r>
              <a:rPr lang="en-US" dirty="0" smtClean="0"/>
              <a:t>Channel Patterns  : Deep Dive</a:t>
            </a:r>
            <a:endParaRPr lang="en-US" dirty="0"/>
          </a:p>
        </p:txBody>
      </p:sp>
    </p:spTree>
    <p:extLst>
      <p:ext uri="{BB962C8B-B14F-4D97-AF65-F5344CB8AC3E}">
        <p14:creationId xmlns:p14="http://schemas.microsoft.com/office/powerpoint/2010/main" val="3515573517"/>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Channel Pattern : Fast access to data</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3442776959"/>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95982" y="2329710"/>
            <a:ext cx="8673896" cy="5058642"/>
          </a:xfrm>
          <a:prstGeom prst="rect">
            <a:avLst/>
          </a:prstGeom>
        </p:spPr>
      </p:pic>
    </p:spTree>
    <p:extLst>
      <p:ext uri="{BB962C8B-B14F-4D97-AF65-F5344CB8AC3E}">
        <p14:creationId xmlns:p14="http://schemas.microsoft.com/office/powerpoint/2010/main" val="8453037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Channel Pattern : Multi-device access</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526259921"/>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948931" y="3021088"/>
            <a:ext cx="8173967" cy="5409680"/>
          </a:xfrm>
          <a:prstGeom prst="rect">
            <a:avLst/>
          </a:prstGeom>
        </p:spPr>
      </p:pic>
      <p:pic>
        <p:nvPicPr>
          <p:cNvPr id="6" name="Picture 5"/>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225824" y="7315199"/>
            <a:ext cx="4257675" cy="6163064"/>
          </a:xfrm>
          <a:prstGeom prst="rect">
            <a:avLst/>
          </a:prstGeom>
        </p:spPr>
      </p:pic>
    </p:spTree>
    <p:extLst>
      <p:ext uri="{BB962C8B-B14F-4D97-AF65-F5344CB8AC3E}">
        <p14:creationId xmlns:p14="http://schemas.microsoft.com/office/powerpoint/2010/main" val="2232118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Channel Pattern : Always up service</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744847118"/>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361919" y="3007304"/>
            <a:ext cx="7819221" cy="2387655"/>
          </a:xfrm>
          <a:prstGeom prst="rect">
            <a:avLst/>
          </a:prstGeom>
        </p:spPr>
      </p:pic>
    </p:spTree>
    <p:extLst>
      <p:ext uri="{BB962C8B-B14F-4D97-AF65-F5344CB8AC3E}">
        <p14:creationId xmlns:p14="http://schemas.microsoft.com/office/powerpoint/2010/main" val="32575158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471436" y="6059165"/>
            <a:ext cx="16101291" cy="833437"/>
          </a:xfrm>
        </p:spPr>
        <p:txBody>
          <a:bodyPr/>
          <a:lstStyle/>
          <a:p>
            <a:r>
              <a:rPr lang="en-US" dirty="0" smtClean="0"/>
              <a:t>Customer Patterns  : Deep Dive</a:t>
            </a:r>
            <a:endParaRPr lang="en-US" dirty="0"/>
          </a:p>
        </p:txBody>
      </p:sp>
    </p:spTree>
    <p:extLst>
      <p:ext uri="{BB962C8B-B14F-4D97-AF65-F5344CB8AC3E}">
        <p14:creationId xmlns:p14="http://schemas.microsoft.com/office/powerpoint/2010/main" val="3948179060"/>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Channel Pattern : Remember Me</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2174135023"/>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54192" y="2220075"/>
            <a:ext cx="8185011" cy="4553950"/>
          </a:xfrm>
          <a:prstGeom prst="rect">
            <a:avLst/>
          </a:prstGeom>
        </p:spPr>
      </p:pic>
    </p:spTree>
    <p:extLst>
      <p:ext uri="{BB962C8B-B14F-4D97-AF65-F5344CB8AC3E}">
        <p14:creationId xmlns:p14="http://schemas.microsoft.com/office/powerpoint/2010/main" val="215435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Channel Pattern : 2 Way Non Anonymous Channel</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2667851843"/>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15436" y="2220075"/>
            <a:ext cx="8255000" cy="4833868"/>
          </a:xfrm>
          <a:prstGeom prst="rect">
            <a:avLst/>
          </a:prstGeom>
        </p:spPr>
      </p:pic>
    </p:spTree>
    <p:extLst>
      <p:ext uri="{BB962C8B-B14F-4D97-AF65-F5344CB8AC3E}">
        <p14:creationId xmlns:p14="http://schemas.microsoft.com/office/powerpoint/2010/main" val="2334077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471436" y="6059165"/>
            <a:ext cx="16101291" cy="833437"/>
          </a:xfrm>
        </p:spPr>
        <p:txBody>
          <a:bodyPr/>
          <a:lstStyle/>
          <a:p>
            <a:r>
              <a:rPr lang="en-US" dirty="0" smtClean="0"/>
              <a:t>Relationship Patterns  : Deep Dive</a:t>
            </a:r>
            <a:endParaRPr lang="en-US" dirty="0"/>
          </a:p>
        </p:txBody>
      </p:sp>
    </p:spTree>
    <p:extLst>
      <p:ext uri="{BB962C8B-B14F-4D97-AF65-F5344CB8AC3E}">
        <p14:creationId xmlns:p14="http://schemas.microsoft.com/office/powerpoint/2010/main" val="3455437630"/>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Customer Pattern : Multi-Channel Conversational Interactions</a:t>
            </a:r>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3988476858"/>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131796" y="2534496"/>
            <a:ext cx="6812280" cy="4488095"/>
          </a:xfrm>
          <a:prstGeom prst="rect">
            <a:avLst/>
          </a:prstGeom>
        </p:spPr>
      </p:pic>
    </p:spTree>
    <p:extLst>
      <p:ext uri="{BB962C8B-B14F-4D97-AF65-F5344CB8AC3E}">
        <p14:creationId xmlns:p14="http://schemas.microsoft.com/office/powerpoint/2010/main" val="19447967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Customer Pattern : </a:t>
            </a:r>
            <a:r>
              <a:rPr lang="en-US" dirty="0"/>
              <a:t>360 </a:t>
            </a:r>
            <a:r>
              <a:rPr lang="en-US" dirty="0" smtClean="0"/>
              <a:t>Degree View</a:t>
            </a:r>
            <a:endParaRPr lang="en-US" dirty="0"/>
          </a:p>
          <a:p>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1350315202"/>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430691" y="2220075"/>
            <a:ext cx="6104762" cy="6695238"/>
          </a:xfrm>
          <a:prstGeom prst="rect">
            <a:avLst/>
          </a:prstGeom>
        </p:spPr>
      </p:pic>
    </p:spTree>
    <p:extLst>
      <p:ext uri="{BB962C8B-B14F-4D97-AF65-F5344CB8AC3E}">
        <p14:creationId xmlns:p14="http://schemas.microsoft.com/office/powerpoint/2010/main" val="11646174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Customer Pattern : Trusted Online Brand</a:t>
            </a:r>
            <a:endParaRPr lang="en-US" dirty="0"/>
          </a:p>
          <a:p>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2077936392"/>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124938" y="2390628"/>
            <a:ext cx="8576310" cy="6314459"/>
          </a:xfrm>
          <a:prstGeom prst="rect">
            <a:avLst/>
          </a:prstGeom>
        </p:spPr>
      </p:pic>
    </p:spTree>
    <p:extLst>
      <p:ext uri="{BB962C8B-B14F-4D97-AF65-F5344CB8AC3E}">
        <p14:creationId xmlns:p14="http://schemas.microsoft.com/office/powerpoint/2010/main" val="2430463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Customer Pattern : Tiered Service</a:t>
            </a:r>
            <a:endParaRPr lang="en-US" dirty="0"/>
          </a:p>
          <a:p>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graphicFrame>
        <p:nvGraphicFramePr>
          <p:cNvPr id="13" name="Diagram 12"/>
          <p:cNvGraphicFramePr/>
          <p:nvPr>
            <p:extLst>
              <p:ext uri="{D42A27DB-BD31-4B8C-83A1-F6EECF244321}">
                <p14:modId xmlns:p14="http://schemas.microsoft.com/office/powerpoint/2010/main" val="241559637"/>
              </p:ext>
            </p:extLst>
          </p:nvPr>
        </p:nvGraphicFramePr>
        <p:xfrm>
          <a:off x="841248" y="2046826"/>
          <a:ext cx="13368528" cy="102061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024906" y="2638278"/>
            <a:ext cx="8017974" cy="6251595"/>
          </a:xfrm>
          <a:prstGeom prst="rect">
            <a:avLst/>
          </a:prstGeom>
        </p:spPr>
      </p:pic>
    </p:spTree>
    <p:extLst>
      <p:ext uri="{BB962C8B-B14F-4D97-AF65-F5344CB8AC3E}">
        <p14:creationId xmlns:p14="http://schemas.microsoft.com/office/powerpoint/2010/main" val="26557438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lstStyle/>
          <a:p>
            <a:r>
              <a:rPr lang="en-US" dirty="0" smtClean="0"/>
              <a:t>Self Service Pattern Language : What we learnt?</a:t>
            </a:r>
            <a:endParaRPr lang="en-US" dirty="0"/>
          </a:p>
        </p:txBody>
      </p:sp>
      <p:pic>
        <p:nvPicPr>
          <p:cNvPr id="9" name="Picture 8" descr="diaforce.png"/>
          <p:cNvPicPr/>
          <p:nvPr/>
        </p:nvPicPr>
        <p:blipFill>
          <a:blip r:embed="rId3"/>
          <a:stretch>
            <a:fillRect/>
          </a:stretch>
        </p:blipFill>
        <p:spPr bwMode="auto">
          <a:xfrm>
            <a:off x="2157984" y="2157984"/>
            <a:ext cx="18434304" cy="10844784"/>
          </a:xfrm>
          <a:prstGeom prst="rect">
            <a:avLst/>
          </a:prstGeom>
        </p:spPr>
      </p:pic>
    </p:spTree>
    <p:extLst>
      <p:ext uri="{BB962C8B-B14F-4D97-AF65-F5344CB8AC3E}">
        <p14:creationId xmlns:p14="http://schemas.microsoft.com/office/powerpoint/2010/main" val="4173829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dirty="0" smtClean="0"/>
              <a:t>Also Available as a Kindle Book</a:t>
            </a:r>
            <a:endParaRPr lang="en-US" dirty="0"/>
          </a:p>
          <a:p>
            <a:endParaRPr lang="en-US" dirty="0"/>
          </a:p>
        </p:txBody>
      </p:sp>
      <p:sp>
        <p:nvSpPr>
          <p:cNvPr id="2" name="Rectangle 1"/>
          <p:cNvSpPr/>
          <p:nvPr/>
        </p:nvSpPr>
        <p:spPr>
          <a:xfrm>
            <a:off x="1246908" y="1213389"/>
            <a:ext cx="15136368" cy="2013372"/>
          </a:xfrm>
          <a:prstGeom prst="rect">
            <a:avLst/>
          </a:prstGeom>
        </p:spPr>
        <p:txBody>
          <a:bodyPr wrap="square">
            <a:spAutoFit/>
          </a:bodyPr>
          <a:lstStyle/>
          <a:p>
            <a:pPr marL="12065" algn="l">
              <a:lnSpc>
                <a:spcPct val="200000"/>
              </a:lnSpc>
              <a:spcBef>
                <a:spcPts val="100"/>
              </a:spcBef>
              <a:tabLst>
                <a:tab pos="398780" algn="l"/>
                <a:tab pos="399415" algn="l"/>
              </a:tabLst>
            </a:pPr>
            <a:endParaRPr lang="en-US" dirty="0"/>
          </a:p>
          <a:p>
            <a:pPr marL="469265" indent="-457200" algn="l">
              <a:lnSpc>
                <a:spcPct val="200000"/>
              </a:lnSpc>
              <a:spcBef>
                <a:spcPts val="100"/>
              </a:spcBef>
              <a:buFont typeface="Arial" panose="020B0604020202020204" pitchFamily="34" charset="0"/>
              <a:buChar char="•"/>
              <a:tabLst>
                <a:tab pos="398780" algn="l"/>
                <a:tab pos="399415" algn="l"/>
              </a:tabLst>
            </a:pPr>
            <a:endParaRPr lang="en-US" sz="3000" b="0" spc="-5" dirty="0" smtClean="0">
              <a:latin typeface="Segoe UI Semibold" panose="020B0702040204020203" pitchFamily="34" charset="0"/>
              <a:cs typeface="Segoe UI Semibold" panose="020B0702040204020203" pitchFamily="34" charset="0"/>
            </a:endParaRPr>
          </a:p>
        </p:txBody>
      </p:sp>
      <p:pic>
        <p:nvPicPr>
          <p:cNvPr id="4" name="Picture 3"/>
          <p:cNvPicPr>
            <a:picLocks noChangeAspect="1"/>
          </p:cNvPicPr>
          <p:nvPr/>
        </p:nvPicPr>
        <p:blipFill>
          <a:blip r:embed="rId3"/>
          <a:stretch>
            <a:fillRect/>
          </a:stretch>
        </p:blipFill>
        <p:spPr>
          <a:xfrm>
            <a:off x="2201989" y="3495294"/>
            <a:ext cx="3667125" cy="7200900"/>
          </a:xfrm>
          <a:prstGeom prst="rect">
            <a:avLst/>
          </a:prstGeom>
        </p:spPr>
      </p:pic>
      <p:sp>
        <p:nvSpPr>
          <p:cNvPr id="6" name="Rectangle 5"/>
          <p:cNvSpPr/>
          <p:nvPr/>
        </p:nvSpPr>
        <p:spPr>
          <a:xfrm>
            <a:off x="8967216" y="4013689"/>
            <a:ext cx="12192000" cy="1077218"/>
          </a:xfrm>
          <a:prstGeom prst="rect">
            <a:avLst/>
          </a:prstGeom>
        </p:spPr>
        <p:txBody>
          <a:bodyPr>
            <a:spAutoFit/>
          </a:bodyPr>
          <a:lstStyle/>
          <a:p>
            <a:r>
              <a:rPr lang="en-US" dirty="0"/>
              <a:t>https://www.amazon.com/Self-Service-Patterns-Digital-Channels-ebook/dp/B09KCC4G3V/</a:t>
            </a:r>
          </a:p>
        </p:txBody>
      </p:sp>
    </p:spTree>
    <p:extLst>
      <p:ext uri="{BB962C8B-B14F-4D97-AF65-F5344CB8AC3E}">
        <p14:creationId xmlns:p14="http://schemas.microsoft.com/office/powerpoint/2010/main" val="849659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5471436" y="6059165"/>
            <a:ext cx="16101291" cy="833437"/>
          </a:xfrm>
        </p:spPr>
        <p:txBody>
          <a:bodyPr/>
          <a:lstStyle/>
          <a:p>
            <a:r>
              <a:rPr lang="en-US" dirty="0" smtClean="0"/>
              <a:t>Thanks. Q&amp;A</a:t>
            </a:r>
            <a:endParaRPr lang="en-US" dirty="0"/>
          </a:p>
        </p:txBody>
      </p:sp>
    </p:spTree>
    <p:extLst>
      <p:ext uri="{BB962C8B-B14F-4D97-AF65-F5344CB8AC3E}">
        <p14:creationId xmlns:p14="http://schemas.microsoft.com/office/powerpoint/2010/main" val="792042225"/>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24384000" cy="13715999"/>
          </a:xfrm>
          <a:prstGeom prst="rect">
            <a:avLst/>
          </a:prstGeom>
        </p:spPr>
      </p:pic>
      <p:sp>
        <p:nvSpPr>
          <p:cNvPr id="14" name="Rectangle 13">
            <a:extLst>
              <a:ext uri="{FF2B5EF4-FFF2-40B4-BE49-F238E27FC236}">
                <a16:creationId xmlns:a16="http://schemas.microsoft.com/office/drawing/2014/main" id="{7FBF04ED-9347-421E-8C95-0438DBA7684D}"/>
              </a:ext>
            </a:extLst>
          </p:cNvPr>
          <p:cNvSpPr/>
          <p:nvPr/>
        </p:nvSpPr>
        <p:spPr>
          <a:xfrm>
            <a:off x="693837" y="6134725"/>
            <a:ext cx="22495347" cy="1446550"/>
          </a:xfrm>
          <a:prstGeom prst="rect">
            <a:avLst/>
          </a:prstGeom>
        </p:spPr>
        <p:txBody>
          <a:bodyPr wrap="square" anchor="ctr">
            <a:spAutoFit/>
          </a:bodyPr>
          <a:lstStyle/>
          <a:p>
            <a:pPr algn="r"/>
            <a:r>
              <a:rPr lang="en-US" sz="8800" dirty="0">
                <a:solidFill>
                  <a:schemeClr val="bg1"/>
                </a:solidFill>
                <a:latin typeface="Segoe UI" panose="020B0502040204020203" pitchFamily="34" charset="0"/>
                <a:ea typeface="Segoe UI Emoji" panose="020B0502040204020203" pitchFamily="34" charset="0"/>
                <a:cs typeface="Segoe UI" panose="020B0502040204020203" pitchFamily="34" charset="0"/>
              </a:rPr>
              <a:t>Together, let’s build for boundless impact</a:t>
            </a:r>
          </a:p>
        </p:txBody>
      </p:sp>
      <p:grpSp>
        <p:nvGrpSpPr>
          <p:cNvPr id="4" name="Group 3"/>
          <p:cNvGrpSpPr/>
          <p:nvPr/>
        </p:nvGrpSpPr>
        <p:grpSpPr>
          <a:xfrm>
            <a:off x="8411056" y="8696898"/>
            <a:ext cx="7561888" cy="4526760"/>
            <a:chOff x="8411056" y="8696898"/>
            <a:chExt cx="7561888" cy="4526760"/>
          </a:xfrm>
        </p:grpSpPr>
        <p:pic>
          <p:nvPicPr>
            <p:cNvPr id="9" name="Picture 8"/>
            <p:cNvPicPr>
              <a:picLocks noChangeAspect="1"/>
            </p:cNvPicPr>
            <p:nvPr/>
          </p:nvPicPr>
          <p:blipFill rotWithShape="1">
            <a:blip r:embed="rId3" cstate="email">
              <a:biLevel thresh="75000"/>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a:ext>
              </a:extLst>
            </a:blip>
            <a:srcRect/>
            <a:stretch/>
          </p:blipFill>
          <p:spPr>
            <a:xfrm>
              <a:off x="8411056" y="8696898"/>
              <a:ext cx="7561888" cy="2296280"/>
            </a:xfrm>
            <a:prstGeom prst="rect">
              <a:avLst/>
            </a:prstGeom>
          </p:spPr>
        </p:pic>
        <p:grpSp>
          <p:nvGrpSpPr>
            <p:cNvPr id="10" name="Group 9"/>
            <p:cNvGrpSpPr/>
            <p:nvPr/>
          </p:nvGrpSpPr>
          <p:grpSpPr>
            <a:xfrm>
              <a:off x="10034839" y="11113785"/>
              <a:ext cx="4314322" cy="581892"/>
              <a:chOff x="11208834" y="8688352"/>
              <a:chExt cx="4745754" cy="640081"/>
            </a:xfrm>
          </p:grpSpPr>
          <p:sp>
            <p:nvSpPr>
              <p:cNvPr id="11" name="Oval 10">
                <a:hlinkClick r:id="rId5"/>
                <a:extLst>
                  <a:ext uri="{FF2B5EF4-FFF2-40B4-BE49-F238E27FC236}">
                    <a16:creationId xmlns:a16="http://schemas.microsoft.com/office/drawing/2014/main" id="{C37D83A3-4EDF-404E-B735-647762303251}"/>
                  </a:ext>
                </a:extLst>
              </p:cNvPr>
              <p:cNvSpPr/>
              <p:nvPr userDrawn="1"/>
            </p:nvSpPr>
            <p:spPr>
              <a:xfrm>
                <a:off x="14288669" y="8688352"/>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12" name="Graphic 39">
                <a:hlinkClick r:id="rId6"/>
                <a:extLst>
                  <a:ext uri="{FF2B5EF4-FFF2-40B4-BE49-F238E27FC236}">
                    <a16:creationId xmlns:a16="http://schemas.microsoft.com/office/drawing/2014/main" id="{7DD0809F-F17D-344F-AADE-0C17DB8AA005}"/>
                  </a:ext>
                </a:extLst>
              </p:cNvPr>
              <p:cNvPicPr>
                <a:picLocks noChangeAspect="1"/>
              </p:cNvPicPr>
              <p:nvPr userDrawn="1"/>
            </p:nvPicPr>
            <p:blipFill>
              <a:blip r:embed="rId7" cstate="email">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tretch>
                <a:fillRect/>
              </a:stretch>
            </p:blipFill>
            <p:spPr>
              <a:xfrm>
                <a:off x="14411355" y="8866575"/>
                <a:ext cx="394712" cy="283696"/>
              </a:xfrm>
              <a:prstGeom prst="rect">
                <a:avLst/>
              </a:prstGeom>
            </p:spPr>
          </p:pic>
          <p:sp>
            <p:nvSpPr>
              <p:cNvPr id="15" name="Oval 14">
                <a:hlinkClick r:id="rId9"/>
                <a:extLst>
                  <a:ext uri="{FF2B5EF4-FFF2-40B4-BE49-F238E27FC236}">
                    <a16:creationId xmlns:a16="http://schemas.microsoft.com/office/drawing/2014/main" id="{65F88F67-8A74-D04C-9727-EFD42D87E992}"/>
                  </a:ext>
                </a:extLst>
              </p:cNvPr>
              <p:cNvSpPr/>
              <p:nvPr userDrawn="1"/>
            </p:nvSpPr>
            <p:spPr>
              <a:xfrm>
                <a:off x="13262830"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16" name="Graphic 42">
                <a:hlinkClick r:id="rId9"/>
                <a:extLst>
                  <a:ext uri="{FF2B5EF4-FFF2-40B4-BE49-F238E27FC236}">
                    <a16:creationId xmlns:a16="http://schemas.microsoft.com/office/drawing/2014/main" id="{434788A1-B0B9-F342-A977-2184839BB001}"/>
                  </a:ext>
                </a:extLst>
              </p:cNvPr>
              <p:cNvPicPr>
                <a:picLocks noChangeAspect="1"/>
              </p:cNvPicPr>
              <p:nvPr userDrawn="1"/>
            </p:nvPicPr>
            <p:blipFill>
              <a:blip r:embed="rId10" cstate="email">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tretch>
                <a:fillRect/>
              </a:stretch>
            </p:blipFill>
            <p:spPr>
              <a:xfrm>
                <a:off x="13386863" y="8849140"/>
                <a:ext cx="392013" cy="318509"/>
              </a:xfrm>
              <a:prstGeom prst="rect">
                <a:avLst/>
              </a:prstGeom>
            </p:spPr>
          </p:pic>
          <p:grpSp>
            <p:nvGrpSpPr>
              <p:cNvPr id="17" name="Group 16"/>
              <p:cNvGrpSpPr/>
              <p:nvPr/>
            </p:nvGrpSpPr>
            <p:grpSpPr>
              <a:xfrm>
                <a:off x="11208834" y="8688353"/>
                <a:ext cx="640080" cy="640080"/>
                <a:chOff x="11208834" y="8688353"/>
                <a:chExt cx="640080" cy="640080"/>
              </a:xfrm>
            </p:grpSpPr>
            <p:sp>
              <p:nvSpPr>
                <p:cNvPr id="22" name="Oval 21">
                  <a:hlinkClick r:id="rId12"/>
                  <a:extLst>
                    <a:ext uri="{FF2B5EF4-FFF2-40B4-BE49-F238E27FC236}">
                      <a16:creationId xmlns:a16="http://schemas.microsoft.com/office/drawing/2014/main" id="{AB69D9F6-9C35-AC44-BBEB-BD80A888C7A7}"/>
                    </a:ext>
                  </a:extLst>
                </p:cNvPr>
                <p:cNvSpPr/>
                <p:nvPr userDrawn="1"/>
              </p:nvSpPr>
              <p:spPr>
                <a:xfrm>
                  <a:off x="11208834"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23" name="Graphic 45">
                  <a:hlinkClick r:id="rId13"/>
                  <a:extLst>
                    <a:ext uri="{FF2B5EF4-FFF2-40B4-BE49-F238E27FC236}">
                      <a16:creationId xmlns:a16="http://schemas.microsoft.com/office/drawing/2014/main" id="{BEB0610A-0324-074D-87D4-6B6D27FC9599}"/>
                    </a:ext>
                  </a:extLst>
                </p:cNvPr>
                <p:cNvPicPr>
                  <a:picLocks noChangeAspect="1"/>
                </p:cNvPicPr>
                <p:nvPr userDrawn="1"/>
              </p:nvPicPr>
              <p:blipFill>
                <a:blip r:embed="rId14" cstate="email">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a:ext>
                  </a:extLst>
                </a:blip>
                <a:stretch>
                  <a:fillRect/>
                </a:stretch>
              </p:blipFill>
              <p:spPr>
                <a:xfrm>
                  <a:off x="11356466" y="8841932"/>
                  <a:ext cx="344816" cy="332924"/>
                </a:xfrm>
                <a:prstGeom prst="rect">
                  <a:avLst/>
                </a:prstGeom>
              </p:spPr>
            </p:pic>
          </p:grpSp>
          <p:sp>
            <p:nvSpPr>
              <p:cNvPr id="18" name="Oval 17">
                <a:hlinkClick r:id="rId16"/>
                <a:extLst>
                  <a:ext uri="{FF2B5EF4-FFF2-40B4-BE49-F238E27FC236}">
                    <a16:creationId xmlns:a16="http://schemas.microsoft.com/office/drawing/2014/main" id="{B265B408-21D4-F34A-8C83-C037A557E543}"/>
                  </a:ext>
                </a:extLst>
              </p:cNvPr>
              <p:cNvSpPr/>
              <p:nvPr userDrawn="1"/>
            </p:nvSpPr>
            <p:spPr>
              <a:xfrm>
                <a:off x="12235832"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19" name="Graphic 48">
                <a:hlinkClick r:id="rId16"/>
                <a:extLst>
                  <a:ext uri="{FF2B5EF4-FFF2-40B4-BE49-F238E27FC236}">
                    <a16:creationId xmlns:a16="http://schemas.microsoft.com/office/drawing/2014/main" id="{79BFE031-E174-9741-96C8-ACB4296F29A3}"/>
                  </a:ext>
                </a:extLst>
              </p:cNvPr>
              <p:cNvPicPr>
                <a:picLocks noChangeAspect="1"/>
              </p:cNvPicPr>
              <p:nvPr userDrawn="1"/>
            </p:nvPicPr>
            <p:blipFill>
              <a:blip r:embed="rId17" cstate="email">
                <a:extLst>
                  <a:ext uri="{BEBA8EAE-BF5A-486C-A8C5-ECC9F3942E4B}">
                    <a14:imgProps xmlns:a14="http://schemas.microsoft.com/office/drawing/2010/main">
                      <a14:imgLayer r:embed="rId18">
                        <a14:imgEffect>
                          <a14:brightnessContrast bright="100000"/>
                        </a14:imgEffect>
                      </a14:imgLayer>
                    </a14:imgProps>
                  </a:ext>
                  <a:ext uri="{28A0092B-C50C-407E-A947-70E740481C1C}">
                    <a14:useLocalDpi xmlns:a14="http://schemas.microsoft.com/office/drawing/2010/main"/>
                  </a:ext>
                </a:extLst>
              </a:blip>
              <a:stretch>
                <a:fillRect/>
              </a:stretch>
            </p:blipFill>
            <p:spPr>
              <a:xfrm>
                <a:off x="12454382" y="8785118"/>
                <a:ext cx="202981" cy="446551"/>
              </a:xfrm>
              <a:prstGeom prst="rect">
                <a:avLst/>
              </a:prstGeom>
            </p:spPr>
          </p:pic>
          <p:sp>
            <p:nvSpPr>
              <p:cNvPr id="20" name="Oval 19">
                <a:extLst>
                  <a:ext uri="{FF2B5EF4-FFF2-40B4-BE49-F238E27FC236}">
                    <a16:creationId xmlns:a16="http://schemas.microsoft.com/office/drawing/2014/main" id="{159F8EB2-5730-CB4E-B73F-F98682FA25B7}"/>
                  </a:ext>
                </a:extLst>
              </p:cNvPr>
              <p:cNvSpPr/>
              <p:nvPr userDrawn="1"/>
            </p:nvSpPr>
            <p:spPr>
              <a:xfrm>
                <a:off x="15314508" y="8688353"/>
                <a:ext cx="640080" cy="640080"/>
              </a:xfrm>
              <a:prstGeom prst="ellipse">
                <a:avLst/>
              </a:prstGeom>
              <a:solidFill>
                <a:srgbClr val="00B8F2"/>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25000" noProof="0" dirty="0">
                  <a:ln>
                    <a:noFill/>
                  </a:ln>
                  <a:solidFill>
                    <a:srgbClr val="FFFFFF"/>
                  </a:solidFill>
                  <a:effectLst/>
                  <a:uLnTx/>
                  <a:uFillTx/>
                  <a:latin typeface="Calibri"/>
                  <a:ea typeface="+mn-ea"/>
                  <a:cs typeface="+mn-cs"/>
                </a:endParaRPr>
              </a:p>
            </p:txBody>
          </p:sp>
          <p:pic>
            <p:nvPicPr>
              <p:cNvPr id="21" name="Graphic 51">
                <a:hlinkClick r:id="rId19"/>
                <a:extLst>
                  <a:ext uri="{FF2B5EF4-FFF2-40B4-BE49-F238E27FC236}">
                    <a16:creationId xmlns:a16="http://schemas.microsoft.com/office/drawing/2014/main" id="{9B4E1DD5-323B-064D-BBFB-D3345180FE41}"/>
                  </a:ext>
                </a:extLst>
              </p:cNvPr>
              <p:cNvPicPr>
                <a:picLocks noChangeAspect="1"/>
              </p:cNvPicPr>
              <p:nvPr userDrawn="1"/>
            </p:nvPicPr>
            <p:blipFill>
              <a:blip r:embed="rId20" cstate="email">
                <a:extLst>
                  <a:ext uri="{BEBA8EAE-BF5A-486C-A8C5-ECC9F3942E4B}">
                    <a14:imgProps xmlns:a14="http://schemas.microsoft.com/office/drawing/2010/main">
                      <a14:imgLayer r:embed="rId21">
                        <a14:imgEffect>
                          <a14:brightnessContrast bright="100000"/>
                        </a14:imgEffect>
                      </a14:imgLayer>
                    </a14:imgProps>
                  </a:ext>
                  <a:ext uri="{28A0092B-C50C-407E-A947-70E740481C1C}">
                    <a14:useLocalDpi xmlns:a14="http://schemas.microsoft.com/office/drawing/2010/main"/>
                  </a:ext>
                </a:extLst>
              </a:blip>
              <a:stretch>
                <a:fillRect/>
              </a:stretch>
            </p:blipFill>
            <p:spPr>
              <a:xfrm>
                <a:off x="15454799" y="8828644"/>
                <a:ext cx="359498" cy="359498"/>
              </a:xfrm>
              <a:prstGeom prst="rect">
                <a:avLst/>
              </a:prstGeom>
            </p:spPr>
          </p:pic>
        </p:grpSp>
        <p:sp>
          <p:nvSpPr>
            <p:cNvPr id="26" name="Rectangle 25"/>
            <p:cNvSpPr/>
            <p:nvPr/>
          </p:nvSpPr>
          <p:spPr>
            <a:xfrm>
              <a:off x="8440202" y="11998707"/>
              <a:ext cx="7503597" cy="1224951"/>
            </a:xfrm>
            <a:prstGeom prst="rect">
              <a:avLst/>
            </a:prstGeom>
          </p:spPr>
          <p:txBody>
            <a:bodyPr wrap="square">
              <a:spAutoFit/>
            </a:bodyPr>
            <a:lstStyle/>
            <a:p>
              <a:pPr>
                <a:lnSpc>
                  <a:spcPct val="115000"/>
                </a:lnSpc>
              </a:pPr>
              <a:r>
                <a:rPr lang="en-US" b="0" dirty="0">
                  <a:solidFill>
                    <a:schemeClr val="bg1"/>
                  </a:solidFill>
                  <a:latin typeface="Segoe UI" panose="020B0502040204020203" pitchFamily="34" charset="0"/>
                  <a:ea typeface="Times New Roman" panose="02020603050405020304" pitchFamily="18" charset="0"/>
                  <a:cs typeface="Segoe UI" panose="020B0502040204020203" pitchFamily="34" charset="0"/>
                </a:rPr>
                <a:t>www.ust.com I www.blueconchtech.com </a:t>
              </a:r>
            </a:p>
            <a:p>
              <a:pPr>
                <a:lnSpc>
                  <a:spcPct val="115000"/>
                </a:lnSpc>
              </a:pPr>
              <a:endParaRPr lang="en-US" b="0" dirty="0">
                <a:solidFill>
                  <a:schemeClr val="bg1"/>
                </a:solidFill>
                <a:latin typeface="Segoe UI" panose="020B0502040204020203" pitchFamily="34" charset="0"/>
                <a:ea typeface="Times New Roman" panose="02020603050405020304" pitchFamily="18" charset="0"/>
                <a:cs typeface="Segoe UI" panose="020B0502040204020203" pitchFamily="34" charset="0"/>
              </a:endParaRPr>
            </a:p>
          </p:txBody>
        </p:sp>
      </p:grpSp>
    </p:spTree>
    <p:extLst>
      <p:ext uri="{BB962C8B-B14F-4D97-AF65-F5344CB8AC3E}">
        <p14:creationId xmlns:p14="http://schemas.microsoft.com/office/powerpoint/2010/main" val="2529255247"/>
      </p:ext>
    </p:extLst>
  </p:cSld>
  <p:clrMapOvr>
    <a:masterClrMapping/>
  </p:clrMapOvr>
  <p:timing>
    <p:tnLst>
      <p:par>
        <p:cTn id="1" dur="indefinite" restart="never" nodeType="tmRoot"/>
      </p:par>
    </p:tnLst>
  </p:timing>
</p:sld>
</file>

<file path=ppt/theme/theme1.xml><?xml version="1.0" encoding="utf-8"?>
<a:theme xmlns:a="http://schemas.openxmlformats.org/drawingml/2006/main" name="White">
  <a:themeElements>
    <a:clrScheme name="BCT theme1">
      <a:dk1>
        <a:srgbClr val="000000"/>
      </a:dk1>
      <a:lt1>
        <a:srgbClr val="FFFFFF"/>
      </a:lt1>
      <a:dk2>
        <a:srgbClr val="5E5E5E"/>
      </a:dk2>
      <a:lt2>
        <a:srgbClr val="D6D5D5"/>
      </a:lt2>
      <a:accent1>
        <a:srgbClr val="25B7EA"/>
      </a:accent1>
      <a:accent2>
        <a:srgbClr val="A9CF38"/>
      </a:accent2>
      <a:accent3>
        <a:srgbClr val="3B449C"/>
      </a:accent3>
      <a:accent4>
        <a:srgbClr val="F57B20"/>
      </a:accent4>
      <a:accent5>
        <a:srgbClr val="3F3F3F"/>
      </a:accent5>
      <a:accent6>
        <a:srgbClr val="F2F2F2"/>
      </a:accent6>
      <a:hlink>
        <a:srgbClr val="0000FF"/>
      </a:hlink>
      <a:folHlink>
        <a:srgbClr val="BF00B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2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BCE70FB16EF914F87C7F05F36667351" ma:contentTypeVersion="10" ma:contentTypeDescription="Create a new document." ma:contentTypeScope="" ma:versionID="6a7deb9d54ce418f4242276d6db17319">
  <xsd:schema xmlns:xsd="http://www.w3.org/2001/XMLSchema" xmlns:xs="http://www.w3.org/2001/XMLSchema" xmlns:p="http://schemas.microsoft.com/office/2006/metadata/properties" xmlns:ns2="f003bff3-b584-4442-835f-398cc30f76cc" targetNamespace="http://schemas.microsoft.com/office/2006/metadata/properties" ma:root="true" ma:fieldsID="cc1fa64e8d6e8daa5dae96dcf62a4a73" ns2:_="">
    <xsd:import namespace="f003bff3-b584-4442-835f-398cc30f76c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03bff3-b584-4442-835f-398cc30f76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714689-49C3-4AD5-868B-FBD9FA045F8E}">
  <ds:schemaRefs>
    <ds:schemaRef ds:uri="http://schemas.microsoft.com/office/infopath/2007/PartnerControls"/>
    <ds:schemaRef ds:uri="http://purl.org/dc/elements/1.1/"/>
    <ds:schemaRef ds:uri="http://schemas.microsoft.com/office/2006/documentManagement/types"/>
    <ds:schemaRef ds:uri="http://purl.org/dc/terms/"/>
    <ds:schemaRef ds:uri="f003bff3-b584-4442-835f-398cc30f76cc"/>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8CA274F3-4445-49EF-8E25-AA922C9C7C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03bff3-b584-4442-835f-398cc30f7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13EA82-1BA0-4B63-B8EC-FB02691BAB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32210</TotalTime>
  <Words>5141</Words>
  <Application>Microsoft Office PowerPoint</Application>
  <PresentationFormat>Custom</PresentationFormat>
  <Paragraphs>347</Paragraphs>
  <Slides>42</Slides>
  <Notes>35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42</vt:i4>
      </vt:variant>
    </vt:vector>
  </HeadingPairs>
  <TitlesOfParts>
    <vt:vector size="55" baseType="lpstr">
      <vt:lpstr>Arial</vt:lpstr>
      <vt:lpstr>Calibri</vt:lpstr>
      <vt:lpstr>Helvetica Neue</vt:lpstr>
      <vt:lpstr>Helvetica Neue Medium</vt:lpstr>
      <vt:lpstr>Montessarat</vt:lpstr>
      <vt:lpstr>Montserrat</vt:lpstr>
      <vt:lpstr>Montserrat-Bold</vt:lpstr>
      <vt:lpstr>Roboto</vt:lpstr>
      <vt:lpstr>Segoe UI</vt:lpstr>
      <vt:lpstr>Segoe UI Emoji</vt:lpstr>
      <vt:lpstr>Segoe UI Semibold</vt:lpstr>
      <vt:lpstr>Times New Roman</vt: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Aadarsh Ranjan</dc:creator>
  <cp:lastModifiedBy>Ramkumar R</cp:lastModifiedBy>
  <cp:revision>1302</cp:revision>
  <dcterms:modified xsi:type="dcterms:W3CDTF">2021-11-17T14:47:27Z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0x010100FBCE70FB16EF914F87C7F05F36667351</vt:lpwstr>
  </property>
</Properties>
</file>